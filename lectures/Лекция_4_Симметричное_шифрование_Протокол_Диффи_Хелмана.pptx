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sldIdLst>
    <p:sldId id="256" r:id="rId2"/>
    <p:sldId id="257" r:id="rId3"/>
    <p:sldId id="258" r:id="rId4"/>
    <p:sldId id="287" r:id="rId5"/>
    <p:sldId id="298" r:id="rId6"/>
    <p:sldId id="315" r:id="rId7"/>
    <p:sldId id="316" r:id="rId8"/>
    <p:sldId id="317" r:id="rId9"/>
    <p:sldId id="318" r:id="rId10"/>
    <p:sldId id="319" r:id="rId11"/>
    <p:sldId id="332" r:id="rId12"/>
    <p:sldId id="320" r:id="rId13"/>
    <p:sldId id="321" r:id="rId14"/>
    <p:sldId id="322" r:id="rId15"/>
    <p:sldId id="323" r:id="rId16"/>
    <p:sldId id="324" r:id="rId17"/>
    <p:sldId id="283" r:id="rId18"/>
    <p:sldId id="306" r:id="rId19"/>
    <p:sldId id="329" r:id="rId20"/>
    <p:sldId id="328" r:id="rId21"/>
    <p:sldId id="325" r:id="rId22"/>
    <p:sldId id="326" r:id="rId23"/>
    <p:sldId id="327" r:id="rId24"/>
    <p:sldId id="312" r:id="rId25"/>
    <p:sldId id="333" r:id="rId26"/>
    <p:sldId id="344" r:id="rId27"/>
    <p:sldId id="349" r:id="rId28"/>
    <p:sldId id="335" r:id="rId29"/>
    <p:sldId id="350" r:id="rId30"/>
    <p:sldId id="351" r:id="rId31"/>
    <p:sldId id="352" r:id="rId32"/>
    <p:sldId id="348" r:id="rId33"/>
    <p:sldId id="336" r:id="rId34"/>
    <p:sldId id="337" r:id="rId35"/>
    <p:sldId id="338" r:id="rId36"/>
    <p:sldId id="339" r:id="rId37"/>
    <p:sldId id="347" r:id="rId38"/>
    <p:sldId id="340" r:id="rId39"/>
    <p:sldId id="341" r:id="rId40"/>
    <p:sldId id="342" r:id="rId41"/>
    <p:sldId id="343" r:id="rId42"/>
    <p:sldId id="330" r:id="rId43"/>
    <p:sldId id="353" r:id="rId4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77650" autoAdjust="0"/>
  </p:normalViewPr>
  <p:slideViewPr>
    <p:cSldViewPr>
      <p:cViewPr varScale="1">
        <p:scale>
          <a:sx n="92" d="100"/>
          <a:sy n="92" d="100"/>
        </p:scale>
        <p:origin x="228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9A4CCB-2AB7-4470-8669-B08666E49AEC}" type="datetimeFigureOut">
              <a:rPr lang="ru-RU" smtClean="0"/>
              <a:pPr/>
              <a:t>21.12.2025</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EAC31F-0D34-4ACC-A799-447BDFD53FC6}"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2</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6</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itchFamily="18" charset="0"/>
                <a:cs typeface="Times New Roman" pitchFamily="18" charset="0"/>
              </a:rPr>
              <a:t>E </a:t>
            </a:r>
            <a:r>
              <a:rPr lang="ru-RU" sz="1200" dirty="0">
                <a:latin typeface="Times New Roman" pitchFamily="18" charset="0"/>
                <a:cs typeface="Times New Roman" pitchFamily="18" charset="0"/>
              </a:rPr>
              <a:t>(начальная буква английского слова </a:t>
            </a:r>
            <a:r>
              <a:rPr lang="ru-RU" sz="1200" dirty="0" err="1">
                <a:latin typeface="Times New Roman" pitchFamily="18" charset="0"/>
                <a:cs typeface="Times New Roman" pitchFamily="18" charset="0"/>
              </a:rPr>
              <a:t>Encryption</a:t>
            </a:r>
            <a:r>
              <a:rPr lang="ru-RU" sz="1200" dirty="0">
                <a:latin typeface="Times New Roman" pitchFamily="18" charset="0"/>
                <a:cs typeface="Times New Roman" pitchFamily="18" charset="0"/>
              </a:rPr>
              <a:t> – шифрование). </a:t>
            </a:r>
          </a:p>
          <a:p>
            <a:pPr marL="0" marR="0" indent="0" algn="l" defTabSz="914400" rtl="0" eaLnBrk="1" fontAlgn="auto" latinLnBrk="0" hangingPunct="1">
              <a:lnSpc>
                <a:spcPct val="100000"/>
              </a:lnSpc>
              <a:spcBef>
                <a:spcPts val="0"/>
              </a:spcBef>
              <a:spcAft>
                <a:spcPts val="0"/>
              </a:spcAft>
              <a:buClrTx/>
              <a:buSzTx/>
              <a:buFontTx/>
              <a:buNone/>
              <a:tabLst/>
              <a:defRPr/>
            </a:pPr>
            <a:r>
              <a:rPr lang="ru-RU" sz="1200" dirty="0">
                <a:latin typeface="Times New Roman" pitchFamily="18" charset="0"/>
                <a:cs typeface="Times New Roman" pitchFamily="18" charset="0"/>
              </a:rPr>
              <a:t>В данном случае будет использоваться криптографический алгоритм преобразования, т. е. алгоритм, зависящий от некоторого параметра, называемого ключом и удовлетворяющий определенным требованиям.</a:t>
            </a:r>
          </a:p>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7</a:t>
            </a:fld>
            <a:endParaRPr 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8</a:t>
            </a:fld>
            <a:endParaRPr 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9</a:t>
            </a:fld>
            <a:endParaRPr 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10</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11</a:t>
            </a:fld>
            <a:endParaRPr 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12</a:t>
            </a:fld>
            <a:endParaRPr 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err="1"/>
              <a:t>Криптостойкость</a:t>
            </a:r>
            <a:r>
              <a:rPr lang="ru-RU" dirty="0"/>
              <a:t> метода зависит от длины блока (размерности матрицы). Так, для блока длиной 64 символа (размерность матрицы 8 × 8) возможны 1,6 × 109 комбинаций ключа. Для блока длиной 256 символов (матрица размерностью 16 × 16) число возможных ключей достигает 1,4 × 1026. Решение задачи перебора ключей в последнем случае даже для современных ПК представляет существенную сложность.</a:t>
            </a:r>
          </a:p>
        </p:txBody>
      </p:sp>
      <p:sp>
        <p:nvSpPr>
          <p:cNvPr id="4" name="Номер слайда 3"/>
          <p:cNvSpPr>
            <a:spLocks noGrp="1"/>
          </p:cNvSpPr>
          <p:nvPr>
            <p:ph type="sldNum" sz="quarter" idx="10"/>
          </p:nvPr>
        </p:nvSpPr>
        <p:spPr/>
        <p:txBody>
          <a:bodyPr/>
          <a:lstStyle/>
          <a:p>
            <a:fld id="{8BEAC31F-0D34-4ACC-A799-447BDFD53FC6}" type="slidenum">
              <a:rPr lang="ru-RU" smtClean="0"/>
              <a:pPr/>
              <a:t>14</a:t>
            </a:fld>
            <a:endParaRPr lang="ru-R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err="1"/>
              <a:t>Криптостойкость</a:t>
            </a:r>
            <a:r>
              <a:rPr lang="ru-RU" dirty="0"/>
              <a:t> метода зависит от длины блока (размерности матрицы). Так, для блока длиной 64 символа (размерность матрицы 8 × 8) возможны 1,6 × 109 комбинаций ключа. Для блока длиной 256 символов (матрица размерностью 16 × 16) число возможных ключей достигает 1,4 × 1026. Решение задачи перебора ключей в последнем случае даже для современных ПК представляет существенную сложность.</a:t>
            </a:r>
          </a:p>
        </p:txBody>
      </p:sp>
      <p:sp>
        <p:nvSpPr>
          <p:cNvPr id="4" name="Номер слайда 3"/>
          <p:cNvSpPr>
            <a:spLocks noGrp="1"/>
          </p:cNvSpPr>
          <p:nvPr>
            <p:ph type="sldNum" sz="quarter" idx="10"/>
          </p:nvPr>
        </p:nvSpPr>
        <p:spPr/>
        <p:txBody>
          <a:bodyPr/>
          <a:lstStyle/>
          <a:p>
            <a:fld id="{8BEAC31F-0D34-4ACC-A799-447BDFD53FC6}" type="slidenum">
              <a:rPr lang="ru-RU" smtClean="0"/>
              <a:pPr/>
              <a:t>15</a:t>
            </a:fld>
            <a:endParaRPr lang="ru-R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err="1"/>
              <a:t>Криптостойкость</a:t>
            </a:r>
            <a:r>
              <a:rPr lang="ru-RU" dirty="0"/>
              <a:t> метода зависит от длины блока (размерности матрицы). Так, для блока длиной 64 символа (размерность матрицы 8 × 8) возможны 1,6 × 109 комбинаций ключа. Для блока длиной 256 символов (матрица размерностью 16 × 16) число возможных ключей достигает 1,4 × 1026. Решение задачи перебора ключей в последнем случае даже для современных ПК представляет существенную сложность.</a:t>
            </a:r>
          </a:p>
        </p:txBody>
      </p:sp>
      <p:sp>
        <p:nvSpPr>
          <p:cNvPr id="4" name="Номер слайда 3"/>
          <p:cNvSpPr>
            <a:spLocks noGrp="1"/>
          </p:cNvSpPr>
          <p:nvPr>
            <p:ph type="sldNum" sz="quarter" idx="10"/>
          </p:nvPr>
        </p:nvSpPr>
        <p:spPr/>
        <p:txBody>
          <a:bodyPr/>
          <a:lstStyle/>
          <a:p>
            <a:fld id="{8BEAC31F-0D34-4ACC-A799-447BDFD53FC6}" type="slidenum">
              <a:rPr lang="ru-RU" smtClean="0"/>
              <a:pPr/>
              <a:t>16</a:t>
            </a:fld>
            <a:endParaRPr lang="ru-R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latin typeface="+mn-lt"/>
                <a:ea typeface="+mn-ea"/>
                <a:cs typeface="+mn-cs"/>
              </a:rPr>
              <a:t>Проще говоря, это набор правил и соглашений, которые позволяют нескольким участникам, которые не доверяют друг другу, безопасно взаимодействовать через небезопасный канал связи для достижения общей цели.</a:t>
            </a:r>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18</a:t>
            </a:fld>
            <a:endParaRPr lang="ru-RU"/>
          </a:p>
        </p:txBody>
      </p:sp>
    </p:spTree>
    <p:extLst>
      <p:ext uri="{BB962C8B-B14F-4D97-AF65-F5344CB8AC3E}">
        <p14:creationId xmlns:p14="http://schemas.microsoft.com/office/powerpoint/2010/main" val="3515097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19</a:t>
            </a:fld>
            <a:endParaRPr lang="ru-RU"/>
          </a:p>
        </p:txBody>
      </p:sp>
    </p:spTree>
    <p:extLst>
      <p:ext uri="{BB962C8B-B14F-4D97-AF65-F5344CB8AC3E}">
        <p14:creationId xmlns:p14="http://schemas.microsoft.com/office/powerpoint/2010/main" val="3515097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20</a:t>
            </a:fld>
            <a:endParaRPr lang="ru-RU"/>
          </a:p>
        </p:txBody>
      </p:sp>
    </p:spTree>
    <p:extLst>
      <p:ext uri="{BB962C8B-B14F-4D97-AF65-F5344CB8AC3E}">
        <p14:creationId xmlns:p14="http://schemas.microsoft.com/office/powerpoint/2010/main" val="3515097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21</a:t>
            </a:fld>
            <a:endParaRPr lang="ru-RU"/>
          </a:p>
        </p:txBody>
      </p:sp>
    </p:spTree>
    <p:extLst>
      <p:ext uri="{BB962C8B-B14F-4D97-AF65-F5344CB8AC3E}">
        <p14:creationId xmlns:p14="http://schemas.microsoft.com/office/powerpoint/2010/main" val="3515097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22</a:t>
            </a:fld>
            <a:endParaRPr lang="ru-RU"/>
          </a:p>
        </p:txBody>
      </p:sp>
    </p:spTree>
    <p:extLst>
      <p:ext uri="{BB962C8B-B14F-4D97-AF65-F5344CB8AC3E}">
        <p14:creationId xmlns:p14="http://schemas.microsoft.com/office/powerpoint/2010/main" val="3515097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23</a:t>
            </a:fld>
            <a:endParaRPr lang="ru-RU"/>
          </a:p>
        </p:txBody>
      </p:sp>
    </p:spTree>
    <p:extLst>
      <p:ext uri="{BB962C8B-B14F-4D97-AF65-F5344CB8AC3E}">
        <p14:creationId xmlns:p14="http://schemas.microsoft.com/office/powerpoint/2010/main" val="3515097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i="0" u="none" strike="noStrike" dirty="0">
                <a:solidFill>
                  <a:srgbClr val="333333"/>
                </a:solidFill>
                <a:effectLst/>
                <a:latin typeface="YS Text"/>
              </a:rPr>
              <a:t>Алгоритм </a:t>
            </a:r>
            <a:r>
              <a:rPr lang="ru-RU" b="1" i="0" u="none" strike="noStrike" dirty="0" err="1">
                <a:solidFill>
                  <a:srgbClr val="333333"/>
                </a:solidFill>
                <a:effectLst/>
                <a:latin typeface="YS Text"/>
              </a:rPr>
              <a:t>Диффи-Хеллмана</a:t>
            </a:r>
            <a:r>
              <a:rPr lang="ru-RU" b="0" i="0" u="none" strike="noStrike" dirty="0">
                <a:solidFill>
                  <a:srgbClr val="333333"/>
                </a:solidFill>
                <a:effectLst/>
                <a:latin typeface="YS Text"/>
              </a:rPr>
              <a:t> (протокол </a:t>
            </a:r>
            <a:r>
              <a:rPr lang="ru-RU" b="0" i="0" u="none" strike="noStrike" dirty="0" err="1">
                <a:solidFill>
                  <a:srgbClr val="333333"/>
                </a:solidFill>
                <a:effectLst/>
                <a:latin typeface="YS Text"/>
              </a:rPr>
              <a:t>Диффи-Хеллмана</a:t>
            </a:r>
            <a:r>
              <a:rPr lang="ru-RU" b="0" i="0" u="none" strike="noStrike" dirty="0">
                <a:solidFill>
                  <a:srgbClr val="333333"/>
                </a:solidFill>
                <a:effectLst/>
                <a:latin typeface="YS Text"/>
              </a:rPr>
              <a:t>) — криптографический протокол, позволяющий двум сторонам создать </a:t>
            </a:r>
            <a:r>
              <a:rPr lang="ru-RU" b="1" i="0" u="none" strike="noStrike" dirty="0">
                <a:solidFill>
                  <a:srgbClr val="333333"/>
                </a:solidFill>
                <a:effectLst/>
                <a:latin typeface="YS Text"/>
              </a:rPr>
              <a:t>общий секретный ключ</a:t>
            </a:r>
            <a:r>
              <a:rPr lang="ru-RU" b="0" i="0" u="none" strike="noStrike" dirty="0">
                <a:solidFill>
                  <a:srgbClr val="333333"/>
                </a:solidFill>
                <a:effectLst/>
                <a:latin typeface="YS Text"/>
              </a:rPr>
              <a:t> для безопасной связи, обмениваясь данными по незащищённому каналу связи. Разработан </a:t>
            </a:r>
            <a:r>
              <a:rPr lang="ru-RU" b="0" i="0" u="none" strike="noStrike" dirty="0" err="1">
                <a:solidFill>
                  <a:srgbClr val="333333"/>
                </a:solidFill>
                <a:effectLst/>
                <a:latin typeface="YS Text"/>
              </a:rPr>
              <a:t>Уитфилдом</a:t>
            </a:r>
            <a:r>
              <a:rPr lang="ru-RU" b="0" i="0" u="none" strike="noStrike" dirty="0">
                <a:solidFill>
                  <a:srgbClr val="333333"/>
                </a:solidFill>
                <a:effectLst/>
                <a:latin typeface="YS Text"/>
              </a:rPr>
              <a:t> </a:t>
            </a:r>
            <a:r>
              <a:rPr lang="ru-RU" b="0" i="0" u="none" strike="noStrike" dirty="0" err="1">
                <a:solidFill>
                  <a:srgbClr val="333333"/>
                </a:solidFill>
                <a:effectLst/>
                <a:latin typeface="YS Text"/>
              </a:rPr>
              <a:t>Диффи</a:t>
            </a:r>
            <a:r>
              <a:rPr lang="ru-RU" b="0" i="0" u="none" strike="noStrike" dirty="0">
                <a:solidFill>
                  <a:srgbClr val="333333"/>
                </a:solidFill>
                <a:effectLst/>
                <a:latin typeface="YS Text"/>
              </a:rPr>
              <a:t> и Мартином </a:t>
            </a:r>
            <a:r>
              <a:rPr lang="ru-RU" b="0" i="0" u="none" strike="noStrike" dirty="0" err="1">
                <a:solidFill>
                  <a:srgbClr val="333333"/>
                </a:solidFill>
                <a:effectLst/>
                <a:latin typeface="YS Text"/>
              </a:rPr>
              <a:t>Хеллманом</a:t>
            </a:r>
            <a:r>
              <a:rPr lang="ru-RU" b="0" i="0" u="none" strike="noStrike" dirty="0">
                <a:solidFill>
                  <a:srgbClr val="333333"/>
                </a:solidFill>
                <a:effectLst/>
                <a:latin typeface="YS Text"/>
              </a:rPr>
              <a:t> в 1976 году. </a:t>
            </a:r>
          </a:p>
          <a:p>
            <a:endParaRPr lang="ru-RU" dirty="0"/>
          </a:p>
          <a:p>
            <a:r>
              <a:rPr lang="ru-RU" dirty="0"/>
              <a:t>Его можно представить как задачу: “Как договориться о тайне, если все слушают?” — ответ дал именно этот протокол.</a:t>
            </a:r>
          </a:p>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25</a:t>
            </a:fld>
            <a:endParaRPr lang="ru-RU"/>
          </a:p>
        </p:txBody>
      </p:sp>
    </p:spTree>
    <p:extLst>
      <p:ext uri="{BB962C8B-B14F-4D97-AF65-F5344CB8AC3E}">
        <p14:creationId xmlns:p14="http://schemas.microsoft.com/office/powerpoint/2010/main" val="34130359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26</a:t>
            </a:fld>
            <a:endParaRPr lang="ru-RU"/>
          </a:p>
        </p:txBody>
      </p:sp>
    </p:spTree>
    <p:extLst>
      <p:ext uri="{BB962C8B-B14F-4D97-AF65-F5344CB8AC3E}">
        <p14:creationId xmlns:p14="http://schemas.microsoft.com/office/powerpoint/2010/main" val="3413035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27</a:t>
            </a:fld>
            <a:endParaRPr lang="ru-RU"/>
          </a:p>
        </p:txBody>
      </p:sp>
    </p:spTree>
    <p:extLst>
      <p:ext uri="{BB962C8B-B14F-4D97-AF65-F5344CB8AC3E}">
        <p14:creationId xmlns:p14="http://schemas.microsoft.com/office/powerpoint/2010/main" val="4268811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28</a:t>
            </a:fld>
            <a:endParaRPr lang="ru-RU"/>
          </a:p>
        </p:txBody>
      </p:sp>
    </p:spTree>
    <p:extLst>
      <p:ext uri="{BB962C8B-B14F-4D97-AF65-F5344CB8AC3E}">
        <p14:creationId xmlns:p14="http://schemas.microsoft.com/office/powerpoint/2010/main" val="3385377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29</a:t>
            </a:fld>
            <a:endParaRPr lang="ru-RU"/>
          </a:p>
        </p:txBody>
      </p:sp>
    </p:spTree>
    <p:extLst>
      <p:ext uri="{BB962C8B-B14F-4D97-AF65-F5344CB8AC3E}">
        <p14:creationId xmlns:p14="http://schemas.microsoft.com/office/powerpoint/2010/main" val="33853775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Этот ключ можно далее использовать для симметричного шифрования сообщений.</a:t>
            </a:r>
          </a:p>
          <a:p>
            <a:endParaRPr lang="ru-RU" dirty="0"/>
          </a:p>
        </p:txBody>
      </p:sp>
      <p:sp>
        <p:nvSpPr>
          <p:cNvPr id="4" name="Номер слайда 3"/>
          <p:cNvSpPr>
            <a:spLocks noGrp="1"/>
          </p:cNvSpPr>
          <p:nvPr>
            <p:ph type="sldNum" sz="quarter" idx="10"/>
          </p:nvPr>
        </p:nvSpPr>
        <p:spPr/>
        <p:txBody>
          <a:bodyPr/>
          <a:lstStyle/>
          <a:p>
            <a:fld id="{8BEAC31F-0D34-4ACC-A799-447BDFD53FC6}" type="slidenum">
              <a:rPr lang="ru-RU" smtClean="0"/>
              <a:pPr/>
              <a:t>32</a:t>
            </a:fld>
            <a:endParaRPr lang="ru-R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Но важно помнить: сам по себе он не защищает от подмены участников, поэтому всегда используется в связке с механизмами аутентификации.</a:t>
            </a:r>
          </a:p>
          <a:p>
            <a:endParaRPr lang="en-US" dirty="0"/>
          </a:p>
        </p:txBody>
      </p:sp>
      <p:sp>
        <p:nvSpPr>
          <p:cNvPr id="4" name="Номер слайда 3"/>
          <p:cNvSpPr>
            <a:spLocks noGrp="1"/>
          </p:cNvSpPr>
          <p:nvPr>
            <p:ph type="sldNum" sz="quarter" idx="5"/>
          </p:nvPr>
        </p:nvSpPr>
        <p:spPr/>
        <p:txBody>
          <a:bodyPr/>
          <a:lstStyle/>
          <a:p>
            <a:fld id="{8BEAC31F-0D34-4ACC-A799-447BDFD53FC6}" type="slidenum">
              <a:rPr lang="ru-RU" smtClean="0"/>
              <a:pPr/>
              <a:t>33</a:t>
            </a:fld>
            <a:endParaRPr lang="ru-RU"/>
          </a:p>
        </p:txBody>
      </p:sp>
    </p:spTree>
    <p:extLst>
      <p:ext uri="{BB962C8B-B14F-4D97-AF65-F5344CB8AC3E}">
        <p14:creationId xmlns:p14="http://schemas.microsoft.com/office/powerpoint/2010/main" val="2429865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современной криптографии </a:t>
            </a:r>
            <a:r>
              <a:rPr lang="ru-RU" dirty="0" err="1"/>
              <a:t>Диффи</a:t>
            </a:r>
            <a:r>
              <a:rPr lang="ru-RU" dirty="0"/>
              <a:t>–</a:t>
            </a:r>
            <a:r>
              <a:rPr lang="ru-RU" dirty="0" err="1"/>
              <a:t>Хеллман</a:t>
            </a:r>
            <a:r>
              <a:rPr lang="ru-RU" dirty="0"/>
              <a:t> — фундамент для гибридных схем, где ключ вырабатывается асимметрично, а затем используется в симметричном шифровании.</a:t>
            </a:r>
            <a:endParaRPr lang="en-US" dirty="0"/>
          </a:p>
        </p:txBody>
      </p:sp>
      <p:sp>
        <p:nvSpPr>
          <p:cNvPr id="4" name="Номер слайда 3"/>
          <p:cNvSpPr>
            <a:spLocks noGrp="1"/>
          </p:cNvSpPr>
          <p:nvPr>
            <p:ph type="sldNum" sz="quarter" idx="5"/>
          </p:nvPr>
        </p:nvSpPr>
        <p:spPr/>
        <p:txBody>
          <a:bodyPr/>
          <a:lstStyle/>
          <a:p>
            <a:fld id="{8BEAC31F-0D34-4ACC-A799-447BDFD53FC6}" type="slidenum">
              <a:rPr lang="ru-RU" smtClean="0"/>
              <a:pPr/>
              <a:t>34</a:t>
            </a:fld>
            <a:endParaRPr lang="ru-RU"/>
          </a:p>
        </p:txBody>
      </p:sp>
    </p:spTree>
    <p:extLst>
      <p:ext uri="{BB962C8B-B14F-4D97-AF65-F5344CB8AC3E}">
        <p14:creationId xmlns:p14="http://schemas.microsoft.com/office/powerpoint/2010/main" val="3403264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36</a:t>
            </a:fld>
            <a:endParaRPr lang="ru-RU"/>
          </a:p>
        </p:txBody>
      </p:sp>
    </p:spTree>
    <p:extLst>
      <p:ext uri="{BB962C8B-B14F-4D97-AF65-F5344CB8AC3E}">
        <p14:creationId xmlns:p14="http://schemas.microsoft.com/office/powerpoint/2010/main" val="2429865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38</a:t>
            </a:fld>
            <a:endParaRPr lang="ru-RU"/>
          </a:p>
        </p:txBody>
      </p:sp>
    </p:spTree>
    <p:extLst>
      <p:ext uri="{BB962C8B-B14F-4D97-AF65-F5344CB8AC3E}">
        <p14:creationId xmlns:p14="http://schemas.microsoft.com/office/powerpoint/2010/main" val="30482407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39</a:t>
            </a:fld>
            <a:endParaRPr lang="ru-RU"/>
          </a:p>
        </p:txBody>
      </p:sp>
    </p:spTree>
    <p:extLst>
      <p:ext uri="{BB962C8B-B14F-4D97-AF65-F5344CB8AC3E}">
        <p14:creationId xmlns:p14="http://schemas.microsoft.com/office/powerpoint/2010/main" val="33126924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40</a:t>
            </a:fld>
            <a:endParaRPr lang="ru-RU"/>
          </a:p>
        </p:txBody>
      </p:sp>
    </p:spTree>
    <p:extLst>
      <p:ext uri="{BB962C8B-B14F-4D97-AF65-F5344CB8AC3E}">
        <p14:creationId xmlns:p14="http://schemas.microsoft.com/office/powerpoint/2010/main" val="3664422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BEAC31F-0D34-4ACC-A799-447BDFD53FC6}" type="slidenum">
              <a:rPr lang="ru-RU" smtClean="0"/>
              <a:pPr/>
              <a:t>41</a:t>
            </a:fld>
            <a:endParaRPr lang="ru-RU"/>
          </a:p>
        </p:txBody>
      </p:sp>
    </p:spTree>
    <p:extLst>
      <p:ext uri="{BB962C8B-B14F-4D97-AF65-F5344CB8AC3E}">
        <p14:creationId xmlns:p14="http://schemas.microsoft.com/office/powerpoint/2010/main" val="1189253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168DD3C4-4D9F-471F-B8D8-ADC33A2F85A1}" type="datetime1">
              <a:rPr lang="ru-RU" smtClean="0"/>
              <a:pPr/>
              <a:t>21.12.2025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C5B98BF-76AC-42C3-8654-9F1F206953FA}" type="datetime1">
              <a:rPr lang="ru-RU" smtClean="0"/>
              <a:pPr/>
              <a:t>21.12.2025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CD18EE70-87C5-41CC-82DC-8C76FDCDCB7E}" type="datetime1">
              <a:rPr lang="ru-RU" smtClean="0"/>
              <a:pPr/>
              <a:t>21.12.2025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8F256633-259D-4EC8-884E-C2567AD985AA}" type="datetime1">
              <a:rPr lang="ru-RU" smtClean="0"/>
              <a:pPr/>
              <a:t>21.12.2025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9CB4EBE9-DC5A-42FC-A422-9CBA4D69C029}" type="datetime1">
              <a:rPr lang="ru-RU" smtClean="0"/>
              <a:pPr/>
              <a:t>21.12.2025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9FBC991C-9657-48E4-960B-5974F82BD171}" type="datetime1">
              <a:rPr lang="ru-RU" smtClean="0"/>
              <a:pPr/>
              <a:t>21.12.2025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7DBB673-70A8-4FFF-9AF4-4EC3D77B7B28}" type="datetime1">
              <a:rPr lang="ru-RU" smtClean="0"/>
              <a:pPr/>
              <a:t>21.12.2025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05300B48-85CB-43FB-A2EB-BA5EDA8A1B0E}" type="datetime1">
              <a:rPr lang="ru-RU" smtClean="0"/>
              <a:pPr/>
              <a:t>21.12.2025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A44AC9CB-2F51-4A77-B020-C5AAC41DE8AE}" type="datetime1">
              <a:rPr lang="ru-RU" smtClean="0"/>
              <a:pPr/>
              <a:t>21.12.2025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4E3BDCB-15E2-4DB5-85E9-91A0C1B54F67}" type="datetime1">
              <a:rPr lang="ru-RU" smtClean="0"/>
              <a:pPr/>
              <a:t>21.12.2025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BFC1AE0-7255-4FA6-AAAC-B0EE4F1C7F01}" type="datetime1">
              <a:rPr lang="ru-RU" smtClean="0"/>
              <a:pPr/>
              <a:t>21.12.2025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ECC1301-DE66-4CDA-81DE-A914792F0A66}"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80EF9D-BDD6-43C3-8A2E-7175C2EEB663}" type="datetime1">
              <a:rPr lang="ru-RU" smtClean="0"/>
              <a:pPr/>
              <a:t>21.12.2025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CC1301-DE66-4CDA-81DE-A914792F0A66}"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55576" y="836713"/>
            <a:ext cx="7772400" cy="1656184"/>
          </a:xfrm>
        </p:spPr>
        <p:txBody>
          <a:bodyPr>
            <a:normAutofit/>
          </a:bodyPr>
          <a:lstStyle/>
          <a:p>
            <a:r>
              <a:rPr lang="ru-RU" sz="3200" b="1" dirty="0"/>
              <a:t>Реализация криптографических алгоритмов в ИС</a:t>
            </a:r>
            <a:endParaRPr lang="ru-RU" dirty="0"/>
          </a:p>
        </p:txBody>
      </p:sp>
      <p:sp>
        <p:nvSpPr>
          <p:cNvPr id="3" name="Подзаголовок 2"/>
          <p:cNvSpPr>
            <a:spLocks noGrp="1"/>
          </p:cNvSpPr>
          <p:nvPr>
            <p:ph type="subTitle" idx="1"/>
          </p:nvPr>
        </p:nvSpPr>
        <p:spPr>
          <a:xfrm>
            <a:off x="1115616" y="2060848"/>
            <a:ext cx="6984776" cy="3096344"/>
          </a:xfrm>
        </p:spPr>
        <p:txBody>
          <a:bodyPr>
            <a:normAutofit fontScale="92500"/>
          </a:bodyPr>
          <a:lstStyle/>
          <a:p>
            <a:endParaRPr lang="ru-RU" b="1" dirty="0">
              <a:solidFill>
                <a:schemeClr val="tx1"/>
              </a:solidFill>
            </a:endParaRPr>
          </a:p>
          <a:p>
            <a:r>
              <a:rPr lang="ru-RU" sz="4500" b="1" dirty="0">
                <a:solidFill>
                  <a:srgbClr val="FF0000"/>
                </a:solidFill>
              </a:rPr>
              <a:t>Лекция 4</a:t>
            </a:r>
            <a:br>
              <a:rPr lang="ru-RU" sz="4500" dirty="0">
                <a:solidFill>
                  <a:srgbClr val="FF0000"/>
                </a:solidFill>
              </a:rPr>
            </a:br>
            <a:r>
              <a:rPr lang="ru-RU" sz="4500" b="1" dirty="0">
                <a:solidFill>
                  <a:srgbClr val="FF0000"/>
                </a:solidFill>
              </a:rPr>
              <a:t>Симметричное шифрование и аутентификация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724942"/>
          </a:xfrm>
        </p:spPr>
        <p:txBody>
          <a:bodyPr>
            <a:normAutofit/>
          </a:bodyPr>
          <a:lstStyle/>
          <a:p>
            <a:r>
              <a:rPr lang="ru-RU" sz="3200" b="1" dirty="0">
                <a:latin typeface="Times New Roman" pitchFamily="18" charset="0"/>
                <a:cs typeface="Times New Roman" pitchFamily="18" charset="0"/>
              </a:rPr>
              <a:t>Содержание лекции</a:t>
            </a:r>
          </a:p>
        </p:txBody>
      </p:sp>
      <p:sp>
        <p:nvSpPr>
          <p:cNvPr id="3" name="Содержимое 2"/>
          <p:cNvSpPr>
            <a:spLocks noGrp="1"/>
          </p:cNvSpPr>
          <p:nvPr>
            <p:ph idx="1"/>
          </p:nvPr>
        </p:nvSpPr>
        <p:spPr>
          <a:xfrm>
            <a:off x="457200" y="1124744"/>
            <a:ext cx="8229600" cy="5001419"/>
          </a:xfrm>
        </p:spPr>
        <p:txBody>
          <a:bodyPr/>
          <a:lstStyle/>
          <a:p>
            <a:pPr marL="514350" indent="-514350" algn="just">
              <a:buFont typeface="+mj-lt"/>
              <a:buAutoNum type="arabicPeriod"/>
            </a:pPr>
            <a:r>
              <a:rPr lang="ru-RU" b="1" dirty="0">
                <a:latin typeface="Times New Roman" pitchFamily="18" charset="0"/>
                <a:cs typeface="Times New Roman" pitchFamily="18" charset="0"/>
              </a:rPr>
              <a:t>Симметричные алгоритмы шифрования. Блочные шифры.</a:t>
            </a:r>
            <a:endParaRPr lang="ru-RU" dirty="0">
              <a:latin typeface="Times New Roman" pitchFamily="18" charset="0"/>
              <a:cs typeface="Times New Roman" pitchFamily="18" charset="0"/>
            </a:endParaRPr>
          </a:p>
          <a:p>
            <a:pPr marL="514350" indent="-514350" algn="just">
              <a:buFont typeface="+mj-lt"/>
              <a:buAutoNum type="arabicPeriod"/>
            </a:pPr>
            <a:r>
              <a:rPr lang="ru-RU" b="1" dirty="0">
                <a:latin typeface="Times New Roman" pitchFamily="18" charset="0"/>
                <a:cs typeface="Times New Roman" pitchFamily="18" charset="0"/>
              </a:rPr>
              <a:t>Аутентификация и криптографические протоколы</a:t>
            </a:r>
            <a:endParaRPr lang="ru-RU" dirty="0">
              <a:latin typeface="Times New Roman" pitchFamily="18" charset="0"/>
              <a:cs typeface="Times New Roman" pitchFamily="18" charset="0"/>
            </a:endParaRPr>
          </a:p>
          <a:p>
            <a:pPr marL="514350" indent="-514350" algn="just">
              <a:buFont typeface="+mj-lt"/>
              <a:buAutoNum type="arabicPeriod"/>
            </a:pPr>
            <a:r>
              <a:rPr lang="ru-RU" b="1" dirty="0">
                <a:latin typeface="Times New Roman" pitchFamily="18" charset="0"/>
                <a:cs typeface="Times New Roman" pitchFamily="18" charset="0"/>
              </a:rPr>
              <a:t>Протокол </a:t>
            </a:r>
            <a:r>
              <a:rPr lang="ru-RU" b="1" dirty="0" err="1">
                <a:latin typeface="Times New Roman" pitchFamily="18" charset="0"/>
                <a:cs typeface="Times New Roman" pitchFamily="18" charset="0"/>
              </a:rPr>
              <a:t>Диффи-Хеллмана</a:t>
            </a:r>
            <a:endParaRPr lang="ru-RU" dirty="0">
              <a:latin typeface="Times New Roman" pitchFamily="18" charset="0"/>
              <a:cs typeface="Times New Roman" pitchFamily="18" charset="0"/>
            </a:endParaRPr>
          </a:p>
          <a:p>
            <a:pPr marL="514350" indent="-514350" algn="just">
              <a:buFont typeface="+mj-lt"/>
              <a:buAutoNum type="arabicPeriod"/>
            </a:pPr>
            <a:r>
              <a:rPr lang="ru-RU" b="1" dirty="0">
                <a:latin typeface="Times New Roman" pitchFamily="18" charset="0"/>
                <a:cs typeface="Times New Roman" pitchFamily="18" charset="0"/>
              </a:rPr>
              <a:t>Протоколы на основе симметричного шифрования</a:t>
            </a:r>
            <a:endParaRPr lang="en-US" b="1" dirty="0">
              <a:solidFill>
                <a:srgbClr val="FF0000"/>
              </a:solidFill>
              <a:latin typeface="Times New Roman" pitchFamily="18" charset="0"/>
              <a:cs typeface="Times New Roman" pitchFamily="18" charset="0"/>
            </a:endParaRPr>
          </a:p>
          <a:p>
            <a:pPr marL="514350" indent="-514350">
              <a:buNone/>
            </a:pPr>
            <a:endParaRPr lang="ru-RU"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8ECC1301-DE66-4CDA-81DE-A914792F0A66}" type="slidenum">
              <a:rPr lang="ru-RU" sz="1600" smtClean="0"/>
              <a:pPr/>
              <a:t>2</a:t>
            </a:fld>
            <a:endParaRPr lang="ru-RU"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2204864"/>
            <a:ext cx="8229600" cy="2404864"/>
          </a:xfrm>
        </p:spPr>
        <p:txBody>
          <a:bodyPr/>
          <a:lstStyle/>
          <a:p>
            <a:pPr algn="ctr">
              <a:buNone/>
            </a:pPr>
            <a:endParaRPr lang="ru-RU" b="1"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lgn="ctr">
              <a:buNone/>
            </a:pPr>
            <a:r>
              <a:rPr lang="ru-RU" b="1" dirty="0">
                <a:latin typeface="Times New Roman" pitchFamily="18" charset="0"/>
                <a:cs typeface="Times New Roman" pitchFamily="18" charset="0"/>
              </a:rPr>
              <a:t>1. Симметричные алгоритмы шифрования. Блочные шифры.</a:t>
            </a:r>
            <a:endParaRPr lang="ru-RU"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buNone/>
            </a:pPr>
            <a:endParaRPr lang="ru-RU" dirty="0"/>
          </a:p>
        </p:txBody>
      </p:sp>
      <p:sp>
        <p:nvSpPr>
          <p:cNvPr id="4" name="Заголовок 1"/>
          <p:cNvSpPr>
            <a:spLocks noGrp="1"/>
          </p:cNvSpPr>
          <p:nvPr>
            <p:ph type="title"/>
          </p:nvPr>
        </p:nvSpPr>
        <p:spPr>
          <a:xfrm>
            <a:off x="467544" y="260648"/>
            <a:ext cx="8229600" cy="2952328"/>
          </a:xfrm>
        </p:spPr>
        <p:txBody>
          <a:bodyPr>
            <a:normAutofit/>
          </a:bodyPr>
          <a:lstStyle/>
          <a:p>
            <a:r>
              <a:rPr lang="ru-RU" sz="3200" b="1" dirty="0">
                <a:solidFill>
                  <a:srgbClr val="FF0000"/>
                </a:solidFill>
              </a:rPr>
              <a:t>Лекция 4</a:t>
            </a:r>
            <a:br>
              <a:rPr lang="ru-RU" sz="3200" dirty="0">
                <a:solidFill>
                  <a:srgbClr val="FF0000"/>
                </a:solidFill>
              </a:rPr>
            </a:br>
            <a:r>
              <a:rPr lang="ru-RU" sz="3200" b="1" dirty="0">
                <a:solidFill>
                  <a:srgbClr val="FF0000"/>
                </a:solidFill>
              </a:rPr>
              <a:t>Симметричное шифрование и аутентификация </a:t>
            </a:r>
          </a:p>
        </p:txBody>
      </p:sp>
      <p:sp>
        <p:nvSpPr>
          <p:cNvPr id="5" name="Номер слайда 4"/>
          <p:cNvSpPr>
            <a:spLocks noGrp="1"/>
          </p:cNvSpPr>
          <p:nvPr>
            <p:ph type="sldNum" sz="quarter" idx="12"/>
          </p:nvPr>
        </p:nvSpPr>
        <p:spPr/>
        <p:txBody>
          <a:bodyPr/>
          <a:lstStyle/>
          <a:p>
            <a:fld id="{8ECC1301-DE66-4CDA-81DE-A914792F0A66}" type="slidenum">
              <a:rPr lang="ru-RU" smtClean="0"/>
              <a:pPr/>
              <a:t>3</a:t>
            </a:fld>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994122"/>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5" name="Прямоугольник 4"/>
          <p:cNvSpPr/>
          <p:nvPr/>
        </p:nvSpPr>
        <p:spPr>
          <a:xfrm>
            <a:off x="395536" y="1052736"/>
            <a:ext cx="8136904" cy="5262979"/>
          </a:xfrm>
          <a:prstGeom prst="rect">
            <a:avLst/>
          </a:prstGeom>
        </p:spPr>
        <p:txBody>
          <a:bodyPr wrap="square">
            <a:spAutoFit/>
          </a:bodyPr>
          <a:lstStyle/>
          <a:p>
            <a:pPr indent="447675" algn="just"/>
            <a:r>
              <a:rPr lang="ru-RU" sz="2800" i="1" dirty="0">
                <a:latin typeface="Times New Roman" pitchFamily="18" charset="0"/>
                <a:cs typeface="Times New Roman" pitchFamily="18" charset="0"/>
              </a:rPr>
              <a:t>Необходимость применения криптографических методов вытекает из условий, в которых происходит хранение и обмен информацией. </a:t>
            </a:r>
          </a:p>
          <a:p>
            <a:pPr indent="447675" algn="just"/>
            <a:r>
              <a:rPr lang="ru-RU" sz="2800" i="1" dirty="0">
                <a:latin typeface="Times New Roman" pitchFamily="18" charset="0"/>
                <a:cs typeface="Times New Roman" pitchFamily="18" charset="0"/>
              </a:rPr>
              <a:t>В современных информационных системах очень часто происходит обмен данными в коллективах, члены которых не доверяют друг другу. В таких ситуациях необходимы средства, гарантирующие, что в процессе обмена или хранения информация не будет подвергнута искажениям или не будет подменена целиком. Такую гарантию может дать только применение научно обоснованных криптографических методов.</a:t>
            </a:r>
          </a:p>
        </p:txBody>
      </p:sp>
      <p:sp>
        <p:nvSpPr>
          <p:cNvPr id="4" name="Номер слайда 3"/>
          <p:cNvSpPr>
            <a:spLocks noGrp="1"/>
          </p:cNvSpPr>
          <p:nvPr>
            <p:ph type="sldNum" sz="quarter" idx="12"/>
          </p:nvPr>
        </p:nvSpPr>
        <p:spPr/>
        <p:txBody>
          <a:bodyPr/>
          <a:lstStyle/>
          <a:p>
            <a:fld id="{8ECC1301-DE66-4CDA-81DE-A914792F0A66}" type="slidenum">
              <a:rPr lang="ru-RU" smtClean="0"/>
              <a:pPr/>
              <a:t>4</a:t>
            </a:fld>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95536" y="980729"/>
            <a:ext cx="8424936" cy="5262979"/>
          </a:xfrm>
          <a:prstGeom prst="rect">
            <a:avLst/>
          </a:prstGeom>
        </p:spPr>
        <p:txBody>
          <a:bodyPr wrap="square">
            <a:spAutoFit/>
          </a:bodyPr>
          <a:lstStyle/>
          <a:p>
            <a:pPr indent="450850" algn="just"/>
            <a:r>
              <a:rPr lang="ru-RU" sz="2400" dirty="0">
                <a:latin typeface="Times New Roman" pitchFamily="18" charset="0"/>
                <a:cs typeface="Times New Roman" pitchFamily="18" charset="0"/>
              </a:rPr>
              <a:t>В связи с этим основными задачами криптографии является: </a:t>
            </a:r>
          </a:p>
          <a:p>
            <a:pPr indent="355600" algn="just">
              <a:buFont typeface="Arial" pitchFamily="34" charset="0"/>
              <a:buChar char="•"/>
            </a:pPr>
            <a:r>
              <a:rPr lang="ru-RU" sz="2400" b="1" dirty="0">
                <a:latin typeface="Times New Roman" pitchFamily="18" charset="0"/>
                <a:cs typeface="Times New Roman" pitchFamily="18" charset="0"/>
              </a:rPr>
              <a:t>обеспечение</a:t>
            </a:r>
            <a:r>
              <a:rPr lang="en-US" sz="2400" b="1" dirty="0">
                <a:latin typeface="Times New Roman" pitchFamily="18" charset="0"/>
                <a:cs typeface="Times New Roman" pitchFamily="18" charset="0"/>
              </a:rPr>
              <a:t> </a:t>
            </a:r>
            <a:r>
              <a:rPr lang="ru-RU" sz="2400" b="1" dirty="0">
                <a:latin typeface="Times New Roman" pitchFamily="18" charset="0"/>
                <a:cs typeface="Times New Roman" pitchFamily="18" charset="0"/>
              </a:rPr>
              <a:t>конфиденциальности данных </a:t>
            </a:r>
            <a:r>
              <a:rPr lang="ru-RU" sz="2400" dirty="0">
                <a:latin typeface="Times New Roman" pitchFamily="18" charset="0"/>
                <a:cs typeface="Times New Roman" pitchFamily="18" charset="0"/>
              </a:rPr>
              <a:t>(предотвращение несанкционированного доступа к данным);</a:t>
            </a:r>
          </a:p>
          <a:p>
            <a:pPr indent="355600" algn="just">
              <a:buFont typeface="Arial" pitchFamily="34" charset="0"/>
              <a:buChar char="•"/>
            </a:pPr>
            <a:r>
              <a:rPr lang="ru-RU" sz="2400" b="1" dirty="0">
                <a:latin typeface="Times New Roman" pitchFamily="18" charset="0"/>
                <a:cs typeface="Times New Roman" pitchFamily="18" charset="0"/>
              </a:rPr>
              <a:t>целостности данных </a:t>
            </a:r>
            <a:r>
              <a:rPr lang="ru-RU" sz="2400" dirty="0">
                <a:latin typeface="Times New Roman" pitchFamily="18" charset="0"/>
                <a:cs typeface="Times New Roman" pitchFamily="18" charset="0"/>
              </a:rPr>
              <a:t>– гарантии того, что при передаче или хранении данные не были модифицированы пользователем, не имеющим на это права;</a:t>
            </a:r>
          </a:p>
          <a:p>
            <a:pPr indent="355600" algn="just">
              <a:buFont typeface="Arial" pitchFamily="34" charset="0"/>
              <a:buChar char="•"/>
            </a:pPr>
            <a:r>
              <a:rPr lang="ru-RU" sz="2400" b="1" dirty="0">
                <a:latin typeface="Times New Roman" pitchFamily="18" charset="0"/>
                <a:cs typeface="Times New Roman" pitchFamily="18" charset="0"/>
              </a:rPr>
              <a:t>аутентификации</a:t>
            </a:r>
            <a:r>
              <a:rPr lang="ru-RU" sz="2400" dirty="0">
                <a:latin typeface="Times New Roman" pitchFamily="18" charset="0"/>
                <a:cs typeface="Times New Roman" pitchFamily="18" charset="0"/>
              </a:rPr>
              <a:t> (проверка подлинности субъектов, сторон при обмене данными, автора документов, и т. д.) или подлинности самой информации;</a:t>
            </a:r>
          </a:p>
          <a:p>
            <a:pPr indent="355600" algn="just">
              <a:buFont typeface="Arial" pitchFamily="34" charset="0"/>
              <a:buChar char="•"/>
            </a:pPr>
            <a:r>
              <a:rPr lang="ru-RU" sz="2400" b="1" dirty="0">
                <a:latin typeface="Times New Roman" pitchFamily="18" charset="0"/>
                <a:cs typeface="Times New Roman" pitchFamily="18" charset="0"/>
              </a:rPr>
              <a:t>невозможности отказа от авторства</a:t>
            </a:r>
            <a:r>
              <a:rPr lang="ru-RU" sz="2400" dirty="0">
                <a:latin typeface="Times New Roman" pitchFamily="18" charset="0"/>
                <a:cs typeface="Times New Roman" pitchFamily="18" charset="0"/>
              </a:rPr>
              <a:t>, </a:t>
            </a:r>
            <a:r>
              <a:rPr lang="ru-RU" sz="2400" b="1" dirty="0">
                <a:latin typeface="Times New Roman" pitchFamily="18" charset="0"/>
                <a:cs typeface="Times New Roman" pitchFamily="18" charset="0"/>
              </a:rPr>
              <a:t>предотвращение возможности отказа субъектов от совершенных ими действий </a:t>
            </a:r>
            <a:r>
              <a:rPr lang="ru-RU" sz="2400" dirty="0">
                <a:latin typeface="Times New Roman" pitchFamily="18" charset="0"/>
                <a:cs typeface="Times New Roman" pitchFamily="18" charset="0"/>
              </a:rPr>
              <a:t>(обычно – невозможности отказа от подписи под документом).</a:t>
            </a:r>
          </a:p>
        </p:txBody>
      </p:sp>
      <p:sp>
        <p:nvSpPr>
          <p:cNvPr id="6" name="Номер слайда 5"/>
          <p:cNvSpPr>
            <a:spLocks noGrp="1"/>
          </p:cNvSpPr>
          <p:nvPr>
            <p:ph type="sldNum" sz="quarter" idx="12"/>
          </p:nvPr>
        </p:nvSpPr>
        <p:spPr/>
        <p:txBody>
          <a:bodyPr/>
          <a:lstStyle/>
          <a:p>
            <a:fld id="{8ECC1301-DE66-4CDA-81DE-A914792F0A66}" type="slidenum">
              <a:rPr lang="ru-RU" smtClean="0"/>
              <a:pPr/>
              <a:t>5</a:t>
            </a:fld>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980728"/>
            <a:ext cx="8424936" cy="5632311"/>
          </a:xfrm>
          <a:prstGeom prst="rect">
            <a:avLst/>
          </a:prstGeom>
        </p:spPr>
        <p:txBody>
          <a:bodyPr wrap="square">
            <a:spAutoFit/>
          </a:bodyPr>
          <a:lstStyle/>
          <a:p>
            <a:pPr indent="450850" algn="just"/>
            <a:r>
              <a:rPr lang="ru-RU" sz="2400" dirty="0">
                <a:latin typeface="Times New Roman" pitchFamily="18" charset="0"/>
                <a:cs typeface="Times New Roman" pitchFamily="18" charset="0"/>
              </a:rPr>
              <a:t>Рассмотрим </a:t>
            </a:r>
            <a:r>
              <a:rPr lang="ru-RU" sz="2400" b="1" i="1" dirty="0">
                <a:latin typeface="Times New Roman" pitchFamily="18" charset="0"/>
                <a:cs typeface="Times New Roman" pitchFamily="18" charset="0"/>
              </a:rPr>
              <a:t>задачу аутентификации</a:t>
            </a:r>
            <a:r>
              <a:rPr lang="ru-RU" sz="2400" dirty="0">
                <a:latin typeface="Times New Roman" pitchFamily="18" charset="0"/>
                <a:cs typeface="Times New Roman" pitchFamily="18" charset="0"/>
              </a:rPr>
              <a:t>.</a:t>
            </a:r>
          </a:p>
          <a:p>
            <a:pPr indent="450850" algn="just"/>
            <a:r>
              <a:rPr lang="ru-RU" sz="2400" dirty="0">
                <a:latin typeface="Times New Roman" pitchFamily="18" charset="0"/>
                <a:cs typeface="Times New Roman" pitchFamily="18" charset="0"/>
              </a:rPr>
              <a:t>Частным случаем аутентификации является идентификация – процедура доказательства субъектом того, что он действительно является именно тем, за кого себя выдает. </a:t>
            </a:r>
          </a:p>
          <a:p>
            <a:pPr indent="450850" algn="just"/>
            <a:r>
              <a:rPr lang="ru-RU" sz="2400" dirty="0">
                <a:latin typeface="Times New Roman" pitchFamily="18" charset="0"/>
                <a:cs typeface="Times New Roman" pitchFamily="18" charset="0"/>
              </a:rPr>
              <a:t>Во многих случаях субъект (X) должен не просто доказать свои права, но сделать это так, чтобы проверяющий субъект (Y) не смог впоследствии сам использовать полученную информацию для того, чтобы выдать себя за X. </a:t>
            </a:r>
          </a:p>
          <a:p>
            <a:pPr indent="450850" algn="just"/>
            <a:r>
              <a:rPr lang="ru-RU" sz="2400" dirty="0">
                <a:latin typeface="Times New Roman" pitchFamily="18" charset="0"/>
                <a:cs typeface="Times New Roman" pitchFamily="18" charset="0"/>
              </a:rPr>
              <a:t>Подобные доказательства называются </a:t>
            </a:r>
            <a:r>
              <a:rPr lang="ru-RU" sz="2400" b="1" dirty="0">
                <a:latin typeface="Times New Roman" pitchFamily="18" charset="0"/>
                <a:cs typeface="Times New Roman" pitchFamily="18" charset="0"/>
              </a:rPr>
              <a:t>«доказательствами с нулевым разглашением».</a:t>
            </a:r>
          </a:p>
          <a:p>
            <a:pPr indent="450850" algn="just"/>
            <a:r>
              <a:rPr lang="ru-RU" sz="2400" b="1" dirty="0">
                <a:latin typeface="Times New Roman" pitchFamily="18" charset="0"/>
                <a:cs typeface="Times New Roman" pitchFamily="18" charset="0"/>
              </a:rPr>
              <a:t>Шифрование</a:t>
            </a:r>
            <a:r>
              <a:rPr lang="ru-RU" sz="2400" dirty="0">
                <a:latin typeface="Times New Roman" pitchFamily="18" charset="0"/>
                <a:cs typeface="Times New Roman" pitchFamily="18" charset="0"/>
              </a:rPr>
              <a:t> – это такое преобразование текста (сообщения), в результате которого прочитать преобразованный текст может только тот, кто обладает специальным ключом.</a:t>
            </a:r>
          </a:p>
        </p:txBody>
      </p:sp>
      <p:sp>
        <p:nvSpPr>
          <p:cNvPr id="5" name="Номер слайда 4"/>
          <p:cNvSpPr>
            <a:spLocks noGrp="1"/>
          </p:cNvSpPr>
          <p:nvPr>
            <p:ph type="sldNum" sz="quarter" idx="12"/>
          </p:nvPr>
        </p:nvSpPr>
        <p:spPr/>
        <p:txBody>
          <a:bodyPr/>
          <a:lstStyle/>
          <a:p>
            <a:fld id="{8ECC1301-DE66-4CDA-81DE-A914792F0A66}" type="slidenum">
              <a:rPr lang="ru-RU" smtClean="0"/>
              <a:pPr/>
              <a:t>6</a:t>
            </a:fld>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95536" y="1127641"/>
            <a:ext cx="8424936" cy="4893647"/>
          </a:xfrm>
          <a:prstGeom prst="rect">
            <a:avLst/>
          </a:prstGeom>
        </p:spPr>
        <p:txBody>
          <a:bodyPr wrap="square">
            <a:spAutoFit/>
          </a:bodyPr>
          <a:lstStyle/>
          <a:p>
            <a:pPr indent="450850" algn="just"/>
            <a:r>
              <a:rPr lang="ru-RU" sz="2400" dirty="0">
                <a:latin typeface="Times New Roman" pitchFamily="18" charset="0"/>
                <a:cs typeface="Times New Roman" pitchFamily="18" charset="0"/>
              </a:rPr>
              <a:t>Процесс шифрования включает в себя следующие </a:t>
            </a:r>
            <a:r>
              <a:rPr lang="ru-RU" sz="2400" b="1" dirty="0">
                <a:latin typeface="Times New Roman" pitchFamily="18" charset="0"/>
                <a:cs typeface="Times New Roman" pitchFamily="18" charset="0"/>
              </a:rPr>
              <a:t>элементы</a:t>
            </a:r>
            <a:r>
              <a:rPr lang="ru-RU" sz="2400" dirty="0">
                <a:latin typeface="Times New Roman" pitchFamily="18" charset="0"/>
                <a:cs typeface="Times New Roman" pitchFamily="18" charset="0"/>
              </a:rPr>
              <a:t>:</a:t>
            </a:r>
          </a:p>
          <a:p>
            <a:pPr indent="450850" algn="just">
              <a:buFont typeface="Arial" pitchFamily="34" charset="0"/>
              <a:buChar char="•"/>
            </a:pPr>
            <a:r>
              <a:rPr lang="ru-RU" sz="2400" dirty="0">
                <a:latin typeface="Times New Roman" pitchFamily="18" charset="0"/>
                <a:cs typeface="Times New Roman" pitchFamily="18" charset="0"/>
              </a:rPr>
              <a:t>исходный или открытый текст (сообщение), обозначенный буквой М;</a:t>
            </a:r>
          </a:p>
          <a:p>
            <a:pPr indent="450850" algn="just">
              <a:buFont typeface="Arial" pitchFamily="34" charset="0"/>
              <a:buChar char="•"/>
            </a:pPr>
            <a:r>
              <a:rPr lang="ru-RU" sz="2400" dirty="0">
                <a:latin typeface="Times New Roman" pitchFamily="18" charset="0"/>
                <a:cs typeface="Times New Roman" pitchFamily="18" charset="0"/>
              </a:rPr>
              <a:t>шифрованный текст (сообщение), обозначенный буквой С;</a:t>
            </a:r>
          </a:p>
          <a:p>
            <a:pPr indent="450850" algn="just">
              <a:buFont typeface="Arial" pitchFamily="34" charset="0"/>
              <a:buChar char="•"/>
            </a:pPr>
            <a:r>
              <a:rPr lang="ru-RU" sz="2400" dirty="0">
                <a:latin typeface="Times New Roman" pitchFamily="18" charset="0"/>
                <a:cs typeface="Times New Roman" pitchFamily="18" charset="0"/>
              </a:rPr>
              <a:t>алгоритм шифрования (способ преобразования открытого текста в шифрованный текст), обозначим его буквой Е</a:t>
            </a:r>
            <a:r>
              <a:rPr lang="en-US" sz="2400" dirty="0">
                <a:latin typeface="Times New Roman" pitchFamily="18" charset="0"/>
                <a:cs typeface="Times New Roman" pitchFamily="18" charset="0"/>
              </a:rPr>
              <a:t> (</a:t>
            </a:r>
            <a:r>
              <a:rPr lang="ru-RU" sz="2400" dirty="0">
                <a:latin typeface="Times New Roman" pitchFamily="18" charset="0"/>
                <a:cs typeface="Times New Roman" pitchFamily="18" charset="0"/>
              </a:rPr>
              <a:t>алгоритм, зависящий от некоторого параметра, называемого </a:t>
            </a:r>
            <a:r>
              <a:rPr lang="ru-RU" sz="2400" b="1" dirty="0">
                <a:latin typeface="Times New Roman" pitchFamily="18" charset="0"/>
                <a:cs typeface="Times New Roman" pitchFamily="18" charset="0"/>
              </a:rPr>
              <a:t>ключом</a:t>
            </a:r>
            <a:r>
              <a:rPr lang="ru-RU" sz="2400" dirty="0">
                <a:latin typeface="Times New Roman" pitchFamily="18" charset="0"/>
                <a:cs typeface="Times New Roman" pitchFamily="18" charset="0"/>
              </a:rPr>
              <a:t> и удовлетворяющий определенным требованиям</a:t>
            </a:r>
            <a:r>
              <a:rPr lang="en-US" sz="2400" dirty="0">
                <a:latin typeface="Times New Roman" pitchFamily="18" charset="0"/>
                <a:cs typeface="Times New Roman" pitchFamily="18" charset="0"/>
              </a:rPr>
              <a:t>)</a:t>
            </a:r>
            <a:endParaRPr lang="ru-RU" sz="2400" dirty="0">
              <a:latin typeface="Times New Roman" pitchFamily="18" charset="0"/>
              <a:cs typeface="Times New Roman" pitchFamily="18" charset="0"/>
            </a:endParaRPr>
          </a:p>
          <a:p>
            <a:pPr indent="450850" algn="just">
              <a:buFont typeface="Arial" pitchFamily="34" charset="0"/>
              <a:buChar char="•"/>
            </a:pPr>
            <a:r>
              <a:rPr lang="ru-RU" sz="2400" dirty="0">
                <a:latin typeface="Times New Roman" pitchFamily="18" charset="0"/>
                <a:cs typeface="Times New Roman" pitchFamily="18" charset="0"/>
              </a:rPr>
              <a:t>ключ (важнейший компонент шифрования, определяющий выбор конкретного шифрующего преобразования), который обозначим буквой </a:t>
            </a:r>
            <a:r>
              <a:rPr lang="ru-RU" sz="2400" dirty="0" err="1">
                <a:latin typeface="Times New Roman" pitchFamily="18" charset="0"/>
                <a:cs typeface="Times New Roman" pitchFamily="18" charset="0"/>
              </a:rPr>
              <a:t>k</a:t>
            </a:r>
            <a:r>
              <a:rPr lang="ru-RU" sz="2400" dirty="0">
                <a:latin typeface="Times New Roman" pitchFamily="18" charset="0"/>
                <a:cs typeface="Times New Roman" pitchFamily="18" charset="0"/>
              </a:rPr>
              <a:t>. Обычно ключ представляет собой буквенную или цифровую последовательность. </a:t>
            </a:r>
            <a:endParaRPr lang="ru-RU" sz="2400" b="1" dirty="0">
              <a:latin typeface="Times New Roman" pitchFamily="18" charset="0"/>
              <a:cs typeface="Times New Roman" pitchFamily="18" charset="0"/>
            </a:endParaRPr>
          </a:p>
        </p:txBody>
      </p:sp>
      <p:sp>
        <p:nvSpPr>
          <p:cNvPr id="5" name="Номер слайда 4"/>
          <p:cNvSpPr>
            <a:spLocks noGrp="1"/>
          </p:cNvSpPr>
          <p:nvPr>
            <p:ph type="sldNum" sz="quarter" idx="12"/>
          </p:nvPr>
        </p:nvSpPr>
        <p:spPr/>
        <p:txBody>
          <a:bodyPr/>
          <a:lstStyle/>
          <a:p>
            <a:fld id="{8ECC1301-DE66-4CDA-81DE-A914792F0A66}" type="slidenum">
              <a:rPr lang="ru-RU" smtClean="0"/>
              <a:pPr/>
              <a:t>7</a:t>
            </a:fld>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1412776"/>
            <a:ext cx="8424936" cy="3600986"/>
          </a:xfrm>
          <a:prstGeom prst="rect">
            <a:avLst/>
          </a:prstGeom>
        </p:spPr>
        <p:txBody>
          <a:bodyPr wrap="square">
            <a:spAutoFit/>
          </a:bodyPr>
          <a:lstStyle/>
          <a:p>
            <a:pPr indent="450850" algn="just"/>
            <a:r>
              <a:rPr lang="ru-RU" sz="2400" dirty="0">
                <a:latin typeface="Times New Roman" pitchFamily="18" charset="0"/>
                <a:cs typeface="Times New Roman" pitchFamily="18" charset="0"/>
              </a:rPr>
              <a:t>Процесс шифрования можно выразить следующей формулой:</a:t>
            </a:r>
            <a:endParaRPr lang="en-US" sz="2400" dirty="0">
              <a:latin typeface="Times New Roman" pitchFamily="18" charset="0"/>
              <a:cs typeface="Times New Roman" pitchFamily="18" charset="0"/>
            </a:endParaRPr>
          </a:p>
          <a:p>
            <a:pPr indent="450850" algn="just"/>
            <a:endParaRPr lang="ru-RU" sz="2400" dirty="0">
              <a:latin typeface="Times New Roman" pitchFamily="18" charset="0"/>
              <a:cs typeface="Times New Roman" pitchFamily="18" charset="0"/>
            </a:endParaRPr>
          </a:p>
          <a:p>
            <a:pPr indent="450850" algn="ctr"/>
            <a:r>
              <a:rPr lang="ru-RU" sz="3600" b="1" dirty="0">
                <a:latin typeface="Times New Roman" pitchFamily="18" charset="0"/>
                <a:cs typeface="Times New Roman" pitchFamily="18" charset="0"/>
              </a:rPr>
              <a:t>C = E</a:t>
            </a:r>
            <a:r>
              <a:rPr lang="ru-RU" sz="3600" b="1" baseline="-25000" dirty="0">
                <a:latin typeface="Times New Roman" pitchFamily="18" charset="0"/>
                <a:cs typeface="Times New Roman" pitchFamily="18" charset="0"/>
              </a:rPr>
              <a:t>k1</a:t>
            </a:r>
            <a:r>
              <a:rPr lang="ru-RU" sz="3600" b="1" dirty="0">
                <a:latin typeface="Times New Roman" pitchFamily="18" charset="0"/>
                <a:cs typeface="Times New Roman" pitchFamily="18" charset="0"/>
              </a:rPr>
              <a:t> (M).</a:t>
            </a:r>
            <a:endParaRPr lang="en-US" sz="3600" b="1" dirty="0">
              <a:latin typeface="Times New Roman" pitchFamily="18" charset="0"/>
              <a:cs typeface="Times New Roman" pitchFamily="18" charset="0"/>
            </a:endParaRPr>
          </a:p>
          <a:p>
            <a:pPr indent="450850" algn="ctr"/>
            <a:endParaRPr lang="ru-RU" sz="2400" b="1" dirty="0">
              <a:latin typeface="Times New Roman" pitchFamily="18" charset="0"/>
              <a:cs typeface="Times New Roman" pitchFamily="18" charset="0"/>
            </a:endParaRPr>
          </a:p>
          <a:p>
            <a:pPr indent="450850" algn="just"/>
            <a:r>
              <a:rPr lang="ru-RU" sz="2400" dirty="0">
                <a:latin typeface="Times New Roman" pitchFamily="18" charset="0"/>
                <a:cs typeface="Times New Roman" pitchFamily="18" charset="0"/>
              </a:rPr>
              <a:t>Преобразование шифрованного текста в открытый текст на основе законно полученного ключа называется </a:t>
            </a:r>
            <a:r>
              <a:rPr lang="ru-RU" sz="2400" dirty="0" err="1">
                <a:latin typeface="Times New Roman" pitchFamily="18" charset="0"/>
                <a:cs typeface="Times New Roman" pitchFamily="18" charset="0"/>
              </a:rPr>
              <a:t>расшифрованием</a:t>
            </a:r>
            <a:r>
              <a:rPr lang="ru-RU" sz="2400" dirty="0">
                <a:latin typeface="Times New Roman" pitchFamily="18" charset="0"/>
                <a:cs typeface="Times New Roman" pitchFamily="18" charset="0"/>
              </a:rPr>
              <a:t> (в</a:t>
            </a:r>
            <a:r>
              <a:rPr lang="en-US" sz="2400" dirty="0">
                <a:latin typeface="Times New Roman" pitchFamily="18" charset="0"/>
                <a:cs typeface="Times New Roman" pitchFamily="18" charset="0"/>
              </a:rPr>
              <a:t> </a:t>
            </a:r>
            <a:r>
              <a:rPr lang="ru-RU" sz="2400" dirty="0">
                <a:latin typeface="Times New Roman" pitchFamily="18" charset="0"/>
                <a:cs typeface="Times New Roman" pitchFamily="18" charset="0"/>
              </a:rPr>
              <a:t>отличие от дешифрования, которое означает восстановление открытого текста без знания ключа).</a:t>
            </a:r>
          </a:p>
        </p:txBody>
      </p:sp>
      <p:sp>
        <p:nvSpPr>
          <p:cNvPr id="5" name="Номер слайда 4"/>
          <p:cNvSpPr>
            <a:spLocks noGrp="1"/>
          </p:cNvSpPr>
          <p:nvPr>
            <p:ph type="sldNum" sz="quarter" idx="12"/>
          </p:nvPr>
        </p:nvSpPr>
        <p:spPr/>
        <p:txBody>
          <a:bodyPr/>
          <a:lstStyle/>
          <a:p>
            <a:fld id="{8ECC1301-DE66-4CDA-81DE-A914792F0A66}" type="slidenum">
              <a:rPr lang="ru-RU" smtClean="0"/>
              <a:pPr/>
              <a:t>8</a:t>
            </a:fld>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1052736"/>
            <a:ext cx="8424936" cy="5016758"/>
          </a:xfrm>
          <a:prstGeom prst="rect">
            <a:avLst/>
          </a:prstGeom>
        </p:spPr>
        <p:txBody>
          <a:bodyPr wrap="square">
            <a:spAutoFit/>
          </a:bodyPr>
          <a:lstStyle/>
          <a:p>
            <a:pPr indent="450850" algn="just"/>
            <a:r>
              <a:rPr lang="ru-RU" sz="2400" dirty="0" err="1">
                <a:latin typeface="Times New Roman" pitchFamily="18" charset="0"/>
                <a:cs typeface="Times New Roman" pitchFamily="18" charset="0"/>
              </a:rPr>
              <a:t>Расшифрование</a:t>
            </a:r>
            <a:r>
              <a:rPr lang="ru-RU" sz="2400" dirty="0">
                <a:latin typeface="Times New Roman" pitchFamily="18" charset="0"/>
                <a:cs typeface="Times New Roman" pitchFamily="18" charset="0"/>
              </a:rPr>
              <a:t> включает в себя компоненты, аналогичные</a:t>
            </a:r>
            <a:r>
              <a:rPr lang="en-US" sz="2400" dirty="0">
                <a:latin typeface="Times New Roman" pitchFamily="18" charset="0"/>
                <a:cs typeface="Times New Roman" pitchFamily="18" charset="0"/>
              </a:rPr>
              <a:t> </a:t>
            </a:r>
            <a:r>
              <a:rPr lang="ru-RU" sz="2400" dirty="0">
                <a:latin typeface="Times New Roman" pitchFamily="18" charset="0"/>
                <a:cs typeface="Times New Roman" pitchFamily="18" charset="0"/>
              </a:rPr>
              <a:t>рассмотренным выше: шифрованный текст, открытый текст, ключ.</a:t>
            </a:r>
          </a:p>
          <a:p>
            <a:pPr indent="450850" algn="just"/>
            <a:r>
              <a:rPr lang="ru-RU" sz="2400" dirty="0">
                <a:latin typeface="Times New Roman" pitchFamily="18" charset="0"/>
                <a:cs typeface="Times New Roman" pitchFamily="18" charset="0"/>
              </a:rPr>
              <a:t>Кроме того, </a:t>
            </a:r>
            <a:r>
              <a:rPr lang="ru-RU" sz="2400" dirty="0" err="1">
                <a:latin typeface="Times New Roman" pitchFamily="18" charset="0"/>
                <a:cs typeface="Times New Roman" pitchFamily="18" charset="0"/>
              </a:rPr>
              <a:t>расшифрование</a:t>
            </a:r>
            <a:r>
              <a:rPr lang="ru-RU" sz="2400" dirty="0">
                <a:latin typeface="Times New Roman" pitchFamily="18" charset="0"/>
                <a:cs typeface="Times New Roman" pitchFamily="18" charset="0"/>
              </a:rPr>
              <a:t> включает в себя алгоритм </a:t>
            </a:r>
            <a:r>
              <a:rPr lang="ru-RU" sz="2400" dirty="0" err="1">
                <a:latin typeface="Times New Roman" pitchFamily="18" charset="0"/>
                <a:cs typeface="Times New Roman" pitchFamily="18" charset="0"/>
              </a:rPr>
              <a:t>расшифрования</a:t>
            </a:r>
            <a:r>
              <a:rPr lang="ru-RU" sz="2400" dirty="0">
                <a:latin typeface="Times New Roman" pitchFamily="18" charset="0"/>
                <a:cs typeface="Times New Roman" pitchFamily="18" charset="0"/>
              </a:rPr>
              <a:t>. Обозначим его буквой D, тогда процесс </a:t>
            </a:r>
            <a:r>
              <a:rPr lang="ru-RU" sz="2400" dirty="0" err="1">
                <a:latin typeface="Times New Roman" pitchFamily="18" charset="0"/>
                <a:cs typeface="Times New Roman" pitchFamily="18" charset="0"/>
              </a:rPr>
              <a:t>расшифрования</a:t>
            </a:r>
            <a:r>
              <a:rPr lang="en-US" sz="2400" dirty="0">
                <a:latin typeface="Times New Roman" pitchFamily="18" charset="0"/>
                <a:cs typeface="Times New Roman" pitchFamily="18" charset="0"/>
              </a:rPr>
              <a:t> </a:t>
            </a:r>
            <a:r>
              <a:rPr lang="ru-RU" sz="2400" dirty="0">
                <a:latin typeface="Times New Roman" pitchFamily="18" charset="0"/>
                <a:cs typeface="Times New Roman" pitchFamily="18" charset="0"/>
              </a:rPr>
              <a:t>можно выразить следующей формулой:</a:t>
            </a:r>
            <a:endParaRPr lang="en-US" sz="2400" dirty="0">
              <a:latin typeface="Times New Roman" pitchFamily="18" charset="0"/>
              <a:cs typeface="Times New Roman" pitchFamily="18" charset="0"/>
            </a:endParaRPr>
          </a:p>
          <a:p>
            <a:pPr algn="ctr"/>
            <a:r>
              <a:rPr lang="ru-RU" sz="2800" b="1" dirty="0">
                <a:latin typeface="Times New Roman" pitchFamily="18" charset="0"/>
                <a:cs typeface="Times New Roman" pitchFamily="18" charset="0"/>
              </a:rPr>
              <a:t>М = D</a:t>
            </a:r>
            <a:r>
              <a:rPr lang="ru-RU" sz="2800" b="1" baseline="-25000" dirty="0">
                <a:latin typeface="Times New Roman" pitchFamily="18" charset="0"/>
                <a:cs typeface="Times New Roman" pitchFamily="18" charset="0"/>
              </a:rPr>
              <a:t>k2</a:t>
            </a:r>
            <a:r>
              <a:rPr lang="ru-RU" sz="2800" b="1" dirty="0">
                <a:latin typeface="Times New Roman" pitchFamily="18" charset="0"/>
                <a:cs typeface="Times New Roman" pitchFamily="18" charset="0"/>
              </a:rPr>
              <a:t> (C).</a:t>
            </a:r>
          </a:p>
          <a:p>
            <a:pPr indent="450850" algn="just"/>
            <a:r>
              <a:rPr lang="ru-RU" sz="2400" dirty="0">
                <a:latin typeface="Times New Roman" pitchFamily="18" charset="0"/>
                <a:cs typeface="Times New Roman" pitchFamily="18" charset="0"/>
              </a:rPr>
              <a:t>Алгоритмы шифрования и расшифрования должны удовлетворять следующему равенству:</a:t>
            </a:r>
            <a:endParaRPr lang="en-US" sz="2400" dirty="0">
              <a:latin typeface="Times New Roman" pitchFamily="18" charset="0"/>
              <a:cs typeface="Times New Roman" pitchFamily="18" charset="0"/>
            </a:endParaRPr>
          </a:p>
          <a:p>
            <a:pPr algn="ctr"/>
            <a:r>
              <a:rPr lang="ru-RU" sz="2800" b="1" dirty="0">
                <a:latin typeface="Times New Roman" pitchFamily="18" charset="0"/>
                <a:cs typeface="Times New Roman" pitchFamily="18" charset="0"/>
              </a:rPr>
              <a:t>М = D</a:t>
            </a:r>
            <a:r>
              <a:rPr lang="ru-RU" sz="2800" b="1" baseline="-25000" dirty="0">
                <a:latin typeface="Times New Roman" pitchFamily="18" charset="0"/>
                <a:cs typeface="Times New Roman" pitchFamily="18" charset="0"/>
              </a:rPr>
              <a:t>k2</a:t>
            </a:r>
            <a:r>
              <a:rPr lang="ru-RU" sz="2800" b="1" dirty="0">
                <a:latin typeface="Times New Roman" pitchFamily="18" charset="0"/>
                <a:cs typeface="Times New Roman" pitchFamily="18" charset="0"/>
              </a:rPr>
              <a:t> (Ek1(M)).</a:t>
            </a:r>
          </a:p>
          <a:p>
            <a:pPr indent="450850" algn="just"/>
            <a:r>
              <a:rPr lang="ru-RU" sz="2400" dirty="0">
                <a:latin typeface="Times New Roman" pitchFamily="18" charset="0"/>
                <a:cs typeface="Times New Roman" pitchFamily="18" charset="0"/>
              </a:rPr>
              <a:t>Ключи k1 и k2 могут иметь </a:t>
            </a:r>
            <a:r>
              <a:rPr lang="ru-RU" sz="2400" b="1" i="1" dirty="0">
                <a:latin typeface="Times New Roman" pitchFamily="18" charset="0"/>
                <a:cs typeface="Times New Roman" pitchFamily="18" charset="0"/>
              </a:rPr>
              <a:t>одинаковое значение</a:t>
            </a:r>
            <a:r>
              <a:rPr lang="ru-RU" sz="2400" dirty="0">
                <a:latin typeface="Times New Roman" pitchFamily="18" charset="0"/>
                <a:cs typeface="Times New Roman" pitchFamily="18" charset="0"/>
              </a:rPr>
              <a:t>, а в общем случае могут быть </a:t>
            </a:r>
            <a:r>
              <a:rPr lang="ru-RU" sz="2400" b="1" i="1" dirty="0">
                <a:latin typeface="Times New Roman" pitchFamily="18" charset="0"/>
                <a:cs typeface="Times New Roman" pitchFamily="18" charset="0"/>
              </a:rPr>
              <a:t>разными</a:t>
            </a:r>
            <a:r>
              <a:rPr lang="ru-RU" sz="2400" dirty="0">
                <a:latin typeface="Times New Roman" pitchFamily="18" charset="0"/>
                <a:cs typeface="Times New Roman" pitchFamily="18" charset="0"/>
              </a:rPr>
              <a:t> для алгоритмов расшифрования и шифрования.</a:t>
            </a:r>
          </a:p>
        </p:txBody>
      </p:sp>
      <p:sp>
        <p:nvSpPr>
          <p:cNvPr id="5" name="Номер слайда 4"/>
          <p:cNvSpPr>
            <a:spLocks noGrp="1"/>
          </p:cNvSpPr>
          <p:nvPr>
            <p:ph type="sldNum" sz="quarter" idx="12"/>
          </p:nvPr>
        </p:nvSpPr>
        <p:spPr/>
        <p:txBody>
          <a:bodyPr/>
          <a:lstStyle/>
          <a:p>
            <a:fld id="{8ECC1301-DE66-4CDA-81DE-A914792F0A66}" type="slidenum">
              <a:rPr lang="ru-RU" smtClean="0"/>
              <a:pPr/>
              <a:t>9</a:t>
            </a:fld>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1052736"/>
            <a:ext cx="8424936" cy="5632311"/>
          </a:xfrm>
          <a:prstGeom prst="rect">
            <a:avLst/>
          </a:prstGeom>
        </p:spPr>
        <p:txBody>
          <a:bodyPr wrap="square">
            <a:spAutoFit/>
          </a:bodyPr>
          <a:lstStyle/>
          <a:p>
            <a:pPr indent="450850" algn="just"/>
            <a:r>
              <a:rPr lang="ru-RU" sz="2400" dirty="0">
                <a:latin typeface="Times New Roman" pitchFamily="18" charset="0"/>
                <a:cs typeface="Times New Roman" pitchFamily="18" charset="0"/>
              </a:rPr>
              <a:t>В соответствии со значениями ключей шифрования и расшифрования в современной криптографии различают </a:t>
            </a:r>
            <a:r>
              <a:rPr lang="ru-RU" sz="2400" b="1" dirty="0">
                <a:latin typeface="Times New Roman" pitchFamily="18" charset="0"/>
                <a:cs typeface="Times New Roman" pitchFamily="18" charset="0"/>
              </a:rPr>
              <a:t>симметричное и асимметричное шифрование</a:t>
            </a:r>
            <a:r>
              <a:rPr lang="ru-RU" sz="2400" dirty="0">
                <a:latin typeface="Times New Roman" pitchFamily="18" charset="0"/>
                <a:cs typeface="Times New Roman" pitchFamily="18" charset="0"/>
              </a:rPr>
              <a:t>.</a:t>
            </a:r>
          </a:p>
          <a:p>
            <a:pPr indent="450850" algn="just"/>
            <a:r>
              <a:rPr lang="ru-RU" sz="2400" b="1" dirty="0">
                <a:latin typeface="Times New Roman" pitchFamily="18" charset="0"/>
                <a:cs typeface="Times New Roman" pitchFamily="18" charset="0"/>
              </a:rPr>
              <a:t>Симметричное шифрование </a:t>
            </a:r>
            <a:r>
              <a:rPr lang="ru-RU" sz="2400" dirty="0">
                <a:latin typeface="Times New Roman" pitchFamily="18" charset="0"/>
                <a:cs typeface="Times New Roman" pitchFamily="18" charset="0"/>
              </a:rPr>
              <a:t>(как для шифрования, так и для расшифрования) использует либо одинаковые ключи, либо ключи, у которых знание одного из них позволяет легко найти другой.</a:t>
            </a:r>
          </a:p>
          <a:p>
            <a:pPr indent="450850" algn="just"/>
            <a:r>
              <a:rPr lang="ru-RU" sz="2400" b="1" dirty="0">
                <a:latin typeface="Times New Roman" pitchFamily="18" charset="0"/>
                <a:cs typeface="Times New Roman" pitchFamily="18" charset="0"/>
              </a:rPr>
              <a:t>Асимметричное шифрование </a:t>
            </a:r>
            <a:r>
              <a:rPr lang="ru-RU" sz="2400" dirty="0">
                <a:latin typeface="Times New Roman" pitchFamily="18" charset="0"/>
                <a:cs typeface="Times New Roman" pitchFamily="18" charset="0"/>
              </a:rPr>
              <a:t>осуществляется с помощью двух разных ключей, связанных математически между собой и называемых </a:t>
            </a:r>
            <a:r>
              <a:rPr lang="ru-RU" sz="2400" b="1" dirty="0" err="1">
                <a:latin typeface="Times New Roman" pitchFamily="18" charset="0"/>
                <a:cs typeface="Times New Roman" pitchFamily="18" charset="0"/>
              </a:rPr>
              <a:t>криптопарой</a:t>
            </a:r>
            <a:r>
              <a:rPr lang="ru-RU" sz="2400" dirty="0">
                <a:latin typeface="Times New Roman" pitchFamily="18" charset="0"/>
                <a:cs typeface="Times New Roman" pitchFamily="18" charset="0"/>
              </a:rPr>
              <a:t>. Один из ключей называется открытым или публичным, другой – секретным или закрытым.</a:t>
            </a:r>
          </a:p>
          <a:p>
            <a:pPr indent="450850" algn="just"/>
            <a:r>
              <a:rPr lang="ru-RU" sz="2400" dirty="0">
                <a:latin typeface="Times New Roman" pitchFamily="18" charset="0"/>
                <a:cs typeface="Times New Roman" pitchFamily="18" charset="0"/>
              </a:rPr>
              <a:t>При этом информация, зашифрованная на открытом ключе, может быть расшифрована только с помощью закрытого ключа и наоборот: то, что зашифровано закрытым, можно расшифровать только с помощью открытого ключа.</a:t>
            </a:r>
          </a:p>
        </p:txBody>
      </p:sp>
      <p:sp>
        <p:nvSpPr>
          <p:cNvPr id="5" name="Номер слайда 4"/>
          <p:cNvSpPr>
            <a:spLocks noGrp="1"/>
          </p:cNvSpPr>
          <p:nvPr>
            <p:ph type="sldNum" sz="quarter" idx="12"/>
          </p:nvPr>
        </p:nvSpPr>
        <p:spPr/>
        <p:txBody>
          <a:bodyPr/>
          <a:lstStyle/>
          <a:p>
            <a:fld id="{8ECC1301-DE66-4CDA-81DE-A914792F0A66}" type="slidenum">
              <a:rPr lang="ru-RU" smtClean="0"/>
              <a:pPr/>
              <a:t>10</a:t>
            </a:fld>
            <a:endParaRPr lang="ru-R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5" name="Номер слайда 4"/>
          <p:cNvSpPr>
            <a:spLocks noGrp="1"/>
          </p:cNvSpPr>
          <p:nvPr>
            <p:ph type="sldNum" sz="quarter" idx="12"/>
          </p:nvPr>
        </p:nvSpPr>
        <p:spPr/>
        <p:txBody>
          <a:bodyPr/>
          <a:lstStyle/>
          <a:p>
            <a:fld id="{8ECC1301-DE66-4CDA-81DE-A914792F0A66}" type="slidenum">
              <a:rPr lang="ru-RU" smtClean="0"/>
              <a:pPr/>
              <a:t>11</a:t>
            </a:fld>
            <a:endParaRPr lang="ru-RU" dirty="0"/>
          </a:p>
        </p:txBody>
      </p:sp>
      <p:pic>
        <p:nvPicPr>
          <p:cNvPr id="2050" name="Picture 2" descr="https://285624.selcdn.ru/syms1/medialibrary/3a7/3a7034d82ea5541bd6cfb9fff8be0713/5378bdd9df73af9eee10e794830ea7a4.jpg"/>
          <p:cNvPicPr>
            <a:picLocks noChangeAspect="1" noChangeArrowheads="1"/>
          </p:cNvPicPr>
          <p:nvPr/>
        </p:nvPicPr>
        <p:blipFill>
          <a:blip r:embed="rId3" cstate="print"/>
          <a:srcRect/>
          <a:stretch>
            <a:fillRect/>
          </a:stretch>
        </p:blipFill>
        <p:spPr bwMode="auto">
          <a:xfrm>
            <a:off x="0" y="1268760"/>
            <a:ext cx="9144000" cy="518457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1196752"/>
            <a:ext cx="8424936" cy="4524315"/>
          </a:xfrm>
          <a:prstGeom prst="rect">
            <a:avLst/>
          </a:prstGeom>
        </p:spPr>
        <p:txBody>
          <a:bodyPr wrap="square">
            <a:spAutoFit/>
          </a:bodyPr>
          <a:lstStyle/>
          <a:p>
            <a:pPr indent="450850" algn="just"/>
            <a:r>
              <a:rPr lang="ru-RU" sz="2400" dirty="0">
                <a:latin typeface="Times New Roman" pitchFamily="18" charset="0"/>
                <a:cs typeface="Times New Roman" pitchFamily="18" charset="0"/>
              </a:rPr>
              <a:t>Закрытый ключ владелец хранит в надежном месте, и никто, кроме него, этот ключ не знает, а копия открытого ключа раздается всем желающим. </a:t>
            </a:r>
          </a:p>
          <a:p>
            <a:pPr indent="450850" algn="just"/>
            <a:r>
              <a:rPr lang="ru-RU" sz="2400" dirty="0">
                <a:latin typeface="Times New Roman" pitchFamily="18" charset="0"/>
                <a:cs typeface="Times New Roman" pitchFamily="18" charset="0"/>
              </a:rPr>
              <a:t>Таким образом, если кто-то захочет обменяться зашифрованными сообщениями с владельцем закрытого ключа, то он зашифровывает сообщение на открытом ключе, который доступен всем желающим, а расшифровать это сообщение можно будет только с помощью закрытого ключа.</a:t>
            </a:r>
          </a:p>
          <a:p>
            <a:pPr indent="450850" algn="just"/>
            <a:r>
              <a:rPr lang="ru-RU" sz="2400" dirty="0">
                <a:latin typeface="Times New Roman" pitchFamily="18" charset="0"/>
                <a:cs typeface="Times New Roman" pitchFamily="18" charset="0"/>
              </a:rPr>
              <a:t>Как видно, асимметричность проявляется в назначении и использовании ключей </a:t>
            </a:r>
            <a:r>
              <a:rPr lang="ru-RU" sz="2400" dirty="0" err="1">
                <a:latin typeface="Times New Roman" pitchFamily="18" charset="0"/>
                <a:cs typeface="Times New Roman" pitchFamily="18" charset="0"/>
              </a:rPr>
              <a:t>зашифрования</a:t>
            </a:r>
            <a:r>
              <a:rPr lang="ru-RU" sz="2400" dirty="0">
                <a:latin typeface="Times New Roman" pitchFamily="18" charset="0"/>
                <a:cs typeface="Times New Roman" pitchFamily="18" charset="0"/>
              </a:rPr>
              <a:t> и </a:t>
            </a:r>
            <a:r>
              <a:rPr lang="ru-RU" sz="2400" dirty="0" err="1">
                <a:latin typeface="Times New Roman" pitchFamily="18" charset="0"/>
                <a:cs typeface="Times New Roman" pitchFamily="18" charset="0"/>
              </a:rPr>
              <a:t>расшифрования</a:t>
            </a:r>
            <a:r>
              <a:rPr lang="ru-RU" sz="2400" dirty="0">
                <a:latin typeface="Times New Roman" pitchFamily="18" charset="0"/>
                <a:cs typeface="Times New Roman" pitchFamily="18" charset="0"/>
              </a:rPr>
              <a:t>.</a:t>
            </a:r>
          </a:p>
          <a:p>
            <a:pPr indent="450850" algn="just"/>
            <a:r>
              <a:rPr lang="ru-RU" sz="2400" dirty="0">
                <a:latin typeface="Times New Roman" pitchFamily="18" charset="0"/>
                <a:cs typeface="Times New Roman" pitchFamily="18" charset="0"/>
              </a:rPr>
              <a:t>Иногда </a:t>
            </a:r>
            <a:r>
              <a:rPr lang="ru-RU" sz="2400" b="1" i="1" dirty="0">
                <a:latin typeface="Times New Roman" pitchFamily="18" charset="0"/>
                <a:cs typeface="Times New Roman" pitchFamily="18" charset="0"/>
              </a:rPr>
              <a:t>асимметричное шифрование </a:t>
            </a:r>
            <a:r>
              <a:rPr lang="ru-RU" sz="2400" dirty="0">
                <a:latin typeface="Times New Roman" pitchFamily="18" charset="0"/>
                <a:cs typeface="Times New Roman" pitchFamily="18" charset="0"/>
              </a:rPr>
              <a:t>называют </a:t>
            </a:r>
            <a:r>
              <a:rPr lang="ru-RU" sz="2400" b="1" i="1" dirty="0">
                <a:latin typeface="Times New Roman" pitchFamily="18" charset="0"/>
                <a:cs typeface="Times New Roman" pitchFamily="18" charset="0"/>
              </a:rPr>
              <a:t>шифрованием с открытым ключом.</a:t>
            </a:r>
          </a:p>
        </p:txBody>
      </p:sp>
      <p:sp>
        <p:nvSpPr>
          <p:cNvPr id="5" name="Номер слайда 4"/>
          <p:cNvSpPr>
            <a:spLocks noGrp="1"/>
          </p:cNvSpPr>
          <p:nvPr>
            <p:ph type="sldNum" sz="quarter" idx="12"/>
          </p:nvPr>
        </p:nvSpPr>
        <p:spPr/>
        <p:txBody>
          <a:bodyPr/>
          <a:lstStyle/>
          <a:p>
            <a:fld id="{8ECC1301-DE66-4CDA-81DE-A914792F0A66}" type="slidenum">
              <a:rPr lang="ru-RU" smtClean="0"/>
              <a:pPr/>
              <a:t>12</a:t>
            </a:fld>
            <a:endParaRPr lang="ru-RU"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8ECC1301-DE66-4CDA-81DE-A914792F0A66}" type="slidenum">
              <a:rPr lang="ru-RU" smtClean="0"/>
              <a:pPr/>
              <a:t>13</a:t>
            </a:fld>
            <a:endParaRPr lang="ru-RU"/>
          </a:p>
        </p:txBody>
      </p:sp>
      <p:pic>
        <p:nvPicPr>
          <p:cNvPr id="1026" name="Picture 2" descr="Picture background"/>
          <p:cNvPicPr>
            <a:picLocks noChangeAspect="1" noChangeArrowheads="1"/>
          </p:cNvPicPr>
          <p:nvPr/>
        </p:nvPicPr>
        <p:blipFill>
          <a:blip r:embed="rId2" cstate="print"/>
          <a:srcRect l="4846" r="9759"/>
          <a:stretch>
            <a:fillRect/>
          </a:stretch>
        </p:blipFill>
        <p:spPr bwMode="auto">
          <a:xfrm>
            <a:off x="179513" y="1412776"/>
            <a:ext cx="8810410" cy="5040559"/>
          </a:xfrm>
          <a:prstGeom prst="rect">
            <a:avLst/>
          </a:prstGeom>
          <a:noFill/>
        </p:spPr>
      </p:pic>
      <p:sp>
        <p:nvSpPr>
          <p:cNvPr id="6" name="Заголовок 1"/>
          <p:cNvSpPr>
            <a:spLocks noGrp="1"/>
          </p:cNvSpPr>
          <p:nvPr>
            <p:ph type="title"/>
          </p:nvPr>
        </p:nvSpPr>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1196752"/>
            <a:ext cx="8424936" cy="4154984"/>
          </a:xfrm>
          <a:prstGeom prst="rect">
            <a:avLst/>
          </a:prstGeom>
        </p:spPr>
        <p:txBody>
          <a:bodyPr wrap="square">
            <a:spAutoFit/>
          </a:bodyPr>
          <a:lstStyle/>
          <a:p>
            <a:pPr indent="450850" algn="just"/>
            <a:r>
              <a:rPr lang="ru-RU" sz="2400" dirty="0">
                <a:latin typeface="Times New Roman" pitchFamily="18" charset="0"/>
                <a:cs typeface="Times New Roman" pitchFamily="18" charset="0"/>
              </a:rPr>
              <a:t>По размеру обрабатываемого (шифруемого) блока различают </a:t>
            </a:r>
            <a:r>
              <a:rPr lang="ru-RU" sz="2400" b="1" dirty="0">
                <a:latin typeface="Times New Roman" pitchFamily="18" charset="0"/>
                <a:cs typeface="Times New Roman" pitchFamily="18" charset="0"/>
              </a:rPr>
              <a:t>блочные</a:t>
            </a:r>
            <a:r>
              <a:rPr lang="ru-RU" sz="2400" dirty="0">
                <a:latin typeface="Times New Roman" pitchFamily="18" charset="0"/>
                <a:cs typeface="Times New Roman" pitchFamily="18" charset="0"/>
              </a:rPr>
              <a:t> и </a:t>
            </a:r>
            <a:r>
              <a:rPr lang="ru-RU" sz="2400" b="1" dirty="0">
                <a:latin typeface="Times New Roman" pitchFamily="18" charset="0"/>
                <a:cs typeface="Times New Roman" pitchFamily="18" charset="0"/>
              </a:rPr>
              <a:t>поточные</a:t>
            </a:r>
            <a:r>
              <a:rPr lang="ru-RU" sz="2400" dirty="0">
                <a:latin typeface="Times New Roman" pitchFamily="18" charset="0"/>
                <a:cs typeface="Times New Roman" pitchFamily="18" charset="0"/>
              </a:rPr>
              <a:t> (посимвольные) шифры.</a:t>
            </a:r>
          </a:p>
          <a:p>
            <a:pPr indent="450850" algn="just"/>
            <a:r>
              <a:rPr lang="ru-RU" sz="2400" dirty="0">
                <a:latin typeface="Times New Roman" pitchFamily="18" charset="0"/>
                <a:cs typeface="Times New Roman" pitchFamily="18" charset="0"/>
              </a:rPr>
              <a:t>Если шифруется каждый символ открытого текста, то такие способы шифрования являются поточными.</a:t>
            </a:r>
          </a:p>
          <a:p>
            <a:pPr indent="450850" algn="just"/>
            <a:r>
              <a:rPr lang="ru-RU" sz="2400" dirty="0">
                <a:latin typeface="Times New Roman" pitchFamily="18" charset="0"/>
                <a:cs typeface="Times New Roman" pitchFamily="18" charset="0"/>
              </a:rPr>
              <a:t>Суть методов </a:t>
            </a:r>
            <a:r>
              <a:rPr lang="ru-RU" sz="2400" b="1" dirty="0">
                <a:latin typeface="Times New Roman" pitchFamily="18" charset="0"/>
                <a:cs typeface="Times New Roman" pitchFamily="18" charset="0"/>
              </a:rPr>
              <a:t>блочной перестановки </a:t>
            </a:r>
            <a:r>
              <a:rPr lang="ru-RU" sz="2400" dirty="0">
                <a:latin typeface="Times New Roman" pitchFamily="18" charset="0"/>
                <a:cs typeface="Times New Roman" pitchFamily="18" charset="0"/>
              </a:rPr>
              <a:t>заключается в разделении исходного текста на блоки фиксированной длины и последующей перестановке символов внутри каждого блока по определенному алгоритму. Перестановки получаются за счет разницы путей записи исходной информации и путей считывания зашифрованной информации в пределах геометрической фигуры (как пример). </a:t>
            </a:r>
          </a:p>
        </p:txBody>
      </p:sp>
      <p:sp>
        <p:nvSpPr>
          <p:cNvPr id="5" name="Номер слайда 4"/>
          <p:cNvSpPr>
            <a:spLocks noGrp="1"/>
          </p:cNvSpPr>
          <p:nvPr>
            <p:ph type="sldNum" sz="quarter" idx="12"/>
          </p:nvPr>
        </p:nvSpPr>
        <p:spPr/>
        <p:txBody>
          <a:bodyPr/>
          <a:lstStyle/>
          <a:p>
            <a:fld id="{8ECC1301-DE66-4CDA-81DE-A914792F0A66}" type="slidenum">
              <a:rPr lang="ru-RU" smtClean="0"/>
              <a:pPr/>
              <a:t>14</a:t>
            </a:fld>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1196752"/>
            <a:ext cx="8424936" cy="5262979"/>
          </a:xfrm>
          <a:prstGeom prst="rect">
            <a:avLst/>
          </a:prstGeom>
        </p:spPr>
        <p:txBody>
          <a:bodyPr wrap="square">
            <a:spAutoFit/>
          </a:bodyPr>
          <a:lstStyle/>
          <a:p>
            <a:pPr indent="355600" algn="just"/>
            <a:r>
              <a:rPr lang="ru-RU" sz="2400" b="1" dirty="0">
                <a:latin typeface="Times New Roman" pitchFamily="18" charset="0"/>
                <a:cs typeface="Times New Roman" pitchFamily="18" charset="0"/>
              </a:rPr>
              <a:t>Блочный шифр</a:t>
            </a:r>
            <a:r>
              <a:rPr lang="ru-RU" sz="2400" dirty="0">
                <a:latin typeface="Times New Roman" pitchFamily="18" charset="0"/>
                <a:cs typeface="Times New Roman" pitchFamily="18" charset="0"/>
              </a:rPr>
              <a:t>  – это симметричный криптографический алгоритм, который преобразует фиксированный блок открытого текста (обычно 64, 128 или 256 бит) в блок </a:t>
            </a:r>
            <a:r>
              <a:rPr lang="ru-RU" sz="2400" dirty="0" err="1">
                <a:latin typeface="Times New Roman" pitchFamily="18" charset="0"/>
                <a:cs typeface="Times New Roman" pitchFamily="18" charset="0"/>
              </a:rPr>
              <a:t>шифртекста</a:t>
            </a:r>
            <a:r>
              <a:rPr lang="ru-RU" sz="2400" dirty="0">
                <a:latin typeface="Times New Roman" pitchFamily="18" charset="0"/>
                <a:cs typeface="Times New Roman" pitchFamily="18" charset="0"/>
              </a:rPr>
              <a:t> того же размера, используя секретный ключ.</a:t>
            </a:r>
          </a:p>
          <a:p>
            <a:pPr indent="355600" algn="just"/>
            <a:r>
              <a:rPr lang="ru-RU" sz="2400" dirty="0">
                <a:latin typeface="Times New Roman" pitchFamily="18" charset="0"/>
                <a:cs typeface="Times New Roman" pitchFamily="18" charset="0"/>
              </a:rPr>
              <a:t>Формально это можно записать как:</a:t>
            </a:r>
          </a:p>
          <a:p>
            <a:pPr algn="ctr"/>
            <a:r>
              <a:rPr lang="ru-RU" sz="2400" b="1" dirty="0">
                <a:latin typeface="Times New Roman" pitchFamily="18" charset="0"/>
                <a:cs typeface="Times New Roman" pitchFamily="18" charset="0"/>
              </a:rPr>
              <a:t>C = E(K, P), </a:t>
            </a:r>
          </a:p>
          <a:p>
            <a:r>
              <a:rPr lang="ru-RU" sz="2400" dirty="0">
                <a:latin typeface="Times New Roman" pitchFamily="18" charset="0"/>
                <a:cs typeface="Times New Roman" pitchFamily="18" charset="0"/>
              </a:rPr>
              <a:t>где: </a:t>
            </a:r>
          </a:p>
          <a:p>
            <a:pPr indent="355600"/>
            <a:r>
              <a:rPr lang="ru-RU" sz="2400" dirty="0">
                <a:latin typeface="Times New Roman" pitchFamily="18" charset="0"/>
                <a:cs typeface="Times New Roman" pitchFamily="18" charset="0"/>
              </a:rPr>
              <a:t>P  – блок открытого текста (</a:t>
            </a:r>
            <a:r>
              <a:rPr lang="ru-RU" sz="2400" dirty="0" err="1">
                <a:latin typeface="Times New Roman" pitchFamily="18" charset="0"/>
                <a:cs typeface="Times New Roman" pitchFamily="18" charset="0"/>
              </a:rPr>
              <a:t>plaintext</a:t>
            </a:r>
            <a:r>
              <a:rPr lang="ru-RU" sz="2400" dirty="0">
                <a:latin typeface="Times New Roman" pitchFamily="18" charset="0"/>
                <a:cs typeface="Times New Roman" pitchFamily="18" charset="0"/>
              </a:rPr>
              <a:t>);</a:t>
            </a:r>
          </a:p>
          <a:p>
            <a:pPr indent="355600" algn="just"/>
            <a:r>
              <a:rPr lang="ru-RU" sz="2400" dirty="0">
                <a:latin typeface="Times New Roman" pitchFamily="18" charset="0"/>
                <a:cs typeface="Times New Roman" pitchFamily="18" charset="0"/>
              </a:rPr>
              <a:t>C  – блок </a:t>
            </a:r>
            <a:r>
              <a:rPr lang="ru-RU" sz="2400" dirty="0" err="1">
                <a:latin typeface="Times New Roman" pitchFamily="18" charset="0"/>
                <a:cs typeface="Times New Roman" pitchFamily="18" charset="0"/>
              </a:rPr>
              <a:t>шифртекста</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ciphertext</a:t>
            </a:r>
            <a:r>
              <a:rPr lang="ru-RU" sz="2400" dirty="0">
                <a:latin typeface="Times New Roman" pitchFamily="18" charset="0"/>
                <a:cs typeface="Times New Roman" pitchFamily="18" charset="0"/>
              </a:rPr>
              <a:t>);</a:t>
            </a:r>
          </a:p>
          <a:p>
            <a:pPr indent="355600" algn="just"/>
            <a:r>
              <a:rPr lang="ru-RU" sz="2400" dirty="0">
                <a:latin typeface="Times New Roman" pitchFamily="18" charset="0"/>
                <a:cs typeface="Times New Roman" pitchFamily="18" charset="0"/>
              </a:rPr>
              <a:t>K  – секретный ключ;</a:t>
            </a:r>
          </a:p>
          <a:p>
            <a:pPr indent="355600" algn="just"/>
            <a:r>
              <a:rPr lang="ru-RU" sz="2400" dirty="0">
                <a:latin typeface="Times New Roman" pitchFamily="18" charset="0"/>
                <a:cs typeface="Times New Roman" pitchFamily="18" charset="0"/>
              </a:rPr>
              <a:t>E  – функция шифрования.</a:t>
            </a:r>
          </a:p>
          <a:p>
            <a:pPr algn="ctr"/>
            <a:r>
              <a:rPr lang="ru-RU" sz="2400" dirty="0">
                <a:latin typeface="Times New Roman" pitchFamily="18" charset="0"/>
                <a:cs typeface="Times New Roman" pitchFamily="18" charset="0"/>
              </a:rPr>
              <a:t>И обратное преобразование (</a:t>
            </a:r>
            <a:r>
              <a:rPr lang="ru-RU" sz="2400" dirty="0" err="1">
                <a:latin typeface="Times New Roman" pitchFamily="18" charset="0"/>
                <a:cs typeface="Times New Roman" pitchFamily="18" charset="0"/>
              </a:rPr>
              <a:t>расшифрование</a:t>
            </a:r>
            <a:r>
              <a:rPr lang="ru-RU" sz="2400" dirty="0">
                <a:latin typeface="Times New Roman" pitchFamily="18" charset="0"/>
                <a:cs typeface="Times New Roman" pitchFamily="18" charset="0"/>
              </a:rPr>
              <a:t>):</a:t>
            </a:r>
            <a:br>
              <a:rPr lang="ru-RU" sz="2400" dirty="0">
                <a:latin typeface="Times New Roman" pitchFamily="18" charset="0"/>
                <a:cs typeface="Times New Roman" pitchFamily="18" charset="0"/>
              </a:rPr>
            </a:br>
            <a:r>
              <a:rPr lang="ru-RU" sz="2400" b="1" dirty="0">
                <a:latin typeface="Times New Roman" pitchFamily="18" charset="0"/>
                <a:cs typeface="Times New Roman" pitchFamily="18" charset="0"/>
              </a:rPr>
              <a:t>P = D(K, C), </a:t>
            </a:r>
          </a:p>
          <a:p>
            <a:pPr indent="355600" algn="just"/>
            <a:r>
              <a:rPr lang="ru-RU" sz="2400" dirty="0">
                <a:latin typeface="Times New Roman" pitchFamily="18" charset="0"/>
                <a:cs typeface="Times New Roman" pitchFamily="18" charset="0"/>
              </a:rPr>
              <a:t>где D  – функция </a:t>
            </a:r>
            <a:r>
              <a:rPr lang="ru-RU" sz="2400" dirty="0" err="1">
                <a:latin typeface="Times New Roman" pitchFamily="18" charset="0"/>
                <a:cs typeface="Times New Roman" pitchFamily="18" charset="0"/>
              </a:rPr>
              <a:t>расшифрования</a:t>
            </a:r>
            <a:r>
              <a:rPr lang="ru-RU" sz="2400" dirty="0">
                <a:latin typeface="Times New Roman" pitchFamily="18" charset="0"/>
                <a:cs typeface="Times New Roman" pitchFamily="18" charset="0"/>
              </a:rPr>
              <a:t>.</a:t>
            </a:r>
          </a:p>
        </p:txBody>
      </p:sp>
      <p:sp>
        <p:nvSpPr>
          <p:cNvPr id="5" name="Номер слайда 4"/>
          <p:cNvSpPr>
            <a:spLocks noGrp="1"/>
          </p:cNvSpPr>
          <p:nvPr>
            <p:ph type="sldNum" sz="quarter" idx="12"/>
          </p:nvPr>
        </p:nvSpPr>
        <p:spPr/>
        <p:txBody>
          <a:bodyPr/>
          <a:lstStyle/>
          <a:p>
            <a:fld id="{8ECC1301-DE66-4CDA-81DE-A914792F0A66}" type="slidenum">
              <a:rPr lang="ru-RU" smtClean="0"/>
              <a:pPr/>
              <a:t>15</a:t>
            </a:fld>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8614"/>
            <a:ext cx="8229600" cy="850106"/>
          </a:xfrm>
        </p:spPr>
        <p:txBody>
          <a:bodyPr>
            <a:normAutofit fontScale="90000"/>
          </a:bodyPr>
          <a:lstStyle/>
          <a:p>
            <a:r>
              <a:rPr lang="ru-RU" sz="3600" b="1" dirty="0">
                <a:latin typeface="Times New Roman" pitchFamily="18" charset="0"/>
                <a:cs typeface="Times New Roman" pitchFamily="18" charset="0"/>
              </a:rPr>
              <a:t>1. Симметричные алгоритмы шифрования. Блочные шифры.</a:t>
            </a:r>
            <a:endParaRPr lang="ru-RU" sz="3600" dirty="0"/>
          </a:p>
        </p:txBody>
      </p:sp>
      <p:sp>
        <p:nvSpPr>
          <p:cNvPr id="4" name="Прямоугольник 3"/>
          <p:cNvSpPr/>
          <p:nvPr/>
        </p:nvSpPr>
        <p:spPr>
          <a:xfrm>
            <a:off x="323528" y="1196752"/>
            <a:ext cx="8424936" cy="4524315"/>
          </a:xfrm>
          <a:prstGeom prst="rect">
            <a:avLst/>
          </a:prstGeom>
        </p:spPr>
        <p:txBody>
          <a:bodyPr wrap="square">
            <a:spAutoFit/>
          </a:bodyPr>
          <a:lstStyle/>
          <a:p>
            <a:pPr indent="355600" algn="just"/>
            <a:r>
              <a:rPr lang="ru-RU" sz="2400" dirty="0">
                <a:latin typeface="Times New Roman" pitchFamily="18" charset="0"/>
                <a:cs typeface="Times New Roman" pitchFamily="18" charset="0"/>
              </a:rPr>
              <a:t>Блочные шифры – это краеугольный камень современной симметричной криптографии. </a:t>
            </a:r>
          </a:p>
          <a:p>
            <a:pPr indent="355600" algn="just"/>
            <a:r>
              <a:rPr lang="ru-RU" sz="2400" dirty="0">
                <a:latin typeface="Times New Roman" pitchFamily="18" charset="0"/>
                <a:cs typeface="Times New Roman" pitchFamily="18" charset="0"/>
              </a:rPr>
              <a:t>Их стойкость определяется:</a:t>
            </a:r>
          </a:p>
          <a:p>
            <a:pPr indent="355600" algn="just">
              <a:buFont typeface="Arial" pitchFamily="34" charset="0"/>
              <a:buChar char="•"/>
            </a:pPr>
            <a:r>
              <a:rPr lang="ru-RU" sz="2400" dirty="0">
                <a:latin typeface="Times New Roman" pitchFamily="18" charset="0"/>
                <a:cs typeface="Times New Roman" pitchFamily="18" charset="0"/>
              </a:rPr>
              <a:t>архитектурой </a:t>
            </a:r>
            <a:r>
              <a:rPr lang="ru-RU" sz="2400" b="1" dirty="0">
                <a:latin typeface="Times New Roman" pitchFamily="18" charset="0"/>
                <a:cs typeface="Times New Roman" pitchFamily="18" charset="0"/>
              </a:rPr>
              <a:t>(</a:t>
            </a:r>
            <a:r>
              <a:rPr lang="ru-RU" sz="2400" b="1" dirty="0" err="1">
                <a:latin typeface="Times New Roman" pitchFamily="18" charset="0"/>
                <a:cs typeface="Times New Roman" pitchFamily="18" charset="0"/>
              </a:rPr>
              <a:t>Фейстель</a:t>
            </a:r>
            <a:r>
              <a:rPr lang="ru-RU" sz="2400" b="1" dirty="0">
                <a:latin typeface="Times New Roman" pitchFamily="18" charset="0"/>
                <a:cs typeface="Times New Roman" pitchFamily="18" charset="0"/>
              </a:rPr>
              <a:t> или SP-сеть (</a:t>
            </a:r>
            <a:r>
              <a:rPr lang="en-US" sz="2400" b="1" dirty="0">
                <a:latin typeface="Times New Roman" pitchFamily="18" charset="0"/>
                <a:cs typeface="Times New Roman" pitchFamily="18" charset="0"/>
              </a:rPr>
              <a:t>Substitution-Permutation</a:t>
            </a:r>
            <a:r>
              <a:rPr lang="ru-RU" sz="2400" b="1" dirty="0">
                <a:latin typeface="Times New Roman" pitchFamily="18" charset="0"/>
                <a:cs typeface="Times New Roman" pitchFamily="18" charset="0"/>
              </a:rPr>
              <a:t> </a:t>
            </a:r>
            <a:r>
              <a:rPr lang="en-US" sz="2400" b="1" dirty="0">
                <a:latin typeface="Times New Roman" pitchFamily="18" charset="0"/>
                <a:cs typeface="Times New Roman" pitchFamily="18" charset="0"/>
              </a:rPr>
              <a:t>Network)</a:t>
            </a:r>
            <a:r>
              <a:rPr lang="ru-RU" sz="2400" b="1" dirty="0">
                <a:latin typeface="Times New Roman" pitchFamily="18" charset="0"/>
                <a:cs typeface="Times New Roman" pitchFamily="18" charset="0"/>
              </a:rPr>
              <a:t>))</a:t>
            </a:r>
            <a:r>
              <a:rPr lang="ru-RU" sz="2400" dirty="0">
                <a:latin typeface="Times New Roman" pitchFamily="18" charset="0"/>
                <a:cs typeface="Times New Roman" pitchFamily="18" charset="0"/>
              </a:rPr>
              <a:t>, </a:t>
            </a:r>
          </a:p>
          <a:p>
            <a:pPr indent="355600" algn="just">
              <a:buFont typeface="Arial" pitchFamily="34" charset="0"/>
              <a:buChar char="•"/>
            </a:pPr>
            <a:r>
              <a:rPr lang="ru-RU" sz="2400" dirty="0">
                <a:latin typeface="Times New Roman" pitchFamily="18" charset="0"/>
                <a:cs typeface="Times New Roman" pitchFamily="18" charset="0"/>
              </a:rPr>
              <a:t>числом раундов, </a:t>
            </a:r>
          </a:p>
          <a:p>
            <a:pPr indent="355600" algn="just">
              <a:buFont typeface="Arial" pitchFamily="34" charset="0"/>
              <a:buChar char="•"/>
            </a:pPr>
            <a:r>
              <a:rPr lang="ru-RU" sz="2400" dirty="0">
                <a:latin typeface="Times New Roman" pitchFamily="18" charset="0"/>
                <a:cs typeface="Times New Roman" pitchFamily="18" charset="0"/>
              </a:rPr>
              <a:t>качеством </a:t>
            </a:r>
            <a:r>
              <a:rPr lang="ru-RU" sz="2400" dirty="0" err="1">
                <a:latin typeface="Times New Roman" pitchFamily="18" charset="0"/>
                <a:cs typeface="Times New Roman" pitchFamily="18" charset="0"/>
              </a:rPr>
              <a:t>раундовой</a:t>
            </a:r>
            <a:r>
              <a:rPr lang="ru-RU" sz="2400" dirty="0">
                <a:latin typeface="Times New Roman" pitchFamily="18" charset="0"/>
                <a:cs typeface="Times New Roman" pitchFamily="18" charset="0"/>
              </a:rPr>
              <a:t> функции;</a:t>
            </a:r>
          </a:p>
          <a:p>
            <a:pPr indent="355600" algn="just">
              <a:buFont typeface="Arial" pitchFamily="34" charset="0"/>
              <a:buChar char="•"/>
            </a:pPr>
            <a:r>
              <a:rPr lang="ru-RU" sz="2400" dirty="0">
                <a:latin typeface="Times New Roman" pitchFamily="18" charset="0"/>
                <a:cs typeface="Times New Roman" pitchFamily="18" charset="0"/>
              </a:rPr>
              <a:t>длиной ключа. </a:t>
            </a:r>
          </a:p>
          <a:p>
            <a:pPr indent="355600" algn="just"/>
            <a:r>
              <a:rPr lang="ru-RU" sz="2400" dirty="0">
                <a:latin typeface="Times New Roman" pitchFamily="18" charset="0"/>
                <a:cs typeface="Times New Roman" pitchFamily="18" charset="0"/>
              </a:rPr>
              <a:t>Понимание принципов их работы (запутывание, рассеивание, лавинный эффект) и знание конкретных стандартов (AES, ГОСТ) необходимы для корректной реализации и применения криптографических протоколов</a:t>
            </a:r>
            <a:r>
              <a:rPr lang="ru-RU" sz="2400" dirty="0"/>
              <a:t>.</a:t>
            </a:r>
            <a:endParaRPr lang="ru-RU" sz="2400" dirty="0">
              <a:latin typeface="Times New Roman" pitchFamily="18" charset="0"/>
              <a:cs typeface="Times New Roman" pitchFamily="18" charset="0"/>
            </a:endParaRPr>
          </a:p>
        </p:txBody>
      </p:sp>
      <p:sp>
        <p:nvSpPr>
          <p:cNvPr id="5" name="Номер слайда 4"/>
          <p:cNvSpPr>
            <a:spLocks noGrp="1"/>
          </p:cNvSpPr>
          <p:nvPr>
            <p:ph type="sldNum" sz="quarter" idx="12"/>
          </p:nvPr>
        </p:nvSpPr>
        <p:spPr/>
        <p:txBody>
          <a:bodyPr/>
          <a:lstStyle/>
          <a:p>
            <a:fld id="{8ECC1301-DE66-4CDA-81DE-A914792F0A66}" type="slidenum">
              <a:rPr lang="ru-RU" smtClean="0"/>
              <a:pPr/>
              <a:t>16</a:t>
            </a:fld>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3429000"/>
            <a:ext cx="8229600" cy="1828800"/>
          </a:xfrm>
        </p:spPr>
        <p:txBody>
          <a:bodyPr>
            <a:normAutofit/>
          </a:bodyPr>
          <a:lstStyle/>
          <a:p>
            <a:pPr marL="514350" indent="-514350" algn="ctr">
              <a:buNone/>
            </a:pPr>
            <a:r>
              <a:rPr lang="en-US" b="1" dirty="0">
                <a:latin typeface="Times New Roman" pitchFamily="18" charset="0"/>
                <a:cs typeface="Times New Roman" pitchFamily="18" charset="0"/>
              </a:rPr>
              <a:t>2</a:t>
            </a:r>
            <a:r>
              <a:rPr lang="ru-RU" b="1" dirty="0">
                <a:latin typeface="Times New Roman" pitchFamily="18" charset="0"/>
                <a:cs typeface="Times New Roman" pitchFamily="18" charset="0"/>
              </a:rPr>
              <a:t>. Аутентификация и криптографические протоколы</a:t>
            </a:r>
          </a:p>
          <a:p>
            <a:pPr marL="514350" indent="-514350" algn="just">
              <a:buNone/>
            </a:pPr>
            <a:endParaRPr lang="ru-RU" b="1" dirty="0"/>
          </a:p>
          <a:p>
            <a:pPr marL="514350" indent="-514350" algn="just">
              <a:buNone/>
            </a:pPr>
            <a:endParaRPr lang="ru-RU" b="1"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buNone/>
            </a:pPr>
            <a:endParaRPr lang="ru-RU" dirty="0"/>
          </a:p>
        </p:txBody>
      </p:sp>
      <p:sp>
        <p:nvSpPr>
          <p:cNvPr id="4" name="Заголовок 1"/>
          <p:cNvSpPr>
            <a:spLocks noGrp="1"/>
          </p:cNvSpPr>
          <p:nvPr>
            <p:ph type="title"/>
          </p:nvPr>
        </p:nvSpPr>
        <p:spPr>
          <a:xfrm>
            <a:off x="467544" y="260648"/>
            <a:ext cx="8229600" cy="2808312"/>
          </a:xfrm>
        </p:spPr>
        <p:txBody>
          <a:bodyPr>
            <a:normAutofit/>
          </a:bodyPr>
          <a:lstStyle/>
          <a:p>
            <a:r>
              <a:rPr lang="ru-RU" sz="3200" b="1" dirty="0">
                <a:solidFill>
                  <a:srgbClr val="FF0000"/>
                </a:solidFill>
              </a:rPr>
              <a:t>Лекция 4</a:t>
            </a:r>
            <a:br>
              <a:rPr lang="ru-RU" sz="3200" dirty="0">
                <a:solidFill>
                  <a:srgbClr val="FF0000"/>
                </a:solidFill>
              </a:rPr>
            </a:br>
            <a:r>
              <a:rPr lang="ru-RU" sz="3200" b="1" dirty="0">
                <a:solidFill>
                  <a:srgbClr val="FF0000"/>
                </a:solidFill>
              </a:rPr>
              <a:t>Симметричное шифрование и аутентификация </a:t>
            </a:r>
          </a:p>
        </p:txBody>
      </p:sp>
      <p:sp>
        <p:nvSpPr>
          <p:cNvPr id="5" name="Номер слайда 4"/>
          <p:cNvSpPr>
            <a:spLocks noGrp="1"/>
          </p:cNvSpPr>
          <p:nvPr>
            <p:ph type="sldNum" sz="quarter" idx="12"/>
          </p:nvPr>
        </p:nvSpPr>
        <p:spPr/>
        <p:txBody>
          <a:bodyPr/>
          <a:lstStyle/>
          <a:p>
            <a:fld id="{8ECC1301-DE66-4CDA-81DE-A914792F0A66}" type="slidenum">
              <a:rPr lang="ru-RU" smtClean="0"/>
              <a:pPr/>
              <a:t>17</a:t>
            </a:fld>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620688"/>
            <a:ext cx="8229600" cy="4525963"/>
          </a:xfrm>
        </p:spPr>
        <p:txBody>
          <a:bodyPr>
            <a:normAutofit/>
          </a:bodyPr>
          <a:lstStyle/>
          <a:p>
            <a:pPr marL="0" indent="355600" algn="just">
              <a:buNone/>
            </a:pPr>
            <a:r>
              <a:rPr lang="ru-RU" sz="2800" b="1" dirty="0">
                <a:latin typeface="Times New Roman" pitchFamily="18" charset="0"/>
                <a:cs typeface="Times New Roman" pitchFamily="18" charset="0"/>
              </a:rPr>
              <a:t>Криптографический протокол </a:t>
            </a:r>
            <a:r>
              <a:rPr lang="ru-RU" sz="2800" dirty="0">
                <a:latin typeface="Times New Roman" pitchFamily="18" charset="0"/>
                <a:cs typeface="Times New Roman" pitchFamily="18" charset="0"/>
              </a:rPr>
              <a:t> –</a:t>
            </a:r>
            <a:r>
              <a:rPr lang="ru-RU" sz="2800" b="1" dirty="0">
                <a:latin typeface="Times New Roman" pitchFamily="18" charset="0"/>
                <a:cs typeface="Times New Roman" pitchFamily="18" charset="0"/>
              </a:rPr>
              <a:t> </a:t>
            </a:r>
            <a:r>
              <a:rPr lang="ru-RU" sz="2800" dirty="0">
                <a:latin typeface="Times New Roman" pitchFamily="18" charset="0"/>
                <a:cs typeface="Times New Roman" pitchFamily="18" charset="0"/>
              </a:rPr>
              <a:t>это распределенный алгоритм, строго определяющий последовательность шагов и действий, которые должны выполнить две или более сторон для решения конкретной задачи безопасности в сети связи, где потенциально присутствуют злоумышленники.</a:t>
            </a:r>
          </a:p>
          <a:p>
            <a:pPr marL="0" indent="355600" algn="just">
              <a:buNone/>
            </a:pPr>
            <a:r>
              <a:rPr lang="ru-RU" sz="2800" dirty="0">
                <a:latin typeface="Times New Roman" pitchFamily="18" charset="0"/>
                <a:cs typeface="Times New Roman" pitchFamily="18" charset="0"/>
              </a:rPr>
              <a:t>Корректность протокола доказывается путем анализа его уязвимости к различным типам атак.</a:t>
            </a:r>
            <a:endParaRPr sz="2800" dirty="0">
              <a:latin typeface="Times New Roman" pitchFamily="18" charset="0"/>
              <a:cs typeface="Times New Roman" pitchFamily="18" charset="0"/>
            </a:endParaRPr>
          </a:p>
        </p:txBody>
      </p:sp>
      <p:sp>
        <p:nvSpPr>
          <p:cNvPr id="4" name="Заголовок 1">
            <a:extLst>
              <a:ext uri="{FF2B5EF4-FFF2-40B4-BE49-F238E27FC236}">
                <a16:creationId xmlns:a16="http://schemas.microsoft.com/office/drawing/2014/main" id="{9441789C-8B21-A57C-4D10-F450AD8EB4F7}"/>
              </a:ext>
            </a:extLst>
          </p:cNvPr>
          <p:cNvSpPr txBox="1">
            <a:spLocks/>
          </p:cNvSpPr>
          <p:nvPr/>
        </p:nvSpPr>
        <p:spPr>
          <a:xfrm>
            <a:off x="0" y="116632"/>
            <a:ext cx="8784976" cy="70609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600" b="1" dirty="0">
                <a:latin typeface="Times New Roman" pitchFamily="18" charset="0"/>
                <a:cs typeface="Times New Roman" pitchFamily="18" charset="0"/>
              </a:rPr>
              <a:t>2. Аутентификация и криптографические протоколы</a:t>
            </a:r>
            <a:endParaRPr lang="ru-RU" sz="3600" dirty="0"/>
          </a:p>
        </p:txBody>
      </p:sp>
      <p:sp>
        <p:nvSpPr>
          <p:cNvPr id="5" name="Номер слайда 4"/>
          <p:cNvSpPr>
            <a:spLocks noGrp="1"/>
          </p:cNvSpPr>
          <p:nvPr>
            <p:ph type="sldNum" sz="quarter" idx="12"/>
          </p:nvPr>
        </p:nvSpPr>
        <p:spPr/>
        <p:txBody>
          <a:bodyPr/>
          <a:lstStyle/>
          <a:p>
            <a:fld id="{8ECC1301-DE66-4CDA-81DE-A914792F0A66}" type="slidenum">
              <a:rPr lang="ru-RU" smtClean="0"/>
              <a:pPr/>
              <a:t>18</a:t>
            </a:fld>
            <a:endParaRPr lang="ru-RU"/>
          </a:p>
        </p:txBody>
      </p:sp>
      <p:pic>
        <p:nvPicPr>
          <p:cNvPr id="6" name="Picture 2" descr="Picture background"/>
          <p:cNvPicPr>
            <a:picLocks noChangeAspect="1" noChangeArrowheads="1"/>
          </p:cNvPicPr>
          <p:nvPr/>
        </p:nvPicPr>
        <p:blipFill>
          <a:blip r:embed="rId3" cstate="print"/>
          <a:srcRect/>
          <a:stretch>
            <a:fillRect/>
          </a:stretch>
        </p:blipFill>
        <p:spPr bwMode="auto">
          <a:xfrm>
            <a:off x="755576" y="4653136"/>
            <a:ext cx="7373713" cy="2016224"/>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355600" algn="just">
              <a:buNone/>
            </a:pPr>
            <a:r>
              <a:rPr lang="ru-RU" sz="2800" b="1" dirty="0">
                <a:latin typeface="Times New Roman" pitchFamily="18" charset="0"/>
                <a:cs typeface="Times New Roman" pitchFamily="18" charset="0"/>
              </a:rPr>
              <a:t>Протокол аутентификации сообщений </a:t>
            </a:r>
            <a:r>
              <a:rPr lang="ru-RU" sz="2800" dirty="0">
                <a:latin typeface="Times New Roman" pitchFamily="18" charset="0"/>
                <a:cs typeface="Times New Roman" pitchFamily="18" charset="0"/>
              </a:rPr>
              <a:t>– криптографический протокол, предназначенный для обеспечения целостности сообщений, передаваемых от одного участника к другому. </a:t>
            </a:r>
            <a:r>
              <a:rPr lang="ru-RU" sz="2800" i="1" dirty="0">
                <a:latin typeface="Times New Roman" pitchFamily="18" charset="0"/>
                <a:cs typeface="Times New Roman" pitchFamily="18" charset="0"/>
              </a:rPr>
              <a:t>Под целостностью понимается гарантируемая получателю возможность удостовериться, что сообщение поступило от заявленного отправителя и в неискаженном виде.</a:t>
            </a:r>
          </a:p>
          <a:p>
            <a:pPr marL="0" indent="355600" algn="just">
              <a:buNone/>
            </a:pPr>
            <a:r>
              <a:rPr lang="ru-RU" sz="2800" b="1" dirty="0">
                <a:latin typeface="Times New Roman" pitchFamily="18" charset="0"/>
                <a:cs typeface="Times New Roman" pitchFamily="18" charset="0"/>
              </a:rPr>
              <a:t>Протокол (или схема) идентификации </a:t>
            </a:r>
            <a:r>
              <a:rPr lang="ru-RU" sz="2800" dirty="0">
                <a:latin typeface="Times New Roman" pitchFamily="18" charset="0"/>
                <a:cs typeface="Times New Roman" pitchFamily="18" charset="0"/>
              </a:rPr>
              <a:t>– протокол аутентификации сторон, участвующих во взаимодействии и не доверяющих друг другу.</a:t>
            </a:r>
            <a:endParaRPr sz="2800" dirty="0">
              <a:latin typeface="Times New Roman" pitchFamily="18" charset="0"/>
              <a:cs typeface="Times New Roman" pitchFamily="18" charset="0"/>
            </a:endParaRPr>
          </a:p>
        </p:txBody>
      </p:sp>
      <p:sp>
        <p:nvSpPr>
          <p:cNvPr id="4" name="Заголовок 1">
            <a:extLst>
              <a:ext uri="{FF2B5EF4-FFF2-40B4-BE49-F238E27FC236}">
                <a16:creationId xmlns:a16="http://schemas.microsoft.com/office/drawing/2014/main" id="{9441789C-8B21-A57C-4D10-F450AD8EB4F7}"/>
              </a:ext>
            </a:extLst>
          </p:cNvPr>
          <p:cNvSpPr txBox="1">
            <a:spLocks/>
          </p:cNvSpPr>
          <p:nvPr/>
        </p:nvSpPr>
        <p:spPr>
          <a:xfrm>
            <a:off x="0" y="404664"/>
            <a:ext cx="8784976" cy="70609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600" b="1" dirty="0">
                <a:latin typeface="Times New Roman" pitchFamily="18" charset="0"/>
                <a:cs typeface="Times New Roman" pitchFamily="18" charset="0"/>
              </a:rPr>
              <a:t>2. Аутентификация и криптографические протоколы</a:t>
            </a:r>
            <a:endParaRPr lang="ru-RU" sz="3600" dirty="0"/>
          </a:p>
        </p:txBody>
      </p:sp>
      <p:sp>
        <p:nvSpPr>
          <p:cNvPr id="5" name="Номер слайда 4"/>
          <p:cNvSpPr>
            <a:spLocks noGrp="1"/>
          </p:cNvSpPr>
          <p:nvPr>
            <p:ph type="sldNum" sz="quarter" idx="12"/>
          </p:nvPr>
        </p:nvSpPr>
        <p:spPr/>
        <p:txBody>
          <a:bodyPr/>
          <a:lstStyle/>
          <a:p>
            <a:fld id="{8ECC1301-DE66-4CDA-81DE-A914792F0A66}" type="slidenum">
              <a:rPr lang="ru-RU" smtClean="0"/>
              <a:pPr/>
              <a:t>19</a:t>
            </a:fld>
            <a:endParaRPr 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355600" algn="just">
              <a:buNone/>
            </a:pPr>
            <a:r>
              <a:rPr lang="ru-RU" sz="2800" dirty="0">
                <a:latin typeface="Times New Roman" pitchFamily="18" charset="0"/>
                <a:cs typeface="Times New Roman" pitchFamily="18" charset="0"/>
              </a:rPr>
              <a:t>Все протоколы идентификации и аутентификации включают по крайней мере двух абонентов. Обозначим их следующим образом:</a:t>
            </a:r>
          </a:p>
          <a:p>
            <a:pPr marL="0" indent="355600" algn="just">
              <a:buNone/>
            </a:pPr>
            <a:r>
              <a:rPr lang="ru-RU" sz="2800" b="1" dirty="0">
                <a:latin typeface="Times New Roman" pitchFamily="18" charset="0"/>
                <a:cs typeface="Times New Roman" pitchFamily="18" charset="0"/>
              </a:rPr>
              <a:t>А</a:t>
            </a:r>
            <a:r>
              <a:rPr lang="ru-RU" sz="2800" dirty="0">
                <a:latin typeface="Times New Roman" pitchFamily="18" charset="0"/>
                <a:cs typeface="Times New Roman" pitchFamily="18" charset="0"/>
              </a:rPr>
              <a:t> – доказывающий участник (проходящий идентификацию);</a:t>
            </a:r>
          </a:p>
          <a:p>
            <a:pPr marL="0" indent="355600" algn="just">
              <a:buNone/>
            </a:pPr>
            <a:r>
              <a:rPr lang="ru-RU" sz="2800" b="1" dirty="0">
                <a:latin typeface="Times New Roman" pitchFamily="18" charset="0"/>
                <a:cs typeface="Times New Roman" pitchFamily="18" charset="0"/>
              </a:rPr>
              <a:t>В</a:t>
            </a:r>
            <a:r>
              <a:rPr lang="ru-RU" sz="2800" dirty="0">
                <a:latin typeface="Times New Roman" pitchFamily="18" charset="0"/>
                <a:cs typeface="Times New Roman" pitchFamily="18" charset="0"/>
              </a:rPr>
              <a:t> – проверяющий участник.</a:t>
            </a:r>
          </a:p>
          <a:p>
            <a:pPr marL="0" indent="355600" algn="just">
              <a:buNone/>
            </a:pPr>
            <a:r>
              <a:rPr lang="ru-RU" sz="2800" dirty="0">
                <a:latin typeface="Times New Roman" pitchFamily="18" charset="0"/>
                <a:cs typeface="Times New Roman" pitchFamily="18" charset="0"/>
              </a:rPr>
              <a:t>Целью протокола является проверка того, что проверяемый действительно является </a:t>
            </a:r>
            <a:r>
              <a:rPr lang="ru-RU" sz="2800" b="1" dirty="0">
                <a:latin typeface="Times New Roman" pitchFamily="18" charset="0"/>
                <a:cs typeface="Times New Roman" pitchFamily="18" charset="0"/>
              </a:rPr>
              <a:t>А</a:t>
            </a:r>
            <a:r>
              <a:rPr lang="ru-RU" sz="2800" dirty="0">
                <a:latin typeface="Times New Roman" pitchFamily="18" charset="0"/>
                <a:cs typeface="Times New Roman" pitchFamily="18" charset="0"/>
              </a:rPr>
              <a:t> (т. е. тем, за кого себя выдает). С точки зрения проверяющего </a:t>
            </a:r>
            <a:r>
              <a:rPr lang="ru-RU" sz="2800" b="1" dirty="0">
                <a:latin typeface="Times New Roman" pitchFamily="18" charset="0"/>
                <a:cs typeface="Times New Roman" pitchFamily="18" charset="0"/>
              </a:rPr>
              <a:t>В</a:t>
            </a:r>
            <a:r>
              <a:rPr lang="ru-RU" sz="2800" dirty="0">
                <a:latin typeface="Times New Roman" pitchFamily="18" charset="0"/>
                <a:cs typeface="Times New Roman" pitchFamily="18" charset="0"/>
              </a:rPr>
              <a:t> </a:t>
            </a:r>
            <a:r>
              <a:rPr lang="ru-RU" sz="2800" dirty="0" err="1">
                <a:latin typeface="Times New Roman" pitchFamily="18" charset="0"/>
                <a:cs typeface="Times New Roman" pitchFamily="18" charset="0"/>
              </a:rPr>
              <a:t>в</a:t>
            </a:r>
            <a:r>
              <a:rPr lang="ru-RU" sz="2800" dirty="0">
                <a:latin typeface="Times New Roman" pitchFamily="18" charset="0"/>
                <a:cs typeface="Times New Roman" pitchFamily="18" charset="0"/>
              </a:rPr>
              <a:t> ходе работы протокола либо принимается решение об аутентичности доказывающего </a:t>
            </a:r>
            <a:r>
              <a:rPr lang="ru-RU" sz="2800" b="1" dirty="0">
                <a:latin typeface="Times New Roman" pitchFamily="18" charset="0"/>
                <a:cs typeface="Times New Roman" pitchFamily="18" charset="0"/>
              </a:rPr>
              <a:t>А</a:t>
            </a:r>
            <a:r>
              <a:rPr lang="ru-RU" sz="2800" dirty="0">
                <a:latin typeface="Times New Roman" pitchFamily="18" charset="0"/>
                <a:cs typeface="Times New Roman" pitchFamily="18" charset="0"/>
              </a:rPr>
              <a:t>, либо протокол завершается без принятия такого решения.</a:t>
            </a:r>
            <a:endParaRPr sz="2800" dirty="0">
              <a:latin typeface="Times New Roman" pitchFamily="18" charset="0"/>
              <a:cs typeface="Times New Roman" pitchFamily="18" charset="0"/>
            </a:endParaRPr>
          </a:p>
        </p:txBody>
      </p:sp>
      <p:sp>
        <p:nvSpPr>
          <p:cNvPr id="4" name="Заголовок 1">
            <a:extLst>
              <a:ext uri="{FF2B5EF4-FFF2-40B4-BE49-F238E27FC236}">
                <a16:creationId xmlns:a16="http://schemas.microsoft.com/office/drawing/2014/main" id="{9441789C-8B21-A57C-4D10-F450AD8EB4F7}"/>
              </a:ext>
            </a:extLst>
          </p:cNvPr>
          <p:cNvSpPr txBox="1">
            <a:spLocks/>
          </p:cNvSpPr>
          <p:nvPr/>
        </p:nvSpPr>
        <p:spPr>
          <a:xfrm>
            <a:off x="0" y="404664"/>
            <a:ext cx="8784976" cy="70609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600" b="1" dirty="0">
                <a:latin typeface="Times New Roman" pitchFamily="18" charset="0"/>
                <a:cs typeface="Times New Roman" pitchFamily="18" charset="0"/>
              </a:rPr>
              <a:t>2. Аутентификация и криптографические протоколы</a:t>
            </a:r>
            <a:endParaRPr lang="ru-RU" sz="3600" dirty="0"/>
          </a:p>
        </p:txBody>
      </p:sp>
      <p:sp>
        <p:nvSpPr>
          <p:cNvPr id="5" name="Номер слайда 4"/>
          <p:cNvSpPr>
            <a:spLocks noGrp="1"/>
          </p:cNvSpPr>
          <p:nvPr>
            <p:ph type="sldNum" sz="quarter" idx="12"/>
          </p:nvPr>
        </p:nvSpPr>
        <p:spPr/>
        <p:txBody>
          <a:bodyPr/>
          <a:lstStyle/>
          <a:p>
            <a:fld id="{8ECC1301-DE66-4CDA-81DE-A914792F0A66}" type="slidenum">
              <a:rPr lang="ru-RU" smtClean="0"/>
              <a:pPr/>
              <a:t>20</a:t>
            </a:fld>
            <a:endParaRPr 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2776"/>
            <a:ext cx="8229600" cy="4713387"/>
          </a:xfrm>
        </p:spPr>
        <p:txBody>
          <a:bodyPr>
            <a:normAutofit fontScale="92500" lnSpcReduction="20000"/>
          </a:bodyPr>
          <a:lstStyle/>
          <a:p>
            <a:pPr marL="0" indent="355600" algn="just">
              <a:buNone/>
            </a:pPr>
            <a:r>
              <a:rPr lang="ru-RU" sz="2800" dirty="0">
                <a:latin typeface="Times New Roman" pitchFamily="18" charset="0"/>
                <a:cs typeface="Times New Roman" pitchFamily="18" charset="0"/>
              </a:rPr>
              <a:t>Существуют три большие группы протоколов идентификации и аутентификации:</a:t>
            </a:r>
          </a:p>
          <a:p>
            <a:pPr marL="0" indent="355600" algn="just">
              <a:buNone/>
            </a:pPr>
            <a:r>
              <a:rPr lang="ru-RU" sz="2800" dirty="0">
                <a:latin typeface="Times New Roman" pitchFamily="18" charset="0"/>
                <a:cs typeface="Times New Roman" pitchFamily="18" charset="0"/>
              </a:rPr>
              <a:t>а) протоколы, основанные на известной обеим сторонам информации. Такой информацией может быть пароль, личные идентификационные номера;</a:t>
            </a:r>
          </a:p>
          <a:p>
            <a:pPr marL="0" indent="355600" algn="just">
              <a:buNone/>
            </a:pPr>
            <a:r>
              <a:rPr lang="ru-RU" sz="2800" dirty="0">
                <a:latin typeface="Times New Roman" pitchFamily="18" charset="0"/>
                <a:cs typeface="Times New Roman" pitchFamily="18" charset="0"/>
              </a:rPr>
              <a:t>б) протоколы, использующие физические приборы (объекты), с помощью которых производится идентификация;</a:t>
            </a:r>
          </a:p>
          <a:p>
            <a:pPr marL="0" indent="355600" algn="just">
              <a:buNone/>
            </a:pPr>
            <a:r>
              <a:rPr lang="ru-RU" sz="2800" dirty="0">
                <a:latin typeface="Times New Roman" pitchFamily="18" charset="0"/>
                <a:cs typeface="Times New Roman" pitchFamily="18" charset="0"/>
              </a:rPr>
              <a:t>в) протоколы, использующие физические (биометрические) параметры, являющиеся неотъемлемой принадлежностью доказывающего (подписи, отпечатки пальцев, характеристики голоса, геометрию руки).</a:t>
            </a:r>
            <a:endParaRPr sz="2800" dirty="0">
              <a:latin typeface="Times New Roman" pitchFamily="18" charset="0"/>
              <a:cs typeface="Times New Roman" pitchFamily="18" charset="0"/>
            </a:endParaRPr>
          </a:p>
        </p:txBody>
      </p:sp>
      <p:sp>
        <p:nvSpPr>
          <p:cNvPr id="4" name="Заголовок 1">
            <a:extLst>
              <a:ext uri="{FF2B5EF4-FFF2-40B4-BE49-F238E27FC236}">
                <a16:creationId xmlns:a16="http://schemas.microsoft.com/office/drawing/2014/main" id="{9441789C-8B21-A57C-4D10-F450AD8EB4F7}"/>
              </a:ext>
            </a:extLst>
          </p:cNvPr>
          <p:cNvSpPr txBox="1">
            <a:spLocks/>
          </p:cNvSpPr>
          <p:nvPr/>
        </p:nvSpPr>
        <p:spPr>
          <a:xfrm>
            <a:off x="0" y="404664"/>
            <a:ext cx="8784976" cy="70609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600" b="1" dirty="0">
                <a:latin typeface="Times New Roman" pitchFamily="18" charset="0"/>
                <a:cs typeface="Times New Roman" pitchFamily="18" charset="0"/>
              </a:rPr>
              <a:t>2. Аутентификация и криптографические протоколы</a:t>
            </a:r>
            <a:endParaRPr lang="ru-RU" sz="3600" dirty="0"/>
          </a:p>
        </p:txBody>
      </p:sp>
      <p:sp>
        <p:nvSpPr>
          <p:cNvPr id="5" name="Номер слайда 4"/>
          <p:cNvSpPr>
            <a:spLocks noGrp="1"/>
          </p:cNvSpPr>
          <p:nvPr>
            <p:ph type="sldNum" sz="quarter" idx="12"/>
          </p:nvPr>
        </p:nvSpPr>
        <p:spPr/>
        <p:txBody>
          <a:bodyPr/>
          <a:lstStyle/>
          <a:p>
            <a:fld id="{8ECC1301-DE66-4CDA-81DE-A914792F0A66}" type="slidenum">
              <a:rPr lang="ru-RU" smtClean="0"/>
              <a:pPr/>
              <a:t>21</a:t>
            </a:fld>
            <a:endParaRPr lang="ru-RU"/>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908720"/>
            <a:ext cx="8229600" cy="5616624"/>
          </a:xfrm>
        </p:spPr>
        <p:txBody>
          <a:bodyPr>
            <a:noAutofit/>
          </a:bodyPr>
          <a:lstStyle/>
          <a:p>
            <a:pPr marL="0" indent="355600" algn="just">
              <a:buNone/>
            </a:pPr>
            <a:r>
              <a:rPr lang="ru-RU" sz="2400" b="1" dirty="0">
                <a:latin typeface="Times New Roman" pitchFamily="18" charset="0"/>
                <a:cs typeface="Times New Roman" pitchFamily="18" charset="0"/>
              </a:rPr>
              <a:t>Схема идентификации и аутентификации</a:t>
            </a:r>
            <a:r>
              <a:rPr lang="ru-RU" sz="2400" dirty="0">
                <a:latin typeface="Times New Roman" pitchFamily="18" charset="0"/>
                <a:cs typeface="Times New Roman" pitchFamily="18" charset="0"/>
              </a:rPr>
              <a:t>.</a:t>
            </a:r>
          </a:p>
          <a:p>
            <a:pPr marL="0" indent="355600" algn="just">
              <a:buNone/>
            </a:pPr>
            <a:r>
              <a:rPr lang="ru-RU" sz="2400" dirty="0">
                <a:latin typeface="Times New Roman" pitchFamily="18" charset="0"/>
                <a:cs typeface="Times New Roman" pitchFamily="18" charset="0"/>
              </a:rPr>
              <a:t>Схема 1. В компьютерной системе выделяется объект-эталон для идентификации и аутентификации пользователей. Пусть </a:t>
            </a:r>
            <a:r>
              <a:rPr lang="ru-RU" sz="2400" dirty="0" err="1">
                <a:latin typeface="Times New Roman" pitchFamily="18" charset="0"/>
                <a:cs typeface="Times New Roman" pitchFamily="18" charset="0"/>
              </a:rPr>
              <a:t>Ei</a:t>
            </a:r>
            <a:r>
              <a:rPr lang="ru-RU" sz="2400" dirty="0">
                <a:latin typeface="Times New Roman" pitchFamily="18" charset="0"/>
                <a:cs typeface="Times New Roman" pitchFamily="18" charset="0"/>
              </a:rPr>
              <a:t> = F(</a:t>
            </a:r>
            <a:r>
              <a:rPr lang="ru-RU" sz="2400" dirty="0" err="1">
                <a:latin typeface="Times New Roman" pitchFamily="18" charset="0"/>
                <a:cs typeface="Times New Roman" pitchFamily="18" charset="0"/>
              </a:rPr>
              <a:t>IDi</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Ki</a:t>
            </a:r>
            <a:r>
              <a:rPr lang="ru-RU" sz="2400" dirty="0">
                <a:latin typeface="Times New Roman" pitchFamily="18" charset="0"/>
                <a:cs typeface="Times New Roman" pitchFamily="18" charset="0"/>
              </a:rPr>
              <a:t>), где F – функция, которая обладает свойством «</a:t>
            </a:r>
            <a:r>
              <a:rPr lang="ru-RU" sz="2400" dirty="0" err="1">
                <a:latin typeface="Times New Roman" pitchFamily="18" charset="0"/>
                <a:cs typeface="Times New Roman" pitchFamily="18" charset="0"/>
              </a:rPr>
              <a:t>невосстановимости</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однонаправленности</a:t>
            </a:r>
            <a:r>
              <a:rPr lang="ru-RU" sz="2400" dirty="0">
                <a:latin typeface="Times New Roman" pitchFamily="18" charset="0"/>
                <a:cs typeface="Times New Roman" pitchFamily="18" charset="0"/>
              </a:rPr>
              <a:t>) значения </a:t>
            </a:r>
            <a:r>
              <a:rPr lang="ru-RU" sz="2400" dirty="0" err="1">
                <a:latin typeface="Times New Roman" pitchFamily="18" charset="0"/>
                <a:cs typeface="Times New Roman" pitchFamily="18" charset="0"/>
              </a:rPr>
              <a:t>Ki</a:t>
            </a:r>
            <a:r>
              <a:rPr lang="ru-RU" sz="2400" dirty="0">
                <a:latin typeface="Times New Roman" pitchFamily="18" charset="0"/>
                <a:cs typeface="Times New Roman" pitchFamily="18" charset="0"/>
              </a:rPr>
              <a:t> по </a:t>
            </a:r>
            <a:r>
              <a:rPr lang="ru-RU" sz="2400" dirty="0" err="1">
                <a:latin typeface="Times New Roman" pitchFamily="18" charset="0"/>
                <a:cs typeface="Times New Roman" pitchFamily="18" charset="0"/>
              </a:rPr>
              <a:t>Еi</a:t>
            </a:r>
            <a:r>
              <a:rPr lang="ru-RU" sz="2400" dirty="0">
                <a:latin typeface="Times New Roman" pitchFamily="18" charset="0"/>
                <a:cs typeface="Times New Roman" pitchFamily="18" charset="0"/>
              </a:rPr>
              <a:t> и </a:t>
            </a:r>
            <a:r>
              <a:rPr lang="ru-RU" sz="2400" dirty="0" err="1">
                <a:latin typeface="Times New Roman" pitchFamily="18" charset="0"/>
                <a:cs typeface="Times New Roman" pitchFamily="18" charset="0"/>
              </a:rPr>
              <a:t>IDi</a:t>
            </a:r>
            <a:r>
              <a:rPr lang="ru-RU" sz="2400" dirty="0">
                <a:latin typeface="Times New Roman" pitchFamily="18" charset="0"/>
                <a:cs typeface="Times New Roman" pitchFamily="18" charset="0"/>
              </a:rPr>
              <a:t>.</a:t>
            </a:r>
          </a:p>
          <a:p>
            <a:pPr marL="0" indent="355600" algn="just">
              <a:buNone/>
            </a:pPr>
            <a:r>
              <a:rPr lang="ru-RU" sz="2400" dirty="0">
                <a:latin typeface="Times New Roman" pitchFamily="18" charset="0"/>
                <a:cs typeface="Times New Roman" pitchFamily="18" charset="0"/>
              </a:rPr>
              <a:t>«</a:t>
            </a:r>
            <a:r>
              <a:rPr lang="ru-RU" sz="2400" dirty="0" err="1">
                <a:latin typeface="Times New Roman" pitchFamily="18" charset="0"/>
                <a:cs typeface="Times New Roman" pitchFamily="18" charset="0"/>
              </a:rPr>
              <a:t>Невосстановимость</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Ki</a:t>
            </a:r>
            <a:r>
              <a:rPr lang="ru-RU" sz="2400" dirty="0">
                <a:latin typeface="Times New Roman" pitchFamily="18" charset="0"/>
                <a:cs typeface="Times New Roman" pitchFamily="18" charset="0"/>
              </a:rPr>
              <a:t> оценивается некоторой пороговой трудоемкостью Т0 решения задачи восстановления аутентифицирующей информации </a:t>
            </a:r>
            <a:r>
              <a:rPr lang="ru-RU" sz="2400" dirty="0" err="1">
                <a:latin typeface="Times New Roman" pitchFamily="18" charset="0"/>
                <a:cs typeface="Times New Roman" pitchFamily="18" charset="0"/>
              </a:rPr>
              <a:t>Кi</a:t>
            </a:r>
            <a:r>
              <a:rPr lang="ru-RU" sz="2400" dirty="0">
                <a:latin typeface="Times New Roman" pitchFamily="18" charset="0"/>
                <a:cs typeface="Times New Roman" pitchFamily="18" charset="0"/>
              </a:rPr>
              <a:t> по </a:t>
            </a:r>
            <a:r>
              <a:rPr lang="ru-RU" sz="2400" dirty="0" err="1">
                <a:latin typeface="Times New Roman" pitchFamily="18" charset="0"/>
                <a:cs typeface="Times New Roman" pitchFamily="18" charset="0"/>
              </a:rPr>
              <a:t>Ei</a:t>
            </a:r>
            <a:r>
              <a:rPr lang="ru-RU" sz="2400" dirty="0">
                <a:latin typeface="Times New Roman" pitchFamily="18" charset="0"/>
                <a:cs typeface="Times New Roman" pitchFamily="18" charset="0"/>
              </a:rPr>
              <a:t> и </a:t>
            </a:r>
            <a:r>
              <a:rPr lang="ru-RU" sz="2400" dirty="0" err="1">
                <a:latin typeface="Times New Roman" pitchFamily="18" charset="0"/>
                <a:cs typeface="Times New Roman" pitchFamily="18" charset="0"/>
              </a:rPr>
              <a:t>IDi</a:t>
            </a:r>
            <a:r>
              <a:rPr lang="ru-RU" sz="2400" dirty="0">
                <a:latin typeface="Times New Roman" pitchFamily="18" charset="0"/>
                <a:cs typeface="Times New Roman" pitchFamily="18" charset="0"/>
              </a:rPr>
              <a:t>. Кроме того, для пары </a:t>
            </a:r>
            <a:r>
              <a:rPr lang="ru-RU" sz="2400" dirty="0" err="1">
                <a:latin typeface="Times New Roman" pitchFamily="18" charset="0"/>
                <a:cs typeface="Times New Roman" pitchFamily="18" charset="0"/>
              </a:rPr>
              <a:t>Ki</a:t>
            </a:r>
            <a:r>
              <a:rPr lang="ru-RU" sz="2400" dirty="0">
                <a:latin typeface="Times New Roman" pitchFamily="18" charset="0"/>
                <a:cs typeface="Times New Roman" pitchFamily="18" charset="0"/>
              </a:rPr>
              <a:t> и </a:t>
            </a:r>
            <a:r>
              <a:rPr lang="ru-RU" sz="2400" dirty="0" err="1">
                <a:latin typeface="Times New Roman" pitchFamily="18" charset="0"/>
                <a:cs typeface="Times New Roman" pitchFamily="18" charset="0"/>
              </a:rPr>
              <a:t>Kj</a:t>
            </a:r>
            <a:r>
              <a:rPr lang="ru-RU" sz="2400" dirty="0">
                <a:latin typeface="Times New Roman" pitchFamily="18" charset="0"/>
                <a:cs typeface="Times New Roman" pitchFamily="18" charset="0"/>
              </a:rPr>
              <a:t> возможно совпадение соответствующих значений Е. В связи с этим вероятность ложной аутентификации пользователя не должна быть больше некоторого порогового значения Р0. На практике задают Т</a:t>
            </a:r>
            <a:r>
              <a:rPr lang="ru-RU" sz="2400" baseline="-25000" dirty="0">
                <a:latin typeface="Times New Roman" pitchFamily="18" charset="0"/>
                <a:cs typeface="Times New Roman" pitchFamily="18" charset="0"/>
              </a:rPr>
              <a:t>0</a:t>
            </a:r>
            <a:r>
              <a:rPr lang="ru-RU" sz="2400" dirty="0">
                <a:latin typeface="Times New Roman" pitchFamily="18" charset="0"/>
                <a:cs typeface="Times New Roman" pitchFamily="18" charset="0"/>
              </a:rPr>
              <a:t> = 10</a:t>
            </a:r>
            <a:r>
              <a:rPr lang="ru-RU" sz="2400" baseline="30000" dirty="0">
                <a:latin typeface="Times New Roman" pitchFamily="18" charset="0"/>
                <a:cs typeface="Times New Roman" pitchFamily="18" charset="0"/>
              </a:rPr>
              <a:t>20</a:t>
            </a:r>
            <a:r>
              <a:rPr lang="ru-RU" sz="2400" dirty="0">
                <a:latin typeface="Times New Roman" pitchFamily="18" charset="0"/>
                <a:cs typeface="Times New Roman" pitchFamily="18" charset="0"/>
              </a:rPr>
              <a:t> … 10</a:t>
            </a:r>
            <a:r>
              <a:rPr lang="ru-RU" sz="2400" baseline="30000" dirty="0">
                <a:latin typeface="Times New Roman" pitchFamily="18" charset="0"/>
                <a:cs typeface="Times New Roman" pitchFamily="18" charset="0"/>
              </a:rPr>
              <a:t>30</a:t>
            </a:r>
            <a:r>
              <a:rPr lang="ru-RU" sz="2400" dirty="0">
                <a:latin typeface="Times New Roman" pitchFamily="18" charset="0"/>
                <a:cs typeface="Times New Roman" pitchFamily="18" charset="0"/>
              </a:rPr>
              <a:t>, Р</a:t>
            </a:r>
            <a:r>
              <a:rPr lang="ru-RU" sz="2400" baseline="-25000" dirty="0">
                <a:latin typeface="Times New Roman" pitchFamily="18" charset="0"/>
                <a:cs typeface="Times New Roman" pitchFamily="18" charset="0"/>
              </a:rPr>
              <a:t>0</a:t>
            </a:r>
            <a:r>
              <a:rPr lang="ru-RU" sz="2400" dirty="0">
                <a:latin typeface="Times New Roman" pitchFamily="18" charset="0"/>
                <a:cs typeface="Times New Roman" pitchFamily="18" charset="0"/>
              </a:rPr>
              <a:t> = 10</a:t>
            </a:r>
            <a:r>
              <a:rPr lang="ru-RU" sz="2400" baseline="30000" dirty="0">
                <a:latin typeface="Times New Roman" pitchFamily="18" charset="0"/>
                <a:cs typeface="Times New Roman" pitchFamily="18" charset="0"/>
              </a:rPr>
              <a:t>-7</a:t>
            </a:r>
            <a:r>
              <a:rPr lang="ru-RU" sz="2400" dirty="0">
                <a:latin typeface="Times New Roman" pitchFamily="18" charset="0"/>
                <a:cs typeface="Times New Roman" pitchFamily="18" charset="0"/>
              </a:rPr>
              <a:t> … 10</a:t>
            </a:r>
            <a:r>
              <a:rPr lang="ru-RU" sz="2400" baseline="30000" dirty="0">
                <a:latin typeface="Times New Roman" pitchFamily="18" charset="0"/>
                <a:cs typeface="Times New Roman" pitchFamily="18" charset="0"/>
              </a:rPr>
              <a:t>-9</a:t>
            </a:r>
            <a:r>
              <a:rPr lang="ru-RU" sz="2400" dirty="0">
                <a:latin typeface="Times New Roman" pitchFamily="18" charset="0"/>
                <a:cs typeface="Times New Roman" pitchFamily="18" charset="0"/>
              </a:rPr>
              <a:t> .</a:t>
            </a:r>
            <a:endParaRPr sz="2400" dirty="0">
              <a:latin typeface="Times New Roman" pitchFamily="18" charset="0"/>
              <a:cs typeface="Times New Roman" pitchFamily="18" charset="0"/>
            </a:endParaRPr>
          </a:p>
        </p:txBody>
      </p:sp>
      <p:sp>
        <p:nvSpPr>
          <p:cNvPr id="4" name="Заголовок 1">
            <a:extLst>
              <a:ext uri="{FF2B5EF4-FFF2-40B4-BE49-F238E27FC236}">
                <a16:creationId xmlns:a16="http://schemas.microsoft.com/office/drawing/2014/main" id="{9441789C-8B21-A57C-4D10-F450AD8EB4F7}"/>
              </a:ext>
            </a:extLst>
          </p:cNvPr>
          <p:cNvSpPr txBox="1">
            <a:spLocks/>
          </p:cNvSpPr>
          <p:nvPr/>
        </p:nvSpPr>
        <p:spPr>
          <a:xfrm>
            <a:off x="0" y="188640"/>
            <a:ext cx="8784976" cy="70609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600" b="1" dirty="0">
                <a:latin typeface="Times New Roman" pitchFamily="18" charset="0"/>
                <a:cs typeface="Times New Roman" pitchFamily="18" charset="0"/>
              </a:rPr>
              <a:t>2. Аутентификация и криптографические протоколы</a:t>
            </a:r>
            <a:endParaRPr lang="ru-RU" sz="3600" dirty="0"/>
          </a:p>
        </p:txBody>
      </p:sp>
      <p:sp>
        <p:nvSpPr>
          <p:cNvPr id="5" name="Номер слайда 4"/>
          <p:cNvSpPr>
            <a:spLocks noGrp="1"/>
          </p:cNvSpPr>
          <p:nvPr>
            <p:ph type="sldNum" sz="quarter" idx="12"/>
          </p:nvPr>
        </p:nvSpPr>
        <p:spPr/>
        <p:txBody>
          <a:bodyPr/>
          <a:lstStyle/>
          <a:p>
            <a:fld id="{8ECC1301-DE66-4CDA-81DE-A914792F0A66}" type="slidenum">
              <a:rPr lang="ru-RU" smtClean="0"/>
              <a:pPr/>
              <a:t>22</a:t>
            </a:fld>
            <a:endParaRPr lang="ru-R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692696"/>
            <a:ext cx="8229600" cy="5976664"/>
          </a:xfrm>
        </p:spPr>
        <p:txBody>
          <a:bodyPr>
            <a:noAutofit/>
          </a:bodyPr>
          <a:lstStyle/>
          <a:p>
            <a:pPr marL="0" indent="355600" algn="just">
              <a:spcBef>
                <a:spcPts val="0"/>
              </a:spcBef>
              <a:buNone/>
            </a:pPr>
            <a:r>
              <a:rPr lang="ru-RU" sz="2400" b="1" dirty="0">
                <a:latin typeface="Times New Roman" pitchFamily="18" charset="0"/>
                <a:cs typeface="Times New Roman" pitchFamily="18" charset="0"/>
              </a:rPr>
              <a:t>Протокол идентификации и аутентификации:</a:t>
            </a:r>
          </a:p>
          <a:p>
            <a:pPr marL="0" indent="355600" algn="just">
              <a:spcBef>
                <a:spcPts val="0"/>
              </a:spcBef>
              <a:buNone/>
            </a:pPr>
            <a:r>
              <a:rPr lang="ru-RU" sz="2400" dirty="0">
                <a:latin typeface="Times New Roman" pitchFamily="18" charset="0"/>
                <a:cs typeface="Times New Roman" pitchFamily="18" charset="0"/>
              </a:rPr>
              <a:t>а) пользователь предъявляет свой идентификатор ID;</a:t>
            </a:r>
          </a:p>
          <a:p>
            <a:pPr marL="0" indent="355600" algn="just">
              <a:spcBef>
                <a:spcPts val="0"/>
              </a:spcBef>
              <a:buNone/>
            </a:pPr>
            <a:r>
              <a:rPr lang="ru-RU" sz="2400" dirty="0">
                <a:latin typeface="Times New Roman" pitchFamily="18" charset="0"/>
                <a:cs typeface="Times New Roman" pitchFamily="18" charset="0"/>
              </a:rPr>
              <a:t>б) если ID не совпадает ни с одним </a:t>
            </a:r>
            <a:r>
              <a:rPr lang="ru-RU" sz="2400" dirty="0" err="1">
                <a:latin typeface="Times New Roman" pitchFamily="18" charset="0"/>
                <a:cs typeface="Times New Roman" pitchFamily="18" charset="0"/>
              </a:rPr>
              <a:t>IDi</a:t>
            </a:r>
            <a:r>
              <a:rPr lang="ru-RU" sz="2400" dirty="0">
                <a:latin typeface="Times New Roman" pitchFamily="18" charset="0"/>
                <a:cs typeface="Times New Roman" pitchFamily="18" charset="0"/>
              </a:rPr>
              <a:t>, зарегистрированным в компьютерной системе, то идентификация отвергается (пользователь не допускается к работе), иначе (существует </a:t>
            </a:r>
            <a:r>
              <a:rPr lang="ru-RU" sz="2400" dirty="0" err="1">
                <a:latin typeface="Times New Roman" pitchFamily="18" charset="0"/>
                <a:cs typeface="Times New Roman" pitchFamily="18" charset="0"/>
              </a:rPr>
              <a:t>IDi</a:t>
            </a:r>
            <a:r>
              <a:rPr lang="ru-RU" sz="2400" dirty="0">
                <a:latin typeface="Times New Roman" pitchFamily="18" charset="0"/>
                <a:cs typeface="Times New Roman" pitchFamily="18" charset="0"/>
              </a:rPr>
              <a:t> = ID) устанавливается, что пользователь, назвавшийся пользователем </a:t>
            </a:r>
            <a:r>
              <a:rPr lang="ru-RU" sz="2400" dirty="0" err="1">
                <a:latin typeface="Times New Roman" pitchFamily="18" charset="0"/>
                <a:cs typeface="Times New Roman" pitchFamily="18" charset="0"/>
              </a:rPr>
              <a:t>i</a:t>
            </a:r>
            <a:r>
              <a:rPr lang="ru-RU" sz="2400" dirty="0">
                <a:latin typeface="Times New Roman" pitchFamily="18" charset="0"/>
                <a:cs typeface="Times New Roman" pitchFamily="18" charset="0"/>
              </a:rPr>
              <a:t>, прошел идентификацию;</a:t>
            </a:r>
          </a:p>
          <a:p>
            <a:pPr marL="0" indent="355600" algn="just">
              <a:spcBef>
                <a:spcPts val="0"/>
              </a:spcBef>
              <a:buNone/>
            </a:pPr>
            <a:r>
              <a:rPr lang="ru-RU" sz="2400" dirty="0">
                <a:latin typeface="Times New Roman" pitchFamily="18" charset="0"/>
                <a:cs typeface="Times New Roman" pitchFamily="18" charset="0"/>
              </a:rPr>
              <a:t>в) субъект (подсистема) аутентификации запрашивает у пользователя его </a:t>
            </a:r>
            <a:r>
              <a:rPr lang="ru-RU" sz="2400" dirty="0" err="1">
                <a:latin typeface="Times New Roman" pitchFamily="18" charset="0"/>
                <a:cs typeface="Times New Roman" pitchFamily="18" charset="0"/>
              </a:rPr>
              <a:t>аутентификатор</a:t>
            </a:r>
            <a:r>
              <a:rPr lang="ru-RU" sz="2400" dirty="0">
                <a:latin typeface="Times New Roman" pitchFamily="18" charset="0"/>
                <a:cs typeface="Times New Roman" pitchFamily="18" charset="0"/>
              </a:rPr>
              <a:t> К (пароль);</a:t>
            </a:r>
          </a:p>
          <a:p>
            <a:pPr marL="0" indent="355600" algn="just">
              <a:spcBef>
                <a:spcPts val="0"/>
              </a:spcBef>
              <a:buNone/>
            </a:pPr>
            <a:r>
              <a:rPr lang="ru-RU" sz="2400" dirty="0">
                <a:latin typeface="Times New Roman" pitchFamily="18" charset="0"/>
                <a:cs typeface="Times New Roman" pitchFamily="18" charset="0"/>
              </a:rPr>
              <a:t>г) субъект (подсистема) аутентификации вычисляет значение Y = F(</a:t>
            </a:r>
            <a:r>
              <a:rPr lang="ru-RU" sz="2400" dirty="0" err="1">
                <a:latin typeface="Times New Roman" pitchFamily="18" charset="0"/>
                <a:cs typeface="Times New Roman" pitchFamily="18" charset="0"/>
              </a:rPr>
              <a:t>IDi</a:t>
            </a:r>
            <a:r>
              <a:rPr lang="ru-RU" sz="2400" dirty="0">
                <a:latin typeface="Times New Roman" pitchFamily="18" charset="0"/>
                <a:cs typeface="Times New Roman" pitchFamily="18" charset="0"/>
              </a:rPr>
              <a:t>, К);</a:t>
            </a:r>
          </a:p>
          <a:p>
            <a:pPr marL="0" indent="355600" algn="just">
              <a:spcBef>
                <a:spcPts val="0"/>
              </a:spcBef>
              <a:buNone/>
            </a:pPr>
            <a:r>
              <a:rPr lang="ru-RU" sz="2400" dirty="0" err="1">
                <a:latin typeface="Times New Roman" pitchFamily="18" charset="0"/>
                <a:cs typeface="Times New Roman" pitchFamily="18" charset="0"/>
              </a:rPr>
              <a:t>д</a:t>
            </a:r>
            <a:r>
              <a:rPr lang="ru-RU" sz="2400" dirty="0">
                <a:latin typeface="Times New Roman" pitchFamily="18" charset="0"/>
                <a:cs typeface="Times New Roman" pitchFamily="18" charset="0"/>
              </a:rPr>
              <a:t>) субъект (подсистема) аутентификации производит сравнение значений Y и </a:t>
            </a:r>
            <a:r>
              <a:rPr lang="ru-RU" sz="2400" dirty="0" err="1">
                <a:latin typeface="Times New Roman" pitchFamily="18" charset="0"/>
                <a:cs typeface="Times New Roman" pitchFamily="18" charset="0"/>
              </a:rPr>
              <a:t>Ei</a:t>
            </a:r>
            <a:r>
              <a:rPr lang="ru-RU" sz="2400" dirty="0">
                <a:latin typeface="Times New Roman" pitchFamily="18" charset="0"/>
                <a:cs typeface="Times New Roman" pitchFamily="18" charset="0"/>
              </a:rPr>
              <a:t>. При совпадении этих значений устанавливается, что данный пользователь успешно аутентифицирован в системе.</a:t>
            </a:r>
            <a:endParaRPr sz="2400" dirty="0">
              <a:latin typeface="Times New Roman" pitchFamily="18" charset="0"/>
              <a:cs typeface="Times New Roman" pitchFamily="18" charset="0"/>
            </a:endParaRPr>
          </a:p>
        </p:txBody>
      </p:sp>
      <p:sp>
        <p:nvSpPr>
          <p:cNvPr id="4" name="Заголовок 1">
            <a:extLst>
              <a:ext uri="{FF2B5EF4-FFF2-40B4-BE49-F238E27FC236}">
                <a16:creationId xmlns:a16="http://schemas.microsoft.com/office/drawing/2014/main" id="{9441789C-8B21-A57C-4D10-F450AD8EB4F7}"/>
              </a:ext>
            </a:extLst>
          </p:cNvPr>
          <p:cNvSpPr txBox="1">
            <a:spLocks/>
          </p:cNvSpPr>
          <p:nvPr/>
        </p:nvSpPr>
        <p:spPr>
          <a:xfrm>
            <a:off x="0" y="44624"/>
            <a:ext cx="8784976" cy="70609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600" b="1" dirty="0">
                <a:latin typeface="Times New Roman" pitchFamily="18" charset="0"/>
                <a:cs typeface="Times New Roman" pitchFamily="18" charset="0"/>
              </a:rPr>
              <a:t>2. Аутентификация и криптографические протоколы</a:t>
            </a:r>
            <a:endParaRPr lang="ru-RU" sz="3600" dirty="0"/>
          </a:p>
        </p:txBody>
      </p:sp>
      <p:sp>
        <p:nvSpPr>
          <p:cNvPr id="5" name="Номер слайда 4"/>
          <p:cNvSpPr>
            <a:spLocks noGrp="1"/>
          </p:cNvSpPr>
          <p:nvPr>
            <p:ph type="sldNum" sz="quarter" idx="12"/>
          </p:nvPr>
        </p:nvSpPr>
        <p:spPr/>
        <p:txBody>
          <a:bodyPr/>
          <a:lstStyle/>
          <a:p>
            <a:fld id="{8ECC1301-DE66-4CDA-81DE-A914792F0A66}" type="slidenum">
              <a:rPr lang="ru-RU" smtClean="0"/>
              <a:pPr/>
              <a:t>23</a:t>
            </a:fld>
            <a:endParaRPr lang="ru-RU"/>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3429000"/>
            <a:ext cx="8229600" cy="1828800"/>
          </a:xfrm>
        </p:spPr>
        <p:txBody>
          <a:bodyPr>
            <a:normAutofit/>
          </a:bodyPr>
          <a:lstStyle/>
          <a:p>
            <a:pPr marL="514350" indent="-514350" algn="ctr">
              <a:buNone/>
            </a:pPr>
            <a:r>
              <a:rPr lang="ru-RU" b="1" dirty="0">
                <a:latin typeface="Times New Roman" pitchFamily="18" charset="0"/>
                <a:cs typeface="Times New Roman" pitchFamily="18" charset="0"/>
              </a:rPr>
              <a:t>3. Протокол </a:t>
            </a:r>
            <a:r>
              <a:rPr lang="ru-RU" b="1" dirty="0" err="1">
                <a:latin typeface="Times New Roman" pitchFamily="18" charset="0"/>
                <a:cs typeface="Times New Roman" pitchFamily="18" charset="0"/>
              </a:rPr>
              <a:t>Диффи-Хеллмана</a:t>
            </a:r>
            <a:endParaRPr lang="ru-RU" b="1" dirty="0">
              <a:latin typeface="Times New Roman" pitchFamily="18" charset="0"/>
              <a:cs typeface="Times New Roman" pitchFamily="18" charset="0"/>
            </a:endParaRPr>
          </a:p>
          <a:p>
            <a:pPr marL="514350" indent="-514350" algn="just">
              <a:buNone/>
            </a:pPr>
            <a:endParaRPr lang="ru-RU" b="1" dirty="0"/>
          </a:p>
          <a:p>
            <a:pPr marL="514350" indent="-514350" algn="just">
              <a:buNone/>
            </a:pPr>
            <a:endParaRPr lang="ru-RU" b="1"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buNone/>
            </a:pPr>
            <a:endParaRPr lang="ru-RU" dirty="0"/>
          </a:p>
        </p:txBody>
      </p:sp>
      <p:sp>
        <p:nvSpPr>
          <p:cNvPr id="4" name="Заголовок 1"/>
          <p:cNvSpPr>
            <a:spLocks noGrp="1"/>
          </p:cNvSpPr>
          <p:nvPr>
            <p:ph type="title"/>
          </p:nvPr>
        </p:nvSpPr>
        <p:spPr>
          <a:xfrm>
            <a:off x="467544" y="260648"/>
            <a:ext cx="8229600" cy="2808312"/>
          </a:xfrm>
        </p:spPr>
        <p:txBody>
          <a:bodyPr>
            <a:normAutofit/>
          </a:bodyPr>
          <a:lstStyle/>
          <a:p>
            <a:r>
              <a:rPr lang="ru-RU" sz="3200" b="1" dirty="0">
                <a:solidFill>
                  <a:srgbClr val="FF0000"/>
                </a:solidFill>
              </a:rPr>
              <a:t>Лекция 4</a:t>
            </a:r>
            <a:br>
              <a:rPr lang="ru-RU" sz="3200" dirty="0">
                <a:solidFill>
                  <a:srgbClr val="FF0000"/>
                </a:solidFill>
              </a:rPr>
            </a:br>
            <a:r>
              <a:rPr lang="ru-RU" sz="3200" b="1" dirty="0">
                <a:solidFill>
                  <a:srgbClr val="FF0000"/>
                </a:solidFill>
              </a:rPr>
              <a:t>Симметричное шифрование и аутентификация </a:t>
            </a:r>
          </a:p>
        </p:txBody>
      </p:sp>
      <p:sp>
        <p:nvSpPr>
          <p:cNvPr id="5" name="Номер слайда 4"/>
          <p:cNvSpPr>
            <a:spLocks noGrp="1"/>
          </p:cNvSpPr>
          <p:nvPr>
            <p:ph type="sldNum" sz="quarter" idx="12"/>
          </p:nvPr>
        </p:nvSpPr>
        <p:spPr/>
        <p:txBody>
          <a:bodyPr/>
          <a:lstStyle/>
          <a:p>
            <a:fld id="{8ECC1301-DE66-4CDA-81DE-A914792F0A66}" type="slidenum">
              <a:rPr lang="ru-RU" smtClean="0"/>
              <a:pPr/>
              <a:t>24</a:t>
            </a:fld>
            <a:endParaRPr lang="ru-RU"/>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B0B27DA5-F31E-9E1B-DE8E-A607DD020D3C}"/>
              </a:ext>
            </a:extLst>
          </p:cNvPr>
          <p:cNvSpPr txBox="1">
            <a:spLocks/>
          </p:cNvSpPr>
          <p:nvPr/>
        </p:nvSpPr>
        <p:spPr>
          <a:xfrm>
            <a:off x="457200" y="58614"/>
            <a:ext cx="8229600" cy="706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2800" b="1" dirty="0">
                <a:latin typeface="Times New Roman" pitchFamily="18" charset="0"/>
                <a:cs typeface="Times New Roman" pitchFamily="18" charset="0"/>
              </a:rPr>
              <a:t>3. Протокол </a:t>
            </a:r>
            <a:r>
              <a:rPr lang="ru-RU" sz="2800" b="1" dirty="0" err="1">
                <a:latin typeface="Times New Roman" pitchFamily="18" charset="0"/>
                <a:cs typeface="Times New Roman" pitchFamily="18" charset="0"/>
              </a:rPr>
              <a:t>Диффи-Хеллмана</a:t>
            </a:r>
            <a:endParaRPr lang="ru-RU" sz="2800" b="1"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8ECC1301-DE66-4CDA-81DE-A914792F0A66}" type="slidenum">
              <a:rPr lang="ru-RU" smtClean="0"/>
              <a:pPr/>
              <a:t>25</a:t>
            </a:fld>
            <a:endParaRPr lang="ru-RU"/>
          </a:p>
        </p:txBody>
      </p:sp>
      <p:sp>
        <p:nvSpPr>
          <p:cNvPr id="8" name="TextBox 7">
            <a:extLst>
              <a:ext uri="{FF2B5EF4-FFF2-40B4-BE49-F238E27FC236}">
                <a16:creationId xmlns:a16="http://schemas.microsoft.com/office/drawing/2014/main" id="{9A54D728-6277-87D1-5A14-E10BD69F548D}"/>
              </a:ext>
            </a:extLst>
          </p:cNvPr>
          <p:cNvSpPr txBox="1"/>
          <p:nvPr/>
        </p:nvSpPr>
        <p:spPr>
          <a:xfrm>
            <a:off x="452264" y="764704"/>
            <a:ext cx="8152184" cy="5632311"/>
          </a:xfrm>
          <a:prstGeom prst="rect">
            <a:avLst/>
          </a:prstGeom>
          <a:noFill/>
        </p:spPr>
        <p:txBody>
          <a:bodyPr wrap="square">
            <a:spAutoFit/>
          </a:bodyPr>
          <a:lstStyle/>
          <a:p>
            <a:pPr indent="355600" algn="just"/>
            <a:r>
              <a:rPr lang="ru-RU" sz="2400" dirty="0">
                <a:latin typeface="Times New Roman" pitchFamily="18" charset="0"/>
                <a:cs typeface="Times New Roman" pitchFamily="18" charset="0"/>
              </a:rPr>
              <a:t>Алгоритм </a:t>
            </a:r>
            <a:r>
              <a:rPr lang="ru-RU" sz="2400" dirty="0" err="1">
                <a:latin typeface="Times New Roman" pitchFamily="18" charset="0"/>
                <a:cs typeface="Times New Roman" pitchFamily="18" charset="0"/>
              </a:rPr>
              <a:t>Диффи-Хеллмана</a:t>
            </a:r>
            <a:r>
              <a:rPr lang="ru-RU" sz="2400" dirty="0">
                <a:latin typeface="Times New Roman" pitchFamily="18" charset="0"/>
                <a:cs typeface="Times New Roman" pitchFamily="18" charset="0"/>
              </a:rPr>
              <a:t> (протокол </a:t>
            </a:r>
            <a:r>
              <a:rPr lang="ru-RU" sz="2400" dirty="0" err="1">
                <a:latin typeface="Times New Roman" pitchFamily="18" charset="0"/>
                <a:cs typeface="Times New Roman" pitchFamily="18" charset="0"/>
              </a:rPr>
              <a:t>Диффи-Хеллмана</a:t>
            </a:r>
            <a:r>
              <a:rPr lang="ru-RU" sz="2400" dirty="0">
                <a:latin typeface="Times New Roman" pitchFamily="18" charset="0"/>
                <a:cs typeface="Times New Roman" pitchFamily="18" charset="0"/>
              </a:rPr>
              <a:t> </a:t>
            </a:r>
            <a:r>
              <a:rPr lang="en" sz="2400" b="1" dirty="0">
                <a:latin typeface="Times New Roman" pitchFamily="18" charset="0"/>
                <a:cs typeface="Times New Roman" pitchFamily="18" charset="0"/>
              </a:rPr>
              <a:t>Diffie</a:t>
            </a:r>
            <a:r>
              <a:rPr lang="ru-RU" sz="2400" b="1" dirty="0">
                <a:latin typeface="Times New Roman" pitchFamily="18" charset="0"/>
                <a:cs typeface="Times New Roman" pitchFamily="18" charset="0"/>
              </a:rPr>
              <a:t>-</a:t>
            </a:r>
            <a:r>
              <a:rPr lang="en" sz="2400" b="1" dirty="0">
                <a:latin typeface="Times New Roman" pitchFamily="18" charset="0"/>
                <a:cs typeface="Times New Roman" pitchFamily="18" charset="0"/>
              </a:rPr>
              <a:t>Hellman Key Exchange</a:t>
            </a:r>
            <a:r>
              <a:rPr lang="ru-RU" sz="2400" dirty="0">
                <a:latin typeface="Times New Roman" pitchFamily="18" charset="0"/>
                <a:cs typeface="Times New Roman" pitchFamily="18" charset="0"/>
              </a:rPr>
              <a:t>) – криптографический протокол, позволяющий двум сторонам создать общий секретный ключ для безопасной связи, обмениваясь данными по незащищённому каналу связи. Разработан </a:t>
            </a:r>
            <a:r>
              <a:rPr lang="ru-RU" sz="2400" dirty="0" err="1">
                <a:latin typeface="Times New Roman" pitchFamily="18" charset="0"/>
                <a:cs typeface="Times New Roman" pitchFamily="18" charset="0"/>
              </a:rPr>
              <a:t>Уитфилдом</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Диффи</a:t>
            </a:r>
            <a:r>
              <a:rPr lang="ru-RU" sz="2400" dirty="0">
                <a:latin typeface="Times New Roman" pitchFamily="18" charset="0"/>
                <a:cs typeface="Times New Roman" pitchFamily="18" charset="0"/>
              </a:rPr>
              <a:t> и Мартином </a:t>
            </a:r>
            <a:r>
              <a:rPr lang="ru-RU" sz="2400" dirty="0" err="1">
                <a:latin typeface="Times New Roman" pitchFamily="18" charset="0"/>
                <a:cs typeface="Times New Roman" pitchFamily="18" charset="0"/>
              </a:rPr>
              <a:t>Хеллманом</a:t>
            </a:r>
            <a:r>
              <a:rPr lang="ru-RU" sz="2400" dirty="0">
                <a:latin typeface="Times New Roman" pitchFamily="18" charset="0"/>
                <a:cs typeface="Times New Roman" pitchFamily="18" charset="0"/>
              </a:rPr>
              <a:t> в 1976 году. </a:t>
            </a:r>
          </a:p>
          <a:p>
            <a:pPr indent="355600" algn="just"/>
            <a:r>
              <a:rPr lang="ru-RU" sz="2400" dirty="0">
                <a:latin typeface="Times New Roman" pitchFamily="18" charset="0"/>
                <a:cs typeface="Times New Roman" pitchFamily="18" charset="0"/>
              </a:rPr>
              <a:t>Протокол </a:t>
            </a:r>
            <a:r>
              <a:rPr lang="ru-RU" sz="2400" dirty="0" err="1">
                <a:latin typeface="Times New Roman" pitchFamily="18" charset="0"/>
                <a:cs typeface="Times New Roman" pitchFamily="18" charset="0"/>
              </a:rPr>
              <a:t>Диффи-Хеллмана</a:t>
            </a:r>
            <a:r>
              <a:rPr lang="en-US" sz="2400" dirty="0">
                <a:latin typeface="Times New Roman" pitchFamily="18" charset="0"/>
                <a:cs typeface="Times New Roman" pitchFamily="18" charset="0"/>
              </a:rPr>
              <a:t> </a:t>
            </a:r>
            <a:r>
              <a:rPr lang="ru-RU" sz="2400" dirty="0">
                <a:latin typeface="Times New Roman" pitchFamily="18" charset="0"/>
                <a:cs typeface="Times New Roman" pitchFamily="18" charset="0"/>
              </a:rPr>
              <a:t>позволяет двум сторонам, никогда не общавшимся ранее, совместно выработать общий секретный ключ через открытый канал связи. Обеспечивает конфиденциальность будущего сеанса связи. </a:t>
            </a:r>
          </a:p>
          <a:p>
            <a:pPr indent="355600" algn="just"/>
            <a:r>
              <a:rPr lang="ru-RU" sz="2400" i="1" dirty="0">
                <a:latin typeface="Times New Roman" pitchFamily="18" charset="0"/>
                <a:cs typeface="Times New Roman" pitchFamily="18" charset="0"/>
              </a:rPr>
              <a:t>Его можно представить как задачу: </a:t>
            </a:r>
          </a:p>
          <a:p>
            <a:pPr indent="355600" algn="just"/>
            <a:r>
              <a:rPr lang="ru-RU" sz="2400" i="1" dirty="0">
                <a:latin typeface="Times New Roman" pitchFamily="18" charset="0"/>
                <a:cs typeface="Times New Roman" pitchFamily="18" charset="0"/>
              </a:rPr>
              <a:t>“Как договориться о тайне, если </a:t>
            </a:r>
          </a:p>
          <a:p>
            <a:pPr indent="355600" algn="just"/>
            <a:r>
              <a:rPr lang="ru-RU" sz="2400" i="1" dirty="0">
                <a:latin typeface="Times New Roman" pitchFamily="18" charset="0"/>
                <a:cs typeface="Times New Roman" pitchFamily="18" charset="0"/>
              </a:rPr>
              <a:t>все слушают?” – ответ дал именно </a:t>
            </a:r>
          </a:p>
          <a:p>
            <a:pPr indent="355600" algn="just"/>
            <a:r>
              <a:rPr lang="ru-RU" sz="2400" i="1" dirty="0">
                <a:latin typeface="Times New Roman" pitchFamily="18" charset="0"/>
                <a:cs typeface="Times New Roman" pitchFamily="18" charset="0"/>
              </a:rPr>
              <a:t>этот протокол.</a:t>
            </a:r>
          </a:p>
          <a:p>
            <a:pPr indent="355600" algn="just"/>
            <a:endParaRPr lang="ru-RU" sz="2400" dirty="0">
              <a:latin typeface="Times New Roman" pitchFamily="18" charset="0"/>
              <a:cs typeface="Times New Roman" pitchFamily="18" charset="0"/>
            </a:endParaRPr>
          </a:p>
        </p:txBody>
      </p:sp>
      <p:pic>
        <p:nvPicPr>
          <p:cNvPr id="34818" name="Picture 2" descr="https://avatars.mds.yandex.net/i?id=cd443093bbdd82f0553b51d9e22786a1b7532fb9-16464854-images-thumbs&amp;n=13"/>
          <p:cNvPicPr>
            <a:picLocks noChangeAspect="1" noChangeArrowheads="1"/>
          </p:cNvPicPr>
          <p:nvPr/>
        </p:nvPicPr>
        <p:blipFill>
          <a:blip r:embed="rId3" cstate="print"/>
          <a:srcRect r="-2065" b="5948"/>
          <a:stretch>
            <a:fillRect/>
          </a:stretch>
        </p:blipFill>
        <p:spPr bwMode="auto">
          <a:xfrm>
            <a:off x="6444208" y="4437112"/>
            <a:ext cx="1620000" cy="1816358"/>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8ECC1301-DE66-4CDA-81DE-A914792F0A66}" type="slidenum">
              <a:rPr lang="ru-RU" smtClean="0"/>
              <a:pPr/>
              <a:t>26</a:t>
            </a:fld>
            <a:endParaRPr lang="ru-RU"/>
          </a:p>
        </p:txBody>
      </p:sp>
      <p:sp>
        <p:nvSpPr>
          <p:cNvPr id="8" name="TextBox 7">
            <a:extLst>
              <a:ext uri="{FF2B5EF4-FFF2-40B4-BE49-F238E27FC236}">
                <a16:creationId xmlns:a16="http://schemas.microsoft.com/office/drawing/2014/main" id="{9A54D728-6277-87D1-5A14-E10BD69F548D}"/>
              </a:ext>
            </a:extLst>
          </p:cNvPr>
          <p:cNvSpPr txBox="1"/>
          <p:nvPr/>
        </p:nvSpPr>
        <p:spPr>
          <a:xfrm>
            <a:off x="452264" y="116632"/>
            <a:ext cx="8152184" cy="6555641"/>
          </a:xfrm>
          <a:prstGeom prst="rect">
            <a:avLst/>
          </a:prstGeom>
          <a:noFill/>
        </p:spPr>
        <p:txBody>
          <a:bodyPr wrap="square">
            <a:spAutoFit/>
          </a:bodyPr>
          <a:lstStyle/>
          <a:p>
            <a:pPr algn="ctr"/>
            <a:r>
              <a:rPr lang="ru-RU" sz="2800" b="1" dirty="0">
                <a:latin typeface="Times New Roman" pitchFamily="18" charset="0"/>
                <a:cs typeface="Times New Roman" pitchFamily="18" charset="0"/>
              </a:rPr>
              <a:t>Ключевая идея протокола </a:t>
            </a:r>
            <a:r>
              <a:rPr lang="ru-RU" sz="2800" b="1" dirty="0" err="1">
                <a:latin typeface="Times New Roman" pitchFamily="18" charset="0"/>
                <a:cs typeface="Times New Roman" pitchFamily="18" charset="0"/>
              </a:rPr>
              <a:t>Диффи-Хеллмана</a:t>
            </a:r>
            <a:r>
              <a:rPr lang="ru-RU" sz="2800" b="1" dirty="0">
                <a:latin typeface="Times New Roman" pitchFamily="18" charset="0"/>
                <a:cs typeface="Times New Roman" pitchFamily="18" charset="0"/>
              </a:rPr>
              <a:t> :</a:t>
            </a:r>
          </a:p>
          <a:p>
            <a:pPr indent="355600" algn="just"/>
            <a:r>
              <a:rPr lang="ru-RU" sz="2800" dirty="0">
                <a:latin typeface="Times New Roman" pitchFamily="18" charset="0"/>
                <a:cs typeface="Times New Roman" pitchFamily="18" charset="0"/>
              </a:rPr>
              <a:t>Две стороны могут совместно выработать общий секретный ключ, открыто обмениваясь информацией по незащищённому каналу, так как вычисление этого секретного ключа для третьего лица является практически нерешаемой математической задачей.</a:t>
            </a:r>
          </a:p>
          <a:p>
            <a:pPr indent="355600" algn="just"/>
            <a:r>
              <a:rPr lang="ru-RU" sz="2800" dirty="0">
                <a:latin typeface="Times New Roman" pitchFamily="18" charset="0"/>
                <a:cs typeface="Times New Roman" pitchFamily="18" charset="0"/>
              </a:rPr>
              <a:t>Протокол основан на сложности задачи дискретного логарифмирования:</a:t>
            </a:r>
          </a:p>
          <a:p>
            <a:pPr indent="355600" algn="just"/>
            <a:r>
              <a:rPr lang="ru-RU" sz="2800" dirty="0">
                <a:latin typeface="Times New Roman" pitchFamily="18" charset="0"/>
                <a:cs typeface="Times New Roman" pitchFamily="18" charset="0"/>
              </a:rPr>
              <a:t>известно число </a:t>
            </a:r>
            <a:r>
              <a:rPr lang="en" sz="2800" b="1" dirty="0">
                <a:latin typeface="Times New Roman" pitchFamily="18" charset="0"/>
                <a:cs typeface="Times New Roman" pitchFamily="18" charset="0"/>
              </a:rPr>
              <a:t>p (</a:t>
            </a:r>
            <a:r>
              <a:rPr lang="ru-RU" sz="2800" b="1" dirty="0">
                <a:latin typeface="Times New Roman" pitchFamily="18" charset="0"/>
                <a:cs typeface="Times New Roman" pitchFamily="18" charset="0"/>
              </a:rPr>
              <a:t>простое) </a:t>
            </a:r>
            <a:r>
              <a:rPr lang="ru-RU" sz="2800" dirty="0">
                <a:latin typeface="Times New Roman" pitchFamily="18" charset="0"/>
                <a:cs typeface="Times New Roman" pitchFamily="18" charset="0"/>
              </a:rPr>
              <a:t>и основание </a:t>
            </a:r>
            <a:r>
              <a:rPr lang="en" sz="2800" b="1" dirty="0">
                <a:latin typeface="Times New Roman" pitchFamily="18" charset="0"/>
                <a:cs typeface="Times New Roman" pitchFamily="18" charset="0"/>
              </a:rPr>
              <a:t>g</a:t>
            </a:r>
            <a:r>
              <a:rPr lang="en" sz="2800" dirty="0">
                <a:latin typeface="Times New Roman" pitchFamily="18" charset="0"/>
                <a:cs typeface="Times New Roman" pitchFamily="18" charset="0"/>
              </a:rPr>
              <a:t>, </a:t>
            </a:r>
            <a:r>
              <a:rPr lang="ru-RU" sz="2800" dirty="0">
                <a:latin typeface="Times New Roman" pitchFamily="18" charset="0"/>
                <a:cs typeface="Times New Roman" pitchFamily="18" charset="0"/>
              </a:rPr>
              <a:t>а также результат возведения </a:t>
            </a:r>
            <a:r>
              <a:rPr lang="en" sz="2800" b="1" dirty="0">
                <a:latin typeface="Times New Roman" pitchFamily="18" charset="0"/>
                <a:cs typeface="Times New Roman" pitchFamily="18" charset="0"/>
              </a:rPr>
              <a:t>gˣ mod p</a:t>
            </a:r>
            <a:r>
              <a:rPr lang="en" sz="2800" dirty="0">
                <a:latin typeface="Times New Roman" pitchFamily="18" charset="0"/>
                <a:cs typeface="Times New Roman" pitchFamily="18" charset="0"/>
              </a:rPr>
              <a:t>.</a:t>
            </a:r>
          </a:p>
          <a:p>
            <a:pPr indent="355600" algn="just"/>
            <a:r>
              <a:rPr lang="ru-RU" sz="2800" dirty="0">
                <a:latin typeface="Times New Roman" pitchFamily="18" charset="0"/>
                <a:cs typeface="Times New Roman" pitchFamily="18" charset="0"/>
              </a:rPr>
              <a:t>Найти </a:t>
            </a:r>
            <a:r>
              <a:rPr lang="en" sz="2800" b="1" dirty="0">
                <a:latin typeface="Times New Roman" pitchFamily="18" charset="0"/>
                <a:cs typeface="Times New Roman" pitchFamily="18" charset="0"/>
              </a:rPr>
              <a:t>x</a:t>
            </a:r>
            <a:r>
              <a:rPr lang="en" sz="2800" dirty="0">
                <a:latin typeface="Times New Roman" pitchFamily="18" charset="0"/>
                <a:cs typeface="Times New Roman" pitchFamily="18" charset="0"/>
              </a:rPr>
              <a:t> </a:t>
            </a:r>
            <a:r>
              <a:rPr lang="ru-RU" sz="2800" dirty="0">
                <a:latin typeface="Times New Roman" pitchFamily="18" charset="0"/>
                <a:cs typeface="Times New Roman" pitchFamily="18" charset="0"/>
              </a:rPr>
              <a:t>– по этим данным  вычислительно трудно.</a:t>
            </a:r>
          </a:p>
          <a:p>
            <a:pPr indent="355600" algn="just"/>
            <a:r>
              <a:rPr lang="ru-RU" sz="2800" dirty="0">
                <a:latin typeface="Times New Roman" pitchFamily="18" charset="0"/>
                <a:cs typeface="Times New Roman" pitchFamily="18" charset="0"/>
              </a:rPr>
              <a:t>Благодаря этому стороны могут договориться о ключе, не раскрывая свои секретные данные.</a:t>
            </a:r>
            <a:endParaRPr lang="ru-RU"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8ECC1301-DE66-4CDA-81DE-A914792F0A66}" type="slidenum">
              <a:rPr lang="ru-RU" smtClean="0"/>
              <a:pPr/>
              <a:t>27</a:t>
            </a:fld>
            <a:endParaRPr lang="ru-RU"/>
          </a:p>
        </p:txBody>
      </p:sp>
      <p:pic>
        <p:nvPicPr>
          <p:cNvPr id="93186" name="Picture 2"/>
          <p:cNvPicPr>
            <a:picLocks noChangeAspect="1" noChangeArrowheads="1"/>
          </p:cNvPicPr>
          <p:nvPr/>
        </p:nvPicPr>
        <p:blipFill>
          <a:blip r:embed="rId3" cstate="print"/>
          <a:srcRect l="5808" t="4533"/>
          <a:stretch>
            <a:fillRect/>
          </a:stretch>
        </p:blipFill>
        <p:spPr bwMode="auto">
          <a:xfrm>
            <a:off x="323528" y="188640"/>
            <a:ext cx="8606855" cy="6282755"/>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8ECC1301-DE66-4CDA-81DE-A914792F0A66}" type="slidenum">
              <a:rPr lang="ru-RU" smtClean="0"/>
              <a:pPr/>
              <a:t>28</a:t>
            </a:fld>
            <a:endParaRPr lang="ru-RU"/>
          </a:p>
        </p:txBody>
      </p:sp>
      <p:pic>
        <p:nvPicPr>
          <p:cNvPr id="29697" name="Picture 1"/>
          <p:cNvPicPr>
            <a:picLocks noChangeAspect="1" noChangeArrowheads="1"/>
          </p:cNvPicPr>
          <p:nvPr/>
        </p:nvPicPr>
        <p:blipFill>
          <a:blip r:embed="rId3" cstate="print"/>
          <a:srcRect/>
          <a:stretch>
            <a:fillRect/>
          </a:stretch>
        </p:blipFill>
        <p:spPr bwMode="auto">
          <a:xfrm>
            <a:off x="122238" y="188640"/>
            <a:ext cx="8897937" cy="6358211"/>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8ECC1301-DE66-4CDA-81DE-A914792F0A66}" type="slidenum">
              <a:rPr lang="ru-RU" smtClean="0"/>
              <a:pPr/>
              <a:t>29</a:t>
            </a:fld>
            <a:endParaRPr lang="ru-RU"/>
          </a:p>
        </p:txBody>
      </p:sp>
      <p:pic>
        <p:nvPicPr>
          <p:cNvPr id="94210" name="Picture 2"/>
          <p:cNvPicPr>
            <a:picLocks noChangeAspect="1" noChangeArrowheads="1"/>
          </p:cNvPicPr>
          <p:nvPr/>
        </p:nvPicPr>
        <p:blipFill>
          <a:blip r:embed="rId3" cstate="print"/>
          <a:srcRect/>
          <a:stretch>
            <a:fillRect/>
          </a:stretch>
        </p:blipFill>
        <p:spPr bwMode="auto">
          <a:xfrm>
            <a:off x="165100" y="206375"/>
            <a:ext cx="8812213" cy="6450013"/>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p:cNvSpPr>
            <a:spLocks noGrp="1"/>
          </p:cNvSpPr>
          <p:nvPr>
            <p:ph type="sldNum" sz="quarter" idx="12"/>
          </p:nvPr>
        </p:nvSpPr>
        <p:spPr/>
        <p:txBody>
          <a:bodyPr/>
          <a:lstStyle/>
          <a:p>
            <a:fld id="{8ECC1301-DE66-4CDA-81DE-A914792F0A66}" type="slidenum">
              <a:rPr lang="ru-RU" smtClean="0"/>
              <a:pPr/>
              <a:t>30</a:t>
            </a:fld>
            <a:endParaRPr lang="ru-RU"/>
          </a:p>
        </p:txBody>
      </p:sp>
      <p:pic>
        <p:nvPicPr>
          <p:cNvPr id="95234" name="Picture 2"/>
          <p:cNvPicPr>
            <a:picLocks noChangeAspect="1" noChangeArrowheads="1"/>
          </p:cNvPicPr>
          <p:nvPr/>
        </p:nvPicPr>
        <p:blipFill>
          <a:blip r:embed="rId2" cstate="print"/>
          <a:srcRect/>
          <a:stretch>
            <a:fillRect/>
          </a:stretch>
        </p:blipFill>
        <p:spPr bwMode="auto">
          <a:xfrm>
            <a:off x="107504" y="227772"/>
            <a:ext cx="8928000" cy="6513596"/>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p:cNvSpPr>
            <a:spLocks noGrp="1"/>
          </p:cNvSpPr>
          <p:nvPr>
            <p:ph type="sldNum" sz="quarter" idx="12"/>
          </p:nvPr>
        </p:nvSpPr>
        <p:spPr/>
        <p:txBody>
          <a:bodyPr/>
          <a:lstStyle/>
          <a:p>
            <a:fld id="{8ECC1301-DE66-4CDA-81DE-A914792F0A66}" type="slidenum">
              <a:rPr lang="ru-RU" smtClean="0"/>
              <a:pPr/>
              <a:t>31</a:t>
            </a:fld>
            <a:endParaRPr lang="ru-RU"/>
          </a:p>
        </p:txBody>
      </p:sp>
      <p:pic>
        <p:nvPicPr>
          <p:cNvPr id="96258" name="Picture 2"/>
          <p:cNvPicPr>
            <a:picLocks noChangeAspect="1" noChangeArrowheads="1"/>
          </p:cNvPicPr>
          <p:nvPr/>
        </p:nvPicPr>
        <p:blipFill>
          <a:blip r:embed="rId2" cstate="print"/>
          <a:srcRect/>
          <a:stretch>
            <a:fillRect/>
          </a:stretch>
        </p:blipFill>
        <p:spPr bwMode="auto">
          <a:xfrm>
            <a:off x="467544" y="260648"/>
            <a:ext cx="8352928" cy="3456384"/>
          </a:xfrm>
          <a:prstGeom prst="rect">
            <a:avLst/>
          </a:prstGeom>
          <a:noFill/>
          <a:ln w="9525">
            <a:noFill/>
            <a:miter lim="800000"/>
            <a:headEnd/>
            <a:tailEnd/>
          </a:ln>
          <a:effectLst/>
        </p:spPr>
      </p:pic>
      <p:pic>
        <p:nvPicPr>
          <p:cNvPr id="5" name="Picture 2" descr="Picture background"/>
          <p:cNvPicPr>
            <a:picLocks noChangeAspect="1" noChangeArrowheads="1"/>
          </p:cNvPicPr>
          <p:nvPr/>
        </p:nvPicPr>
        <p:blipFill>
          <a:blip r:embed="rId3" cstate="print"/>
          <a:srcRect/>
          <a:stretch>
            <a:fillRect/>
          </a:stretch>
        </p:blipFill>
        <p:spPr bwMode="auto">
          <a:xfrm>
            <a:off x="1403648" y="3573016"/>
            <a:ext cx="6840760" cy="3096344"/>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p:cNvSpPr>
            <a:spLocks noGrp="1"/>
          </p:cNvSpPr>
          <p:nvPr>
            <p:ph type="sldNum" sz="quarter" idx="12"/>
          </p:nvPr>
        </p:nvSpPr>
        <p:spPr/>
        <p:txBody>
          <a:bodyPr/>
          <a:lstStyle/>
          <a:p>
            <a:fld id="{8ECC1301-DE66-4CDA-81DE-A914792F0A66}" type="slidenum">
              <a:rPr lang="ru-RU" smtClean="0"/>
              <a:pPr/>
              <a:t>32</a:t>
            </a:fld>
            <a:endParaRPr lang="ru-RU"/>
          </a:p>
        </p:txBody>
      </p:sp>
      <p:pic>
        <p:nvPicPr>
          <p:cNvPr id="92162" name="Picture 2"/>
          <p:cNvPicPr>
            <a:picLocks noChangeAspect="1" noChangeArrowheads="1"/>
          </p:cNvPicPr>
          <p:nvPr/>
        </p:nvPicPr>
        <p:blipFill>
          <a:blip r:embed="rId3" cstate="print"/>
          <a:srcRect/>
          <a:stretch>
            <a:fillRect/>
          </a:stretch>
        </p:blipFill>
        <p:spPr bwMode="auto">
          <a:xfrm>
            <a:off x="179512" y="188640"/>
            <a:ext cx="8784976" cy="648072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8ECC1301-DE66-4CDA-81DE-A914792F0A66}" type="slidenum">
              <a:rPr lang="ru-RU" smtClean="0"/>
              <a:pPr/>
              <a:t>33</a:t>
            </a:fld>
            <a:endParaRPr lang="ru-RU"/>
          </a:p>
        </p:txBody>
      </p:sp>
      <p:sp>
        <p:nvSpPr>
          <p:cNvPr id="2" name="Заголовок 1">
            <a:extLst>
              <a:ext uri="{FF2B5EF4-FFF2-40B4-BE49-F238E27FC236}">
                <a16:creationId xmlns:a16="http://schemas.microsoft.com/office/drawing/2014/main" id="{D20B84BC-8F24-155F-73EE-9495D50319DA}"/>
              </a:ext>
            </a:extLst>
          </p:cNvPr>
          <p:cNvSpPr txBox="1">
            <a:spLocks/>
          </p:cNvSpPr>
          <p:nvPr/>
        </p:nvSpPr>
        <p:spPr>
          <a:xfrm>
            <a:off x="457200" y="58614"/>
            <a:ext cx="8229600" cy="706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2800" b="1" dirty="0">
                <a:latin typeface="Times New Roman" pitchFamily="18" charset="0"/>
                <a:cs typeface="Times New Roman" pitchFamily="18" charset="0"/>
              </a:rPr>
              <a:t>3. Протокол </a:t>
            </a:r>
            <a:r>
              <a:rPr lang="ru-RU" sz="2800" b="1" dirty="0" err="1">
                <a:latin typeface="Times New Roman" pitchFamily="18" charset="0"/>
                <a:cs typeface="Times New Roman" pitchFamily="18" charset="0"/>
              </a:rPr>
              <a:t>Диффи-Хеллмана</a:t>
            </a:r>
            <a:endParaRPr lang="ru-RU" sz="2800" dirty="0"/>
          </a:p>
        </p:txBody>
      </p:sp>
      <p:sp>
        <p:nvSpPr>
          <p:cNvPr id="9" name="TextBox 8">
            <a:extLst>
              <a:ext uri="{FF2B5EF4-FFF2-40B4-BE49-F238E27FC236}">
                <a16:creationId xmlns:a16="http://schemas.microsoft.com/office/drawing/2014/main" id="{6C0DBB44-4A90-33B9-3C31-4B86B4013760}"/>
              </a:ext>
            </a:extLst>
          </p:cNvPr>
          <p:cNvSpPr txBox="1"/>
          <p:nvPr/>
        </p:nvSpPr>
        <p:spPr>
          <a:xfrm>
            <a:off x="179512" y="1412776"/>
            <a:ext cx="8640960" cy="4401205"/>
          </a:xfrm>
          <a:prstGeom prst="rect">
            <a:avLst/>
          </a:prstGeom>
          <a:noFill/>
        </p:spPr>
        <p:txBody>
          <a:bodyPr wrap="square">
            <a:spAutoFit/>
          </a:bodyPr>
          <a:lstStyle/>
          <a:p>
            <a:pPr indent="355600" algn="just"/>
            <a:r>
              <a:rPr lang="ru-RU" sz="2800" dirty="0">
                <a:latin typeface="Times New Roman" pitchFamily="18" charset="0"/>
                <a:cs typeface="Times New Roman" pitchFamily="18" charset="0"/>
              </a:rPr>
              <a:t>Безопасность протокола </a:t>
            </a:r>
            <a:r>
              <a:rPr lang="ru-RU" sz="2800" dirty="0" err="1">
                <a:latin typeface="Times New Roman" pitchFamily="18" charset="0"/>
                <a:cs typeface="Times New Roman" pitchFamily="18" charset="0"/>
              </a:rPr>
              <a:t>Диффи-Хеллмана</a:t>
            </a:r>
            <a:r>
              <a:rPr lang="ru-RU" sz="2800" dirty="0">
                <a:latin typeface="Times New Roman" pitchFamily="18" charset="0"/>
                <a:cs typeface="Times New Roman" pitchFamily="18" charset="0"/>
              </a:rPr>
              <a:t> основана на </a:t>
            </a:r>
            <a:r>
              <a:rPr lang="ru-RU" sz="2800" b="1" dirty="0">
                <a:latin typeface="Times New Roman" pitchFamily="18" charset="0"/>
                <a:cs typeface="Times New Roman" pitchFamily="18" charset="0"/>
              </a:rPr>
              <a:t>трудности вычисления дискретного логарифма</a:t>
            </a:r>
            <a:r>
              <a:rPr lang="ru-RU" sz="2800" dirty="0">
                <a:latin typeface="Times New Roman" pitchFamily="18" charset="0"/>
                <a:cs typeface="Times New Roman" pitchFamily="18" charset="0"/>
              </a:rPr>
              <a:t>.</a:t>
            </a:r>
            <a:br>
              <a:rPr lang="ru-RU" sz="2800" dirty="0">
                <a:latin typeface="Times New Roman" pitchFamily="18" charset="0"/>
                <a:cs typeface="Times New Roman" pitchFamily="18" charset="0"/>
              </a:rPr>
            </a:br>
            <a:r>
              <a:rPr lang="ru-RU" sz="2800" dirty="0">
                <a:latin typeface="Times New Roman" pitchFamily="18" charset="0"/>
                <a:cs typeface="Times New Roman" pitchFamily="18" charset="0"/>
              </a:rPr>
              <a:t>Даже зная </a:t>
            </a:r>
            <a:r>
              <a:rPr lang="en" sz="2800" dirty="0">
                <a:latin typeface="Times New Roman" pitchFamily="18" charset="0"/>
                <a:cs typeface="Times New Roman" pitchFamily="18" charset="0"/>
              </a:rPr>
              <a:t>p, g, A </a:t>
            </a:r>
            <a:r>
              <a:rPr lang="ru-RU" sz="2800" dirty="0">
                <a:latin typeface="Times New Roman" pitchFamily="18" charset="0"/>
                <a:cs typeface="Times New Roman" pitchFamily="18" charset="0"/>
              </a:rPr>
              <a:t>и </a:t>
            </a:r>
            <a:r>
              <a:rPr lang="en" sz="2800" dirty="0">
                <a:latin typeface="Times New Roman" pitchFamily="18" charset="0"/>
                <a:cs typeface="Times New Roman" pitchFamily="18" charset="0"/>
              </a:rPr>
              <a:t>B, </a:t>
            </a:r>
            <a:r>
              <a:rPr lang="ru-RU" sz="2800" dirty="0">
                <a:latin typeface="Times New Roman" pitchFamily="18" charset="0"/>
                <a:cs typeface="Times New Roman" pitchFamily="18" charset="0"/>
              </a:rPr>
              <a:t>злоумышленник не может эффективно вычислить общий ключ </a:t>
            </a:r>
            <a:r>
              <a:rPr lang="en" sz="2800" dirty="0">
                <a:latin typeface="Times New Roman" pitchFamily="18" charset="0"/>
                <a:cs typeface="Times New Roman" pitchFamily="18" charset="0"/>
              </a:rPr>
              <a:t>K.</a:t>
            </a:r>
          </a:p>
          <a:p>
            <a:pPr indent="355600"/>
            <a:r>
              <a:rPr lang="ru-RU" sz="2800" dirty="0">
                <a:latin typeface="Times New Roman" pitchFamily="18" charset="0"/>
                <a:cs typeface="Times New Roman" pitchFamily="18" charset="0"/>
              </a:rPr>
              <a:t>Уязвимость – </a:t>
            </a:r>
            <a:r>
              <a:rPr lang="ru-RU" sz="2800" b="1" dirty="0">
                <a:latin typeface="Times New Roman" pitchFamily="18" charset="0"/>
                <a:cs typeface="Times New Roman" pitchFamily="18" charset="0"/>
              </a:rPr>
              <a:t>атака “человек посередине” (</a:t>
            </a:r>
            <a:r>
              <a:rPr lang="en" sz="2800" b="1" dirty="0">
                <a:latin typeface="Times New Roman" pitchFamily="18" charset="0"/>
                <a:cs typeface="Times New Roman" pitchFamily="18" charset="0"/>
              </a:rPr>
              <a:t>Man-in-the-Middle)</a:t>
            </a:r>
            <a:r>
              <a:rPr lang="en" sz="2800" dirty="0">
                <a:latin typeface="Times New Roman" pitchFamily="18" charset="0"/>
                <a:cs typeface="Times New Roman" pitchFamily="18" charset="0"/>
              </a:rPr>
              <a:t>:</a:t>
            </a:r>
            <a:br>
              <a:rPr lang="en" sz="2800" dirty="0">
                <a:latin typeface="Times New Roman" pitchFamily="18" charset="0"/>
                <a:cs typeface="Times New Roman" pitchFamily="18" charset="0"/>
              </a:rPr>
            </a:br>
            <a:r>
              <a:rPr lang="ru-RU" sz="2800" dirty="0">
                <a:latin typeface="Times New Roman" pitchFamily="18" charset="0"/>
                <a:cs typeface="Times New Roman" pitchFamily="18" charset="0"/>
              </a:rPr>
              <a:t>злоумышленник может подменить значения </a:t>
            </a:r>
            <a:r>
              <a:rPr lang="en" sz="2800" dirty="0">
                <a:latin typeface="Times New Roman" pitchFamily="18" charset="0"/>
                <a:cs typeface="Times New Roman" pitchFamily="18" charset="0"/>
              </a:rPr>
              <a:t>A </a:t>
            </a:r>
            <a:r>
              <a:rPr lang="ru-RU" sz="2800" dirty="0">
                <a:latin typeface="Times New Roman" pitchFamily="18" charset="0"/>
                <a:cs typeface="Times New Roman" pitchFamily="18" charset="0"/>
              </a:rPr>
              <a:t>и </a:t>
            </a:r>
            <a:r>
              <a:rPr lang="en" sz="2800" dirty="0">
                <a:latin typeface="Times New Roman" pitchFamily="18" charset="0"/>
                <a:cs typeface="Times New Roman" pitchFamily="18" charset="0"/>
              </a:rPr>
              <a:t>B, </a:t>
            </a:r>
            <a:r>
              <a:rPr lang="ru-RU" sz="2800" dirty="0">
                <a:latin typeface="Times New Roman" pitchFamily="18" charset="0"/>
                <a:cs typeface="Times New Roman" pitchFamily="18" charset="0"/>
              </a:rPr>
              <a:t>установив разные ключи с каждой стороной.</a:t>
            </a:r>
          </a:p>
          <a:p>
            <a:pPr indent="355600" algn="just">
              <a:tabLst>
                <a:tab pos="903288" algn="l"/>
              </a:tabLst>
            </a:pPr>
            <a:r>
              <a:rPr lang="ru-RU" sz="2800" dirty="0">
                <a:latin typeface="Times New Roman" pitchFamily="18" charset="0"/>
                <a:cs typeface="Times New Roman" pitchFamily="18" charset="0"/>
              </a:rPr>
              <a:t>Решение – использовать </a:t>
            </a:r>
            <a:r>
              <a:rPr lang="ru-RU" sz="2800" b="1" dirty="0">
                <a:latin typeface="Times New Roman" pitchFamily="18" charset="0"/>
                <a:cs typeface="Times New Roman" pitchFamily="18" charset="0"/>
              </a:rPr>
              <a:t>аутентификацию и цифровые подписи</a:t>
            </a:r>
            <a:r>
              <a:rPr lang="ru-RU" sz="2800" dirty="0">
                <a:latin typeface="Times New Roman" pitchFamily="18" charset="0"/>
                <a:cs typeface="Times New Roman" pitchFamily="18" charset="0"/>
              </a:rPr>
              <a:t>.</a:t>
            </a:r>
          </a:p>
        </p:txBody>
      </p:sp>
      <p:sp>
        <p:nvSpPr>
          <p:cNvPr id="11" name="TextBox 10">
            <a:extLst>
              <a:ext uri="{FF2B5EF4-FFF2-40B4-BE49-F238E27FC236}">
                <a16:creationId xmlns:a16="http://schemas.microsoft.com/office/drawing/2014/main" id="{5BEAA71C-A0E4-5293-2A21-2CFA20E40D7F}"/>
              </a:ext>
            </a:extLst>
          </p:cNvPr>
          <p:cNvSpPr txBox="1"/>
          <p:nvPr/>
        </p:nvSpPr>
        <p:spPr>
          <a:xfrm>
            <a:off x="2339752" y="836712"/>
            <a:ext cx="4572000" cy="523220"/>
          </a:xfrm>
          <a:prstGeom prst="rect">
            <a:avLst/>
          </a:prstGeom>
          <a:noFill/>
        </p:spPr>
        <p:txBody>
          <a:bodyPr wrap="square">
            <a:spAutoFit/>
          </a:bodyPr>
          <a:lstStyle/>
          <a:p>
            <a:pPr algn="ctr"/>
            <a:r>
              <a:rPr lang="ru-RU" sz="28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Безопасность</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8ECC1301-DE66-4CDA-81DE-A914792F0A66}" type="slidenum">
              <a:rPr lang="ru-RU" smtClean="0"/>
              <a:pPr/>
              <a:t>34</a:t>
            </a:fld>
            <a:endParaRPr lang="ru-RU"/>
          </a:p>
        </p:txBody>
      </p:sp>
      <p:sp>
        <p:nvSpPr>
          <p:cNvPr id="2" name="Заголовок 1">
            <a:extLst>
              <a:ext uri="{FF2B5EF4-FFF2-40B4-BE49-F238E27FC236}">
                <a16:creationId xmlns:a16="http://schemas.microsoft.com/office/drawing/2014/main" id="{D20B84BC-8F24-155F-73EE-9495D50319DA}"/>
              </a:ext>
            </a:extLst>
          </p:cNvPr>
          <p:cNvSpPr txBox="1">
            <a:spLocks/>
          </p:cNvSpPr>
          <p:nvPr/>
        </p:nvSpPr>
        <p:spPr>
          <a:xfrm>
            <a:off x="457200" y="58614"/>
            <a:ext cx="8229600" cy="706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2800" b="1" dirty="0">
                <a:latin typeface="Times New Roman" pitchFamily="18" charset="0"/>
                <a:cs typeface="Times New Roman" pitchFamily="18" charset="0"/>
              </a:rPr>
              <a:t>3. Протокол </a:t>
            </a:r>
            <a:r>
              <a:rPr lang="ru-RU" sz="2800" b="1" dirty="0" err="1">
                <a:latin typeface="Times New Roman" pitchFamily="18" charset="0"/>
                <a:cs typeface="Times New Roman" pitchFamily="18" charset="0"/>
              </a:rPr>
              <a:t>Диффи-Хеллмана</a:t>
            </a:r>
            <a:endParaRPr lang="ru-RU" sz="2800" b="1"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0C7A1631-6681-FB66-BD44-0CB65FC7B30E}"/>
              </a:ext>
            </a:extLst>
          </p:cNvPr>
          <p:cNvSpPr txBox="1"/>
          <p:nvPr/>
        </p:nvSpPr>
        <p:spPr>
          <a:xfrm>
            <a:off x="467544" y="980728"/>
            <a:ext cx="8496944" cy="4401205"/>
          </a:xfrm>
          <a:prstGeom prst="rect">
            <a:avLst/>
          </a:prstGeom>
          <a:noFill/>
        </p:spPr>
        <p:txBody>
          <a:bodyPr wrap="square">
            <a:spAutoFit/>
          </a:bodyPr>
          <a:lstStyle/>
          <a:p>
            <a:pPr algn="ctr"/>
            <a:r>
              <a:rPr lang="ru-RU" sz="28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Применение на практике</a:t>
            </a:r>
          </a:p>
          <a:p>
            <a:pPr indent="355600" algn="just"/>
            <a:r>
              <a:rPr lang="ru-RU" sz="2800" dirty="0">
                <a:latin typeface="Times New Roman" pitchFamily="18" charset="0"/>
                <a:cs typeface="Times New Roman" pitchFamily="18" charset="0"/>
              </a:rPr>
              <a:t>Протокол </a:t>
            </a:r>
            <a:r>
              <a:rPr lang="ru-RU" sz="2800" dirty="0" err="1">
                <a:latin typeface="Times New Roman" pitchFamily="18" charset="0"/>
                <a:cs typeface="Times New Roman" pitchFamily="18" charset="0"/>
              </a:rPr>
              <a:t>Диффи</a:t>
            </a:r>
            <a:r>
              <a:rPr lang="ru-RU" sz="2800" dirty="0">
                <a:latin typeface="Times New Roman" pitchFamily="18" charset="0"/>
                <a:cs typeface="Times New Roman" pitchFamily="18" charset="0"/>
              </a:rPr>
              <a:t>–</a:t>
            </a:r>
            <a:r>
              <a:rPr lang="ru-RU" sz="2800" dirty="0" err="1">
                <a:latin typeface="Times New Roman" pitchFamily="18" charset="0"/>
                <a:cs typeface="Times New Roman" pitchFamily="18" charset="0"/>
              </a:rPr>
              <a:t>Хеллмана</a:t>
            </a:r>
            <a:r>
              <a:rPr lang="ru-RU" sz="2800" dirty="0">
                <a:latin typeface="Times New Roman" pitchFamily="18" charset="0"/>
                <a:cs typeface="Times New Roman" pitchFamily="18" charset="0"/>
              </a:rPr>
              <a:t> – стандартная часть современных систем безопасности:</a:t>
            </a:r>
          </a:p>
          <a:p>
            <a:pPr indent="355600" algn="just">
              <a:buFont typeface="Arial" pitchFamily="34" charset="0"/>
              <a:buChar char="•"/>
            </a:pPr>
            <a:r>
              <a:rPr lang="en" sz="2800" dirty="0">
                <a:latin typeface="Times New Roman" pitchFamily="18" charset="0"/>
                <a:cs typeface="Times New Roman" pitchFamily="18" charset="0"/>
              </a:rPr>
              <a:t>TLS / HTTPS (</a:t>
            </a:r>
            <a:r>
              <a:rPr lang="ru-RU" sz="2800" dirty="0">
                <a:latin typeface="Times New Roman" pitchFamily="18" charset="0"/>
                <a:cs typeface="Times New Roman" pitchFamily="18" charset="0"/>
              </a:rPr>
              <a:t>обмен сеансовыми ключами);</a:t>
            </a:r>
          </a:p>
          <a:p>
            <a:pPr indent="355600" algn="just">
              <a:buFont typeface="Arial" pitchFamily="34" charset="0"/>
              <a:buChar char="•"/>
            </a:pPr>
            <a:r>
              <a:rPr lang="en" sz="2800" dirty="0">
                <a:latin typeface="Times New Roman" pitchFamily="18" charset="0"/>
                <a:cs typeface="Times New Roman" pitchFamily="18" charset="0"/>
              </a:rPr>
              <a:t>SSH (</a:t>
            </a:r>
            <a:r>
              <a:rPr lang="ru-RU" sz="2800" dirty="0">
                <a:latin typeface="Times New Roman" pitchFamily="18" charset="0"/>
                <a:cs typeface="Times New Roman" pitchFamily="18" charset="0"/>
              </a:rPr>
              <a:t>установка защищённого канала);</a:t>
            </a:r>
          </a:p>
          <a:p>
            <a:pPr indent="355600" algn="just">
              <a:buFont typeface="Arial" pitchFamily="34" charset="0"/>
              <a:buChar char="•"/>
            </a:pPr>
            <a:r>
              <a:rPr lang="en" sz="2800" dirty="0">
                <a:latin typeface="Times New Roman" pitchFamily="18" charset="0"/>
                <a:cs typeface="Times New Roman" pitchFamily="18" charset="0"/>
              </a:rPr>
              <a:t>IPsec, PGP, </a:t>
            </a:r>
            <a:r>
              <a:rPr lang="ru-RU" sz="2800" dirty="0">
                <a:latin typeface="Times New Roman" pitchFamily="18" charset="0"/>
                <a:cs typeface="Times New Roman" pitchFamily="18" charset="0"/>
              </a:rPr>
              <a:t>мессенджеры.</a:t>
            </a:r>
          </a:p>
          <a:p>
            <a:pPr indent="355600" algn="just"/>
            <a:r>
              <a:rPr lang="ru-RU" sz="2800" dirty="0">
                <a:latin typeface="Times New Roman" pitchFamily="18" charset="0"/>
                <a:cs typeface="Times New Roman" pitchFamily="18" charset="0"/>
              </a:rPr>
              <a:t>Современные реализации используют эллиптические кривые (</a:t>
            </a:r>
            <a:r>
              <a:rPr lang="en" sz="2800" dirty="0">
                <a:latin typeface="Times New Roman" pitchFamily="18" charset="0"/>
                <a:cs typeface="Times New Roman" pitchFamily="18" charset="0"/>
              </a:rPr>
              <a:t>ECDH) </a:t>
            </a:r>
            <a:r>
              <a:rPr lang="ru-RU" sz="2800" dirty="0">
                <a:latin typeface="Times New Roman" pitchFamily="18" charset="0"/>
                <a:cs typeface="Times New Roman" pitchFamily="18" charset="0"/>
              </a:rPr>
              <a:t>–</a:t>
            </a:r>
            <a:r>
              <a:rPr lang="en" sz="2800" dirty="0">
                <a:latin typeface="Times New Roman" pitchFamily="18" charset="0"/>
                <a:cs typeface="Times New Roman" pitchFamily="18" charset="0"/>
              </a:rPr>
              <a:t> </a:t>
            </a:r>
            <a:r>
              <a:rPr lang="ru-RU" sz="2800" dirty="0">
                <a:latin typeface="Times New Roman" pitchFamily="18" charset="0"/>
                <a:cs typeface="Times New Roman" pitchFamily="18" charset="0"/>
              </a:rPr>
              <a:t>тот же принцип, но с меньшими ключами и более высокой криптостойкостью.</a:t>
            </a:r>
          </a:p>
        </p:txBody>
      </p:sp>
    </p:spTree>
    <p:extLst>
      <p:ext uri="{BB962C8B-B14F-4D97-AF65-F5344CB8AC3E}">
        <p14:creationId xmlns:p14="http://schemas.microsoft.com/office/powerpoint/2010/main" val="3931447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3429000"/>
            <a:ext cx="8229600" cy="1828800"/>
          </a:xfrm>
        </p:spPr>
        <p:txBody>
          <a:bodyPr>
            <a:normAutofit/>
          </a:bodyPr>
          <a:lstStyle/>
          <a:p>
            <a:pPr marL="514350" indent="-514350" algn="ctr">
              <a:buNone/>
            </a:pPr>
            <a:r>
              <a:rPr lang="ru-RU" b="1" dirty="0">
                <a:latin typeface="Times New Roman" pitchFamily="18" charset="0"/>
                <a:cs typeface="Times New Roman" pitchFamily="18" charset="0"/>
              </a:rPr>
              <a:t>4. Протоколы на основе симметричного шифрования</a:t>
            </a:r>
          </a:p>
          <a:p>
            <a:pPr marL="514350" indent="-514350" algn="just">
              <a:buNone/>
            </a:pPr>
            <a:endParaRPr lang="ru-RU" b="1" dirty="0"/>
          </a:p>
          <a:p>
            <a:pPr marL="514350" indent="-514350" algn="just">
              <a:buNone/>
            </a:pPr>
            <a:endParaRPr lang="ru-RU" b="1" dirty="0">
              <a:latin typeface="Times New Roman" pitchFamily="18" charset="0"/>
              <a:cs typeface="Times New Roman" pitchFamily="18" charset="0"/>
            </a:endParaRPr>
          </a:p>
          <a:p>
            <a:pPr algn="ctr">
              <a:buNone/>
            </a:pPr>
            <a:endParaRPr lang="ru-RU" b="1" dirty="0">
              <a:latin typeface="Times New Roman" pitchFamily="18" charset="0"/>
              <a:cs typeface="Times New Roman" pitchFamily="18" charset="0"/>
            </a:endParaRPr>
          </a:p>
          <a:p>
            <a:pPr>
              <a:buNone/>
            </a:pPr>
            <a:endParaRPr lang="ru-RU" dirty="0"/>
          </a:p>
        </p:txBody>
      </p:sp>
      <p:sp>
        <p:nvSpPr>
          <p:cNvPr id="4" name="Заголовок 1"/>
          <p:cNvSpPr>
            <a:spLocks noGrp="1"/>
          </p:cNvSpPr>
          <p:nvPr>
            <p:ph type="title"/>
          </p:nvPr>
        </p:nvSpPr>
        <p:spPr>
          <a:xfrm>
            <a:off x="467544" y="260648"/>
            <a:ext cx="8229600" cy="2808312"/>
          </a:xfrm>
        </p:spPr>
        <p:txBody>
          <a:bodyPr>
            <a:normAutofit/>
          </a:bodyPr>
          <a:lstStyle/>
          <a:p>
            <a:r>
              <a:rPr lang="ru-RU" sz="3200" b="1" dirty="0">
                <a:solidFill>
                  <a:srgbClr val="FF0000"/>
                </a:solidFill>
              </a:rPr>
              <a:t>Лекция 4</a:t>
            </a:r>
            <a:br>
              <a:rPr lang="ru-RU" sz="3200" dirty="0">
                <a:solidFill>
                  <a:srgbClr val="FF0000"/>
                </a:solidFill>
              </a:rPr>
            </a:br>
            <a:r>
              <a:rPr lang="ru-RU" sz="3200" b="1" dirty="0">
                <a:solidFill>
                  <a:srgbClr val="FF0000"/>
                </a:solidFill>
              </a:rPr>
              <a:t>Симметричное шифрование и аутентификация </a:t>
            </a:r>
          </a:p>
        </p:txBody>
      </p:sp>
      <p:sp>
        <p:nvSpPr>
          <p:cNvPr id="5" name="Номер слайда 4"/>
          <p:cNvSpPr>
            <a:spLocks noGrp="1"/>
          </p:cNvSpPr>
          <p:nvPr>
            <p:ph type="sldNum" sz="quarter" idx="12"/>
          </p:nvPr>
        </p:nvSpPr>
        <p:spPr/>
        <p:txBody>
          <a:bodyPr/>
          <a:lstStyle/>
          <a:p>
            <a:fld id="{8ECC1301-DE66-4CDA-81DE-A914792F0A66}" type="slidenum">
              <a:rPr lang="ru-RU" smtClean="0"/>
              <a:pPr/>
              <a:t>35</a:t>
            </a:fld>
            <a:endParaRPr lang="ru-RU"/>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572F88B4-B3E3-7CC6-7A73-A670C0FAB399}"/>
              </a:ext>
            </a:extLst>
          </p:cNvPr>
          <p:cNvSpPr txBox="1">
            <a:spLocks/>
          </p:cNvSpPr>
          <p:nvPr/>
        </p:nvSpPr>
        <p:spPr>
          <a:xfrm>
            <a:off x="467544" y="476672"/>
            <a:ext cx="8229600" cy="70609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14350" indent="-514350"/>
            <a:r>
              <a:rPr lang="ru-RU" sz="2800" b="1" dirty="0">
                <a:latin typeface="Times New Roman" pitchFamily="18" charset="0"/>
                <a:cs typeface="Times New Roman" pitchFamily="18" charset="0"/>
              </a:rPr>
              <a:t>4. Протоколы на основе симметричного шифрования</a:t>
            </a:r>
          </a:p>
        </p:txBody>
      </p:sp>
      <p:sp>
        <p:nvSpPr>
          <p:cNvPr id="5" name="Номер слайда 4"/>
          <p:cNvSpPr>
            <a:spLocks noGrp="1"/>
          </p:cNvSpPr>
          <p:nvPr>
            <p:ph type="sldNum" sz="quarter" idx="12"/>
          </p:nvPr>
        </p:nvSpPr>
        <p:spPr/>
        <p:txBody>
          <a:bodyPr/>
          <a:lstStyle/>
          <a:p>
            <a:fld id="{8ECC1301-DE66-4CDA-81DE-A914792F0A66}" type="slidenum">
              <a:rPr lang="ru-RU" smtClean="0"/>
              <a:pPr/>
              <a:t>36</a:t>
            </a:fld>
            <a:endParaRPr lang="ru-RU"/>
          </a:p>
        </p:txBody>
      </p:sp>
      <p:sp>
        <p:nvSpPr>
          <p:cNvPr id="8" name="TextBox 7">
            <a:extLst>
              <a:ext uri="{FF2B5EF4-FFF2-40B4-BE49-F238E27FC236}">
                <a16:creationId xmlns:a16="http://schemas.microsoft.com/office/drawing/2014/main" id="{B6E17DB4-2FDE-59FB-F09B-51BB443DA327}"/>
              </a:ext>
            </a:extLst>
          </p:cNvPr>
          <p:cNvSpPr txBox="1"/>
          <p:nvPr/>
        </p:nvSpPr>
        <p:spPr>
          <a:xfrm>
            <a:off x="323528" y="1484784"/>
            <a:ext cx="8208912" cy="3693319"/>
          </a:xfrm>
          <a:prstGeom prst="rect">
            <a:avLst/>
          </a:prstGeom>
          <a:noFill/>
        </p:spPr>
        <p:txBody>
          <a:bodyPr wrap="square">
            <a:spAutoFit/>
          </a:bodyPr>
          <a:lstStyle/>
          <a:p>
            <a:pPr indent="355600" algn="just"/>
            <a:r>
              <a:rPr lang="ru-RU" sz="2600" dirty="0">
                <a:latin typeface="Times New Roman" pitchFamily="18" charset="0"/>
                <a:cs typeface="Times New Roman" pitchFamily="18" charset="0"/>
              </a:rPr>
              <a:t>Эти протоколы используют </a:t>
            </a:r>
            <a:r>
              <a:rPr lang="ru-RU" sz="2600" b="1" dirty="0">
                <a:latin typeface="Times New Roman" pitchFamily="18" charset="0"/>
                <a:cs typeface="Times New Roman" pitchFamily="18" charset="0"/>
              </a:rPr>
              <a:t>один общий секретный ключ</a:t>
            </a:r>
            <a:r>
              <a:rPr lang="ru-RU" sz="2600" dirty="0">
                <a:latin typeface="Times New Roman" pitchFamily="18" charset="0"/>
                <a:cs typeface="Times New Roman" pitchFamily="18" charset="0"/>
              </a:rPr>
              <a:t> для защиты данных между участниками.</a:t>
            </a:r>
          </a:p>
          <a:p>
            <a:pPr indent="355600" algn="just"/>
            <a:r>
              <a:rPr lang="ru-RU" sz="2600" dirty="0">
                <a:latin typeface="Times New Roman" pitchFamily="18" charset="0"/>
                <a:cs typeface="Times New Roman" pitchFamily="18" charset="0"/>
              </a:rPr>
              <a:t>Такой подход обеспечивает высокую скорость работы и простоту реализации, однако требует безопасного обмена ключами заранее (например, с помощью </a:t>
            </a:r>
            <a:r>
              <a:rPr lang="ru-RU" sz="2600" dirty="0" err="1">
                <a:latin typeface="Times New Roman" pitchFamily="18" charset="0"/>
                <a:cs typeface="Times New Roman" pitchFamily="18" charset="0"/>
              </a:rPr>
              <a:t>Диффи-Хеллмана</a:t>
            </a:r>
            <a:r>
              <a:rPr lang="ru-RU" sz="2600" dirty="0">
                <a:latin typeface="Times New Roman" pitchFamily="18" charset="0"/>
                <a:cs typeface="Times New Roman" pitchFamily="18" charset="0"/>
              </a:rPr>
              <a:t>).</a:t>
            </a:r>
          </a:p>
          <a:p>
            <a:pPr indent="355600" algn="just"/>
            <a:r>
              <a:rPr lang="ru-RU" sz="2600" dirty="0">
                <a:latin typeface="Times New Roman" pitchFamily="18" charset="0"/>
                <a:cs typeface="Times New Roman" pitchFamily="18" charset="0"/>
              </a:rPr>
              <a:t>Симметричные протоколы лежат в основе большинства систем аутентификации и защищённой передачи данных.</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8ECC1301-DE66-4CDA-81DE-A914792F0A66}" type="slidenum">
              <a:rPr lang="ru-RU" smtClean="0"/>
              <a:pPr/>
              <a:t>37</a:t>
            </a:fld>
            <a:endParaRPr lang="ru-RU"/>
          </a:p>
        </p:txBody>
      </p:sp>
      <p:pic>
        <p:nvPicPr>
          <p:cNvPr id="91138" name="Picture 2"/>
          <p:cNvPicPr>
            <a:picLocks noGrp="1" noChangeAspect="1" noChangeArrowheads="1"/>
          </p:cNvPicPr>
          <p:nvPr>
            <p:ph idx="1"/>
          </p:nvPr>
        </p:nvPicPr>
        <p:blipFill>
          <a:blip r:embed="rId2" cstate="print"/>
          <a:srcRect/>
          <a:stretch>
            <a:fillRect/>
          </a:stretch>
        </p:blipFill>
        <p:spPr bwMode="auto">
          <a:xfrm>
            <a:off x="251520" y="188640"/>
            <a:ext cx="8712968" cy="6408712"/>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572F88B4-B3E3-7CC6-7A73-A670C0FAB399}"/>
              </a:ext>
            </a:extLst>
          </p:cNvPr>
          <p:cNvSpPr txBox="1">
            <a:spLocks/>
          </p:cNvSpPr>
          <p:nvPr/>
        </p:nvSpPr>
        <p:spPr>
          <a:xfrm>
            <a:off x="457200" y="418654"/>
            <a:ext cx="8229600" cy="70609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14350" indent="-514350"/>
            <a:r>
              <a:rPr lang="ru-RU" sz="2800" b="1" dirty="0">
                <a:latin typeface="Times New Roman" pitchFamily="18" charset="0"/>
                <a:cs typeface="Times New Roman" pitchFamily="18" charset="0"/>
              </a:rPr>
              <a:t>4. Основные принципы протоколов на основе симметричного шифрования</a:t>
            </a:r>
          </a:p>
        </p:txBody>
      </p:sp>
      <p:sp>
        <p:nvSpPr>
          <p:cNvPr id="5" name="Номер слайда 4"/>
          <p:cNvSpPr>
            <a:spLocks noGrp="1"/>
          </p:cNvSpPr>
          <p:nvPr>
            <p:ph type="sldNum" sz="quarter" idx="12"/>
          </p:nvPr>
        </p:nvSpPr>
        <p:spPr/>
        <p:txBody>
          <a:bodyPr/>
          <a:lstStyle/>
          <a:p>
            <a:fld id="{8ECC1301-DE66-4CDA-81DE-A914792F0A66}" type="slidenum">
              <a:rPr lang="ru-RU" smtClean="0"/>
              <a:pPr/>
              <a:t>38</a:t>
            </a:fld>
            <a:endParaRPr lang="ru-RU"/>
          </a:p>
        </p:txBody>
      </p:sp>
      <p:sp>
        <p:nvSpPr>
          <p:cNvPr id="3" name="TextBox 2">
            <a:extLst>
              <a:ext uri="{FF2B5EF4-FFF2-40B4-BE49-F238E27FC236}">
                <a16:creationId xmlns:a16="http://schemas.microsoft.com/office/drawing/2014/main" id="{F38A3663-22F2-C164-78AE-501F7DB23815}"/>
              </a:ext>
            </a:extLst>
          </p:cNvPr>
          <p:cNvSpPr txBox="1"/>
          <p:nvPr/>
        </p:nvSpPr>
        <p:spPr>
          <a:xfrm>
            <a:off x="534380" y="1349023"/>
            <a:ext cx="8075240" cy="4832092"/>
          </a:xfrm>
          <a:prstGeom prst="rect">
            <a:avLst/>
          </a:prstGeom>
          <a:noFill/>
        </p:spPr>
        <p:txBody>
          <a:bodyPr wrap="square">
            <a:spAutoFit/>
          </a:bodyPr>
          <a:lstStyle/>
          <a:p>
            <a:pPr marL="457200" indent="-457200" algn="just">
              <a:buFont typeface="Arial" panose="020B0604020202020204" pitchFamily="34" charset="0"/>
              <a:buChar char="•"/>
            </a:pPr>
            <a:r>
              <a:rPr lang="ru-RU" sz="2800" dirty="0">
                <a:latin typeface="Times New Roman" pitchFamily="18" charset="0"/>
                <a:cs typeface="Times New Roman" pitchFamily="18" charset="0"/>
              </a:rPr>
              <a:t>Стороны заранее имеют общий секретный ключ </a:t>
            </a:r>
            <a:r>
              <a:rPr lang="en" sz="2800" dirty="0">
                <a:latin typeface="Times New Roman" pitchFamily="18" charset="0"/>
                <a:cs typeface="Times New Roman" pitchFamily="18" charset="0"/>
              </a:rPr>
              <a:t>K.</a:t>
            </a:r>
            <a:endParaRPr lang="en-US" sz="2800" dirty="0">
              <a:latin typeface="Times New Roman" pitchFamily="18" charset="0"/>
              <a:cs typeface="Times New Roman" pitchFamily="18" charset="0"/>
            </a:endParaRPr>
          </a:p>
          <a:p>
            <a:pPr marL="457200" indent="-457200" algn="just">
              <a:buFont typeface="Arial" panose="020B0604020202020204" pitchFamily="34" charset="0"/>
              <a:buChar char="•"/>
            </a:pPr>
            <a:r>
              <a:rPr lang="ru-RU" sz="2800" dirty="0">
                <a:latin typeface="Times New Roman" pitchFamily="18" charset="0"/>
                <a:cs typeface="Times New Roman" pitchFamily="18" charset="0"/>
              </a:rPr>
              <a:t>Все криптографические операции выполняются с его использованием.</a:t>
            </a:r>
          </a:p>
          <a:p>
            <a:pPr marL="457200" indent="-457200" algn="just">
              <a:buFont typeface="Arial" panose="020B0604020202020204" pitchFamily="34" charset="0"/>
              <a:buChar char="•"/>
            </a:pPr>
            <a:r>
              <a:rPr lang="ru-RU" sz="2800" dirty="0">
                <a:latin typeface="Times New Roman" pitchFamily="18" charset="0"/>
                <a:cs typeface="Times New Roman" pitchFamily="18" charset="0"/>
              </a:rPr>
              <a:t>Ключ должен оставаться в секрете и регулярно обновляться.</a:t>
            </a:r>
          </a:p>
          <a:p>
            <a:pPr indent="355600" algn="just"/>
            <a:r>
              <a:rPr lang="ru-RU" sz="2800" dirty="0">
                <a:latin typeface="Times New Roman" pitchFamily="18" charset="0"/>
                <a:cs typeface="Times New Roman" pitchFamily="18" charset="0"/>
              </a:rPr>
              <a:t>Безопасность симметричного протокола зависит не только от алгоритма (</a:t>
            </a:r>
            <a:r>
              <a:rPr lang="en" sz="2800" dirty="0">
                <a:latin typeface="Times New Roman" pitchFamily="18" charset="0"/>
                <a:cs typeface="Times New Roman" pitchFamily="18" charset="0"/>
              </a:rPr>
              <a:t>AES, </a:t>
            </a:r>
            <a:r>
              <a:rPr lang="ru-RU" sz="2800" dirty="0">
                <a:latin typeface="Times New Roman" pitchFamily="18" charset="0"/>
                <a:cs typeface="Times New Roman" pitchFamily="18" charset="0"/>
              </a:rPr>
              <a:t>ГОСТ),</a:t>
            </a:r>
            <a:br>
              <a:rPr lang="ru-RU" sz="2800" dirty="0">
                <a:latin typeface="Times New Roman" pitchFamily="18" charset="0"/>
                <a:cs typeface="Times New Roman" pitchFamily="18" charset="0"/>
              </a:rPr>
            </a:br>
            <a:r>
              <a:rPr lang="ru-RU" sz="2800" dirty="0">
                <a:latin typeface="Times New Roman" pitchFamily="18" charset="0"/>
                <a:cs typeface="Times New Roman" pitchFamily="18" charset="0"/>
              </a:rPr>
              <a:t>но и от правильной организации обмена: проверок, временных меток и защиты от повторов сообщений.</a:t>
            </a:r>
          </a:p>
        </p:txBody>
      </p:sp>
    </p:spTree>
    <p:extLst>
      <p:ext uri="{BB962C8B-B14F-4D97-AF65-F5344CB8AC3E}">
        <p14:creationId xmlns:p14="http://schemas.microsoft.com/office/powerpoint/2010/main" val="2567570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8ECC1301-DE66-4CDA-81DE-A914792F0A66}" type="slidenum">
              <a:rPr lang="ru-RU" smtClean="0"/>
              <a:pPr/>
              <a:t>39</a:t>
            </a:fld>
            <a:endParaRPr lang="ru-RU"/>
          </a:p>
        </p:txBody>
      </p:sp>
      <p:sp>
        <p:nvSpPr>
          <p:cNvPr id="3" name="TextBox 2">
            <a:extLst>
              <a:ext uri="{FF2B5EF4-FFF2-40B4-BE49-F238E27FC236}">
                <a16:creationId xmlns:a16="http://schemas.microsoft.com/office/drawing/2014/main" id="{4DF172FB-43CF-D091-1528-E592621DEC11}"/>
              </a:ext>
            </a:extLst>
          </p:cNvPr>
          <p:cNvSpPr txBox="1"/>
          <p:nvPr/>
        </p:nvSpPr>
        <p:spPr>
          <a:xfrm>
            <a:off x="179512" y="404664"/>
            <a:ext cx="8712968" cy="5047536"/>
          </a:xfrm>
          <a:prstGeom prst="rect">
            <a:avLst/>
          </a:prstGeom>
          <a:noFill/>
        </p:spPr>
        <p:txBody>
          <a:bodyPr wrap="square">
            <a:spAutoFit/>
          </a:bodyPr>
          <a:lstStyle/>
          <a:p>
            <a:pPr algn="ctr">
              <a:lnSpc>
                <a:spcPct val="150000"/>
              </a:lnSpc>
            </a:pPr>
            <a:r>
              <a:rPr lang="ru-RU" sz="2800" b="1" dirty="0">
                <a:latin typeface="Times New Roman" pitchFamily="18" charset="0"/>
                <a:cs typeface="Times New Roman" pitchFamily="18" charset="0"/>
              </a:rPr>
              <a:t>Типы протоколов</a:t>
            </a:r>
          </a:p>
          <a:p>
            <a:pPr indent="355600" algn="just"/>
            <a:r>
              <a:rPr lang="ru-RU" sz="2800" dirty="0">
                <a:latin typeface="Times New Roman" pitchFamily="18" charset="0"/>
                <a:cs typeface="Times New Roman" pitchFamily="18" charset="0"/>
              </a:rPr>
              <a:t>1</a:t>
            </a:r>
            <a:r>
              <a:rPr lang="ru-RU" sz="2800" b="1" dirty="0">
                <a:latin typeface="Times New Roman" pitchFamily="18" charset="0"/>
                <a:cs typeface="Times New Roman" pitchFamily="18" charset="0"/>
              </a:rPr>
              <a:t>. </a:t>
            </a:r>
            <a:r>
              <a:rPr lang="ru-RU" sz="2800" dirty="0">
                <a:latin typeface="Times New Roman" pitchFamily="18" charset="0"/>
                <a:cs typeface="Times New Roman" pitchFamily="18" charset="0"/>
              </a:rPr>
              <a:t>Протоколы аутентификации – доказывают подлинность участника (например, по знанию ключа).</a:t>
            </a:r>
          </a:p>
          <a:p>
            <a:pPr indent="355600" algn="just"/>
            <a:r>
              <a:rPr lang="ru-RU" sz="2800" dirty="0">
                <a:latin typeface="Times New Roman" pitchFamily="18" charset="0"/>
                <a:cs typeface="Times New Roman" pitchFamily="18" charset="0"/>
              </a:rPr>
              <a:t>2. Протоколы установления сеансового ключа – создают временные ключи для конкретного соединения.</a:t>
            </a:r>
          </a:p>
          <a:p>
            <a:pPr indent="355600" algn="just"/>
            <a:r>
              <a:rPr lang="ru-RU" sz="2800" dirty="0">
                <a:latin typeface="Times New Roman" pitchFamily="18" charset="0"/>
                <a:cs typeface="Times New Roman" pitchFamily="18" charset="0"/>
              </a:rPr>
              <a:t>3. Протоколы обмена сообщениями – обеспечивают конфиденциальность и целостность с помощью </a:t>
            </a:r>
            <a:r>
              <a:rPr lang="en" sz="2800" dirty="0">
                <a:latin typeface="Times New Roman" pitchFamily="18" charset="0"/>
                <a:cs typeface="Times New Roman" pitchFamily="18" charset="0"/>
              </a:rPr>
              <a:t>HMAC.</a:t>
            </a:r>
            <a:endParaRPr lang="ru-RU" sz="2800" dirty="0">
              <a:latin typeface="Times New Roman" pitchFamily="18" charset="0"/>
              <a:cs typeface="Times New Roman" pitchFamily="18" charset="0"/>
            </a:endParaRPr>
          </a:p>
          <a:p>
            <a:pPr indent="355600" algn="just"/>
            <a:r>
              <a:rPr lang="en" sz="2800" dirty="0">
                <a:latin typeface="Times New Roman" pitchFamily="18" charset="0"/>
                <a:cs typeface="Times New Roman" pitchFamily="18" charset="0"/>
              </a:rPr>
              <a:t>4</a:t>
            </a:r>
            <a:r>
              <a:rPr lang="ru-RU" sz="2800" dirty="0">
                <a:latin typeface="Times New Roman" pitchFamily="18" charset="0"/>
                <a:cs typeface="Times New Roman" pitchFamily="18" charset="0"/>
              </a:rPr>
              <a:t>. Протоколы с метками времени и случайными числами (</a:t>
            </a:r>
            <a:r>
              <a:rPr lang="en" sz="2800" dirty="0">
                <a:latin typeface="Times New Roman" pitchFamily="18" charset="0"/>
                <a:cs typeface="Times New Roman" pitchFamily="18" charset="0"/>
              </a:rPr>
              <a:t>nonce) </a:t>
            </a:r>
            <a:r>
              <a:rPr lang="ru-RU" sz="2800" dirty="0">
                <a:latin typeface="Times New Roman" pitchFamily="18" charset="0"/>
                <a:cs typeface="Times New Roman" pitchFamily="18" charset="0"/>
              </a:rPr>
              <a:t>–</a:t>
            </a:r>
            <a:r>
              <a:rPr lang="en" sz="2800" dirty="0">
                <a:latin typeface="Times New Roman" pitchFamily="18" charset="0"/>
                <a:cs typeface="Times New Roman" pitchFamily="18" charset="0"/>
              </a:rPr>
              <a:t> </a:t>
            </a:r>
            <a:r>
              <a:rPr lang="ru-RU" sz="2800" dirty="0">
                <a:latin typeface="Times New Roman" pitchFamily="18" charset="0"/>
                <a:cs typeface="Times New Roman" pitchFamily="18" charset="0"/>
              </a:rPr>
              <a:t>предотвращают повтор атак (</a:t>
            </a:r>
            <a:r>
              <a:rPr lang="en" sz="2800" dirty="0">
                <a:latin typeface="Times New Roman" pitchFamily="18" charset="0"/>
                <a:cs typeface="Times New Roman" pitchFamily="18" charset="0"/>
              </a:rPr>
              <a:t>replay attack).</a:t>
            </a:r>
          </a:p>
        </p:txBody>
      </p:sp>
    </p:spTree>
    <p:extLst>
      <p:ext uri="{BB962C8B-B14F-4D97-AF65-F5344CB8AC3E}">
        <p14:creationId xmlns:p14="http://schemas.microsoft.com/office/powerpoint/2010/main" val="24094722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572F88B4-B3E3-7CC6-7A73-A670C0FAB399}"/>
              </a:ext>
            </a:extLst>
          </p:cNvPr>
          <p:cNvSpPr txBox="1">
            <a:spLocks/>
          </p:cNvSpPr>
          <p:nvPr/>
        </p:nvSpPr>
        <p:spPr>
          <a:xfrm>
            <a:off x="395536" y="404664"/>
            <a:ext cx="8229600" cy="70609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14350" indent="-514350"/>
            <a:r>
              <a:rPr lang="ru-RU" sz="2800" b="1" dirty="0">
                <a:latin typeface="Times New Roman" pitchFamily="18" charset="0"/>
                <a:cs typeface="Times New Roman" pitchFamily="18" charset="0"/>
              </a:rPr>
              <a:t>4. Протоколы на основе симметричного шифрования</a:t>
            </a:r>
          </a:p>
        </p:txBody>
      </p:sp>
      <p:sp>
        <p:nvSpPr>
          <p:cNvPr id="5" name="Номер слайда 4"/>
          <p:cNvSpPr>
            <a:spLocks noGrp="1"/>
          </p:cNvSpPr>
          <p:nvPr>
            <p:ph type="sldNum" sz="quarter" idx="12"/>
          </p:nvPr>
        </p:nvSpPr>
        <p:spPr/>
        <p:txBody>
          <a:bodyPr/>
          <a:lstStyle/>
          <a:p>
            <a:fld id="{8ECC1301-DE66-4CDA-81DE-A914792F0A66}" type="slidenum">
              <a:rPr lang="ru-RU" smtClean="0"/>
              <a:pPr/>
              <a:t>40</a:t>
            </a:fld>
            <a:endParaRPr lang="ru-RU"/>
          </a:p>
        </p:txBody>
      </p:sp>
      <p:sp>
        <p:nvSpPr>
          <p:cNvPr id="3" name="TextBox 2">
            <a:extLst>
              <a:ext uri="{FF2B5EF4-FFF2-40B4-BE49-F238E27FC236}">
                <a16:creationId xmlns:a16="http://schemas.microsoft.com/office/drawing/2014/main" id="{09241E2C-30B9-543B-9410-C31F52CE6E8B}"/>
              </a:ext>
            </a:extLst>
          </p:cNvPr>
          <p:cNvSpPr txBox="1"/>
          <p:nvPr/>
        </p:nvSpPr>
        <p:spPr>
          <a:xfrm>
            <a:off x="457200" y="1190357"/>
            <a:ext cx="8229600" cy="5262979"/>
          </a:xfrm>
          <a:prstGeom prst="rect">
            <a:avLst/>
          </a:prstGeom>
          <a:noFill/>
        </p:spPr>
        <p:txBody>
          <a:bodyPr wrap="square">
            <a:spAutoFit/>
          </a:bodyPr>
          <a:lstStyle/>
          <a:p>
            <a:pPr indent="355600" algn="just"/>
            <a:r>
              <a:rPr lang="ru-RU" sz="2800" dirty="0">
                <a:latin typeface="Times New Roman" pitchFamily="18" charset="0"/>
                <a:cs typeface="Times New Roman" pitchFamily="18" charset="0"/>
              </a:rPr>
              <a:t>Пример: схема «вызов–ответ» (</a:t>
            </a:r>
            <a:r>
              <a:rPr lang="en" sz="2800" dirty="0">
                <a:latin typeface="Times New Roman" pitchFamily="18" charset="0"/>
                <a:cs typeface="Times New Roman" pitchFamily="18" charset="0"/>
              </a:rPr>
              <a:t>Challenge–Response)</a:t>
            </a:r>
          </a:p>
          <a:p>
            <a:pPr marL="457200" indent="-457200" algn="just">
              <a:buFont typeface="Arial" panose="020B0604020202020204" pitchFamily="34" charset="0"/>
              <a:buChar char="•"/>
            </a:pPr>
            <a:r>
              <a:rPr lang="ru-RU" sz="2800" dirty="0">
                <a:latin typeface="Times New Roman" pitchFamily="18" charset="0"/>
                <a:cs typeface="Times New Roman" pitchFamily="18" charset="0"/>
              </a:rPr>
              <a:t>Сервер отправляет клиенту случайное значение – «вызов».</a:t>
            </a:r>
          </a:p>
          <a:p>
            <a:pPr marL="457200" indent="-457200" algn="just">
              <a:buFont typeface="Arial" panose="020B0604020202020204" pitchFamily="34" charset="0"/>
              <a:buChar char="•"/>
            </a:pPr>
            <a:r>
              <a:rPr lang="ru-RU" sz="2800" dirty="0">
                <a:latin typeface="Times New Roman" pitchFamily="18" charset="0"/>
                <a:cs typeface="Times New Roman" pitchFamily="18" charset="0"/>
              </a:rPr>
              <a:t>Клиент шифрует его с помощью общего ключа </a:t>
            </a:r>
            <a:r>
              <a:rPr lang="en" sz="2800" dirty="0">
                <a:latin typeface="Times New Roman" pitchFamily="18" charset="0"/>
                <a:cs typeface="Times New Roman" pitchFamily="18" charset="0"/>
              </a:rPr>
              <a:t>K </a:t>
            </a:r>
            <a:r>
              <a:rPr lang="ru-RU" sz="2800" dirty="0">
                <a:latin typeface="Times New Roman" pitchFamily="18" charset="0"/>
                <a:cs typeface="Times New Roman" pitchFamily="18" charset="0"/>
              </a:rPr>
              <a:t>и возвращает результат.</a:t>
            </a:r>
          </a:p>
          <a:p>
            <a:pPr marL="457200" indent="-457200" algn="just">
              <a:buFont typeface="Arial" panose="020B0604020202020204" pitchFamily="34" charset="0"/>
              <a:buChar char="•"/>
            </a:pPr>
            <a:r>
              <a:rPr lang="ru-RU" sz="2800" dirty="0">
                <a:latin typeface="Times New Roman" pitchFamily="18" charset="0"/>
                <a:cs typeface="Times New Roman" pitchFamily="18" charset="0"/>
              </a:rPr>
              <a:t>Сервер выполняет то же шифрование и сравнивает ответы.</a:t>
            </a:r>
          </a:p>
          <a:p>
            <a:pPr indent="355600" algn="just"/>
            <a:r>
              <a:rPr lang="ru-RU" sz="2800" dirty="0">
                <a:latin typeface="Times New Roman" pitchFamily="18" charset="0"/>
                <a:cs typeface="Times New Roman" pitchFamily="18" charset="0"/>
              </a:rPr>
              <a:t>Если совпадает – клиент подтверждает знание ключа, не раскрывая его.</a:t>
            </a:r>
          </a:p>
          <a:p>
            <a:pPr indent="355600" algn="just"/>
            <a:r>
              <a:rPr lang="ru-RU" sz="2800" dirty="0">
                <a:latin typeface="Times New Roman" pitchFamily="18" charset="0"/>
                <a:cs typeface="Times New Roman" pitchFamily="18" charset="0"/>
              </a:rPr>
              <a:t>Подобные схемы используются в </a:t>
            </a:r>
            <a:r>
              <a:rPr lang="en" sz="2800" dirty="0">
                <a:latin typeface="Times New Roman" pitchFamily="18" charset="0"/>
                <a:cs typeface="Times New Roman" pitchFamily="18" charset="0"/>
              </a:rPr>
              <a:t>Kerberos, RADIUS, MS-CHAP </a:t>
            </a:r>
            <a:r>
              <a:rPr lang="ru-RU" sz="2800" dirty="0">
                <a:latin typeface="Times New Roman" pitchFamily="18" charset="0"/>
                <a:cs typeface="Times New Roman" pitchFamily="18" charset="0"/>
              </a:rPr>
              <a:t>и других системах.</a:t>
            </a:r>
          </a:p>
        </p:txBody>
      </p:sp>
    </p:spTree>
    <p:extLst>
      <p:ext uri="{BB962C8B-B14F-4D97-AF65-F5344CB8AC3E}">
        <p14:creationId xmlns:p14="http://schemas.microsoft.com/office/powerpoint/2010/main" val="22582491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572F88B4-B3E3-7CC6-7A73-A670C0FAB399}"/>
              </a:ext>
            </a:extLst>
          </p:cNvPr>
          <p:cNvSpPr txBox="1">
            <a:spLocks/>
          </p:cNvSpPr>
          <p:nvPr/>
        </p:nvSpPr>
        <p:spPr>
          <a:xfrm>
            <a:off x="457200" y="58614"/>
            <a:ext cx="8229600" cy="706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14350" indent="-514350"/>
            <a:r>
              <a:rPr lang="ru-RU" sz="2800" b="1" dirty="0">
                <a:latin typeface="Times New Roman" pitchFamily="18" charset="0"/>
                <a:cs typeface="Times New Roman" pitchFamily="18" charset="0"/>
              </a:rPr>
              <a:t>4. Преимущества и ограничения</a:t>
            </a:r>
          </a:p>
        </p:txBody>
      </p:sp>
      <p:sp>
        <p:nvSpPr>
          <p:cNvPr id="5" name="Номер слайда 4"/>
          <p:cNvSpPr>
            <a:spLocks noGrp="1"/>
          </p:cNvSpPr>
          <p:nvPr>
            <p:ph type="sldNum" sz="quarter" idx="12"/>
          </p:nvPr>
        </p:nvSpPr>
        <p:spPr/>
        <p:txBody>
          <a:bodyPr/>
          <a:lstStyle/>
          <a:p>
            <a:fld id="{8ECC1301-DE66-4CDA-81DE-A914792F0A66}" type="slidenum">
              <a:rPr lang="ru-RU" smtClean="0"/>
              <a:pPr/>
              <a:t>41</a:t>
            </a:fld>
            <a:endParaRPr lang="ru-RU"/>
          </a:p>
        </p:txBody>
      </p:sp>
      <p:sp>
        <p:nvSpPr>
          <p:cNvPr id="6" name="TextBox 5">
            <a:extLst>
              <a:ext uri="{FF2B5EF4-FFF2-40B4-BE49-F238E27FC236}">
                <a16:creationId xmlns:a16="http://schemas.microsoft.com/office/drawing/2014/main" id="{EE97E757-EDF7-02E8-6380-DDACC6685451}"/>
              </a:ext>
            </a:extLst>
          </p:cNvPr>
          <p:cNvSpPr txBox="1"/>
          <p:nvPr/>
        </p:nvSpPr>
        <p:spPr>
          <a:xfrm>
            <a:off x="323528" y="764704"/>
            <a:ext cx="8568952" cy="4832092"/>
          </a:xfrm>
          <a:prstGeom prst="rect">
            <a:avLst/>
          </a:prstGeom>
          <a:noFill/>
        </p:spPr>
        <p:txBody>
          <a:bodyPr wrap="square">
            <a:spAutoFit/>
          </a:bodyPr>
          <a:lstStyle/>
          <a:p>
            <a:pPr algn="just"/>
            <a:r>
              <a:rPr lang="ru-RU" sz="2800" u="sng" dirty="0">
                <a:latin typeface="Times New Roman" pitchFamily="18" charset="0"/>
                <a:cs typeface="Times New Roman" pitchFamily="18" charset="0"/>
              </a:rPr>
              <a:t>✅</a:t>
            </a:r>
            <a:r>
              <a:rPr lang="ru-RU" sz="2800" b="1" u="sng" dirty="0">
                <a:latin typeface="Times New Roman" pitchFamily="18" charset="0"/>
                <a:cs typeface="Times New Roman" pitchFamily="18" charset="0"/>
              </a:rPr>
              <a:t>Преимущества:</a:t>
            </a:r>
            <a:br>
              <a:rPr lang="ru-RU" sz="2800" dirty="0">
                <a:latin typeface="Times New Roman" pitchFamily="18" charset="0"/>
                <a:cs typeface="Times New Roman" pitchFamily="18" charset="0"/>
              </a:rPr>
            </a:br>
            <a:r>
              <a:rPr lang="ru-RU" sz="2800" dirty="0">
                <a:latin typeface="Times New Roman" pitchFamily="18" charset="0"/>
                <a:cs typeface="Times New Roman" pitchFamily="18" charset="0"/>
              </a:rPr>
              <a:t>– высокая скорость (операции с симметричными ключами значительно быстрее </a:t>
            </a:r>
            <a:r>
              <a:rPr lang="en" sz="2800" dirty="0">
                <a:latin typeface="Times New Roman" pitchFamily="18" charset="0"/>
                <a:cs typeface="Times New Roman" pitchFamily="18" charset="0"/>
              </a:rPr>
              <a:t>RSA </a:t>
            </a:r>
            <a:r>
              <a:rPr lang="ru-RU" sz="2800" dirty="0">
                <a:latin typeface="Times New Roman" pitchFamily="18" charset="0"/>
                <a:cs typeface="Times New Roman" pitchFamily="18" charset="0"/>
              </a:rPr>
              <a:t>или </a:t>
            </a:r>
            <a:r>
              <a:rPr lang="en" sz="2800" dirty="0">
                <a:latin typeface="Times New Roman" pitchFamily="18" charset="0"/>
                <a:cs typeface="Times New Roman" pitchFamily="18" charset="0"/>
              </a:rPr>
              <a:t>ECC);</a:t>
            </a:r>
            <a:br>
              <a:rPr lang="en" sz="2800" dirty="0">
                <a:latin typeface="Times New Roman" pitchFamily="18" charset="0"/>
                <a:cs typeface="Times New Roman" pitchFamily="18" charset="0"/>
              </a:rPr>
            </a:br>
            <a:r>
              <a:rPr lang="en" sz="2800" dirty="0">
                <a:latin typeface="Times New Roman" pitchFamily="18" charset="0"/>
                <a:cs typeface="Times New Roman" pitchFamily="18" charset="0"/>
              </a:rPr>
              <a:t>– </a:t>
            </a:r>
            <a:r>
              <a:rPr lang="ru-RU" sz="2800" dirty="0">
                <a:latin typeface="Times New Roman" pitchFamily="18" charset="0"/>
                <a:cs typeface="Times New Roman" pitchFamily="18" charset="0"/>
              </a:rPr>
              <a:t>простота реализации и минимальные вычислительные затраты.</a:t>
            </a:r>
          </a:p>
          <a:p>
            <a:pPr algn="just"/>
            <a:r>
              <a:rPr lang="ru-RU" sz="2800" b="1" u="sng" dirty="0">
                <a:latin typeface="Times New Roman" pitchFamily="18" charset="0"/>
                <a:cs typeface="Times New Roman" pitchFamily="18" charset="0"/>
              </a:rPr>
              <a:t>❌Ограничения:</a:t>
            </a:r>
            <a:br>
              <a:rPr lang="ru-RU" sz="2800" dirty="0">
                <a:latin typeface="Times New Roman" pitchFamily="18" charset="0"/>
                <a:cs typeface="Times New Roman" pitchFamily="18" charset="0"/>
              </a:rPr>
            </a:br>
            <a:r>
              <a:rPr lang="ru-RU" sz="2800" dirty="0">
                <a:latin typeface="Times New Roman" pitchFamily="18" charset="0"/>
                <a:cs typeface="Times New Roman" pitchFamily="18" charset="0"/>
              </a:rPr>
              <a:t>– требует надёжного способа распределения ключей;</a:t>
            </a:r>
            <a:br>
              <a:rPr lang="ru-RU" sz="2800" dirty="0">
                <a:latin typeface="Times New Roman" pitchFamily="18" charset="0"/>
                <a:cs typeface="Times New Roman" pitchFamily="18" charset="0"/>
              </a:rPr>
            </a:br>
            <a:r>
              <a:rPr lang="ru-RU" sz="2800" dirty="0">
                <a:latin typeface="Times New Roman" pitchFamily="18" charset="0"/>
                <a:cs typeface="Times New Roman" pitchFamily="18" charset="0"/>
              </a:rPr>
              <a:t>– не обеспечивает </a:t>
            </a:r>
            <a:r>
              <a:rPr lang="ru-RU" sz="2800" dirty="0" err="1">
                <a:latin typeface="Times New Roman" pitchFamily="18" charset="0"/>
                <a:cs typeface="Times New Roman" pitchFamily="18" charset="0"/>
              </a:rPr>
              <a:t>неотказуемости</a:t>
            </a:r>
            <a:r>
              <a:rPr lang="ru-RU" sz="2800" dirty="0">
                <a:latin typeface="Times New Roman" pitchFamily="18" charset="0"/>
                <a:cs typeface="Times New Roman" pitchFamily="18" charset="0"/>
              </a:rPr>
              <a:t> (участник может отрицать факт отправки).</a:t>
            </a:r>
          </a:p>
          <a:p>
            <a:pPr indent="355600" algn="just"/>
            <a:r>
              <a:rPr lang="ru-RU" sz="2800" dirty="0">
                <a:latin typeface="Times New Roman" pitchFamily="18" charset="0"/>
                <a:cs typeface="Times New Roman" pitchFamily="18" charset="0"/>
              </a:rPr>
              <a:t>Поэтому симметричные протоколы часто комбинируются с асимметричными – например, в </a:t>
            </a:r>
            <a:r>
              <a:rPr lang="en" sz="2800" dirty="0">
                <a:latin typeface="Times New Roman" pitchFamily="18" charset="0"/>
                <a:cs typeface="Times New Roman" pitchFamily="18" charset="0"/>
              </a:rPr>
              <a:t>TLS.</a:t>
            </a:r>
          </a:p>
        </p:txBody>
      </p:sp>
    </p:spTree>
    <p:extLst>
      <p:ext uri="{BB962C8B-B14F-4D97-AF65-F5344CB8AC3E}">
        <p14:creationId xmlns:p14="http://schemas.microsoft.com/office/powerpoint/2010/main" val="40936565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8ECC1301-DE66-4CDA-81DE-A914792F0A66}" type="slidenum">
              <a:rPr lang="ru-RU" smtClean="0"/>
              <a:pPr/>
              <a:t>42</a:t>
            </a:fld>
            <a:endParaRPr lang="ru-RU"/>
          </a:p>
        </p:txBody>
      </p:sp>
      <p:pic>
        <p:nvPicPr>
          <p:cNvPr id="49154" name="Picture 2" descr="Picture background"/>
          <p:cNvPicPr>
            <a:picLocks noChangeAspect="1" noChangeArrowheads="1"/>
          </p:cNvPicPr>
          <p:nvPr/>
        </p:nvPicPr>
        <p:blipFill>
          <a:blip r:embed="rId2" cstate="print"/>
          <a:srcRect/>
          <a:stretch>
            <a:fillRect/>
          </a:stretch>
        </p:blipFill>
        <p:spPr bwMode="auto">
          <a:xfrm>
            <a:off x="576448" y="836712"/>
            <a:ext cx="8028000" cy="5616624"/>
          </a:xfrm>
          <a:prstGeom prst="rect">
            <a:avLst/>
          </a:prstGeom>
          <a:noFill/>
        </p:spPr>
      </p:pic>
      <p:sp>
        <p:nvSpPr>
          <p:cNvPr id="5" name="Заголовок 1">
            <a:extLst>
              <a:ext uri="{FF2B5EF4-FFF2-40B4-BE49-F238E27FC236}">
                <a16:creationId xmlns:a16="http://schemas.microsoft.com/office/drawing/2014/main" id="{572F88B4-B3E3-7CC6-7A73-A670C0FAB399}"/>
              </a:ext>
            </a:extLst>
          </p:cNvPr>
          <p:cNvSpPr txBox="1">
            <a:spLocks/>
          </p:cNvSpPr>
          <p:nvPr/>
        </p:nvSpPr>
        <p:spPr>
          <a:xfrm>
            <a:off x="457200" y="58614"/>
            <a:ext cx="8229600" cy="706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14350" indent="-514350"/>
            <a:r>
              <a:rPr lang="ru-RU" sz="2800" b="1" dirty="0">
                <a:latin typeface="Times New Roman" pitchFamily="18" charset="0"/>
                <a:cs typeface="Times New Roman" pitchFamily="18" charset="0"/>
              </a:rPr>
              <a:t>4. Классификация протоколов</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8ECC1301-DE66-4CDA-81DE-A914792F0A66}" type="slidenum">
              <a:rPr lang="ru-RU" smtClean="0"/>
              <a:pPr/>
              <a:t>43</a:t>
            </a:fld>
            <a:endParaRPr lang="ru-RU"/>
          </a:p>
        </p:txBody>
      </p:sp>
      <p:pic>
        <p:nvPicPr>
          <p:cNvPr id="102402" name="Picture 2" descr="Picture background"/>
          <p:cNvPicPr>
            <a:picLocks noChangeAspect="1" noChangeArrowheads="1"/>
          </p:cNvPicPr>
          <p:nvPr/>
        </p:nvPicPr>
        <p:blipFill>
          <a:blip r:embed="rId2" cstate="print"/>
          <a:srcRect/>
          <a:stretch>
            <a:fillRect/>
          </a:stretch>
        </p:blipFill>
        <p:spPr bwMode="auto">
          <a:xfrm>
            <a:off x="179512" y="123725"/>
            <a:ext cx="8823522" cy="6617643"/>
          </a:xfrm>
          <a:prstGeom prst="rect">
            <a:avLst/>
          </a:prstGeom>
          <a:noFill/>
        </p:spPr>
      </p:pic>
    </p:spTree>
  </p:cSld>
  <p:clrMapOvr>
    <a:masterClrMapping/>
  </p:clrMapOvr>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1271</TotalTime>
  <Words>2740</Words>
  <Application>Microsoft Macintosh PowerPoint</Application>
  <PresentationFormat>Экран (4:3)</PresentationFormat>
  <Paragraphs>258</Paragraphs>
  <Slides>43</Slides>
  <Notes>30</Notes>
  <HiddenSlides>3</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43</vt:i4>
      </vt:variant>
    </vt:vector>
  </HeadingPairs>
  <TitlesOfParts>
    <vt:vector size="48" baseType="lpstr">
      <vt:lpstr>Arial</vt:lpstr>
      <vt:lpstr>Calibri</vt:lpstr>
      <vt:lpstr>Times New Roman</vt:lpstr>
      <vt:lpstr>YS Text</vt:lpstr>
      <vt:lpstr>Тема Office</vt:lpstr>
      <vt:lpstr>Реализация криптографических алгоритмов в ИС</vt:lpstr>
      <vt:lpstr>Содержание лекции</vt:lpstr>
      <vt:lpstr>Лекция 4 Симметричное шифрование и аутентификация </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1. Симметричные алгоритмы шифрования. Блочные шифры.</vt:lpstr>
      <vt:lpstr>Лекция 4 Симметричное шифрование и аутентификация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Лекция 4 Симметричное шифрование и аутентификация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Лекция 4 Симметричное шифрование и аутентификация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Реализация криптографических алгоритмов в ИС</dc:title>
  <dc:creator>Ольга</dc:creator>
  <cp:lastModifiedBy>Microsoft Office User</cp:lastModifiedBy>
  <cp:revision>175</cp:revision>
  <dcterms:created xsi:type="dcterms:W3CDTF">2025-09-10T22:06:03Z</dcterms:created>
  <dcterms:modified xsi:type="dcterms:W3CDTF">2025-12-20T21:21:05Z</dcterms:modified>
</cp:coreProperties>
</file>