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7" r:id="rId5"/>
    <p:sldId id="367" r:id="rId6"/>
    <p:sldId id="354" r:id="rId7"/>
    <p:sldId id="321" r:id="rId8"/>
    <p:sldId id="356" r:id="rId9"/>
    <p:sldId id="357" r:id="rId10"/>
    <p:sldId id="359" r:id="rId11"/>
    <p:sldId id="360" r:id="rId12"/>
    <p:sldId id="358" r:id="rId13"/>
    <p:sldId id="364" r:id="rId14"/>
    <p:sldId id="365" r:id="rId15"/>
    <p:sldId id="368" r:id="rId16"/>
    <p:sldId id="363" r:id="rId17"/>
    <p:sldId id="366" r:id="rId18"/>
    <p:sldId id="369" r:id="rId19"/>
    <p:sldId id="372" r:id="rId20"/>
    <p:sldId id="355" r:id="rId21"/>
    <p:sldId id="329" r:id="rId22"/>
    <p:sldId id="373" r:id="rId23"/>
    <p:sldId id="375" r:id="rId24"/>
    <p:sldId id="374" r:id="rId25"/>
    <p:sldId id="376" r:id="rId26"/>
    <p:sldId id="377" r:id="rId27"/>
    <p:sldId id="378" r:id="rId28"/>
    <p:sldId id="362" r:id="rId29"/>
    <p:sldId id="381" r:id="rId30"/>
    <p:sldId id="380" r:id="rId31"/>
    <p:sldId id="306" r:id="rId32"/>
    <p:sldId id="330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603" autoAdjust="0"/>
  </p:normalViewPr>
  <p:slideViewPr>
    <p:cSldViewPr>
      <p:cViewPr varScale="1">
        <p:scale>
          <a:sx n="64" d="100"/>
          <a:sy n="64" d="100"/>
        </p:scale>
        <p:origin x="-1901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A4CCB-2AB7-4470-8669-B08666E49AEC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C31F-0D34-4ACC-A799-447BDFD53FC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4760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7627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Диффи</a:t>
            </a:r>
            <a:r>
              <a:rPr lang="ru-RU" dirty="0" smtClean="0"/>
              <a:t> и </a:t>
            </a:r>
            <a:r>
              <a:rPr lang="ru-RU" dirty="0" err="1" smtClean="0"/>
              <a:t>Хеллман</a:t>
            </a:r>
            <a:r>
              <a:rPr lang="ru-RU" dirty="0" smtClean="0"/>
              <a:t> достигли значительных результатов, предложив способ решения обеих задач,</a:t>
            </a:r>
            <a:r>
              <a:rPr lang="en-US" dirty="0" smtClean="0"/>
              <a:t> </a:t>
            </a:r>
            <a:r>
              <a:rPr lang="ru-RU" dirty="0" smtClean="0"/>
              <a:t>который радикально отличается от всех предыдущих подходов к шифрованию.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indent="447675"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Таким образом, говорят, что алгоритм принадлежит классу полиномиальных алгоритмов Р. </a:t>
            </a:r>
          </a:p>
          <a:p>
            <a:pPr indent="447675"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Термин "трудно" означает более сложное понятие. В общем случае будем считать, что проблему решить невозможно, если усилия для ее решения больше</a:t>
            </a:r>
          </a:p>
          <a:p>
            <a:pPr indent="447675"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полиномиального времени от величины входа. Например, если длина входа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битов, и время вычисления функции пропорционально 2n, то это считается вычислительно невозможной задачей. </a:t>
            </a:r>
          </a:p>
          <a:p>
            <a:pPr indent="447675" algn="just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Аналогия: легко</a:t>
            </a:r>
            <a:r>
              <a:rPr lang="ru-RU" sz="1200" b="1" baseline="0" dirty="0" smtClean="0">
                <a:latin typeface="Times New Roman" pitchFamily="18" charset="0"/>
                <a:cs typeface="Times New Roman" pitchFamily="18" charset="0"/>
              </a:rPr>
              <a:t> влить кофе в молоко, трудно извлечь его обратно!</a:t>
            </a:r>
            <a:endParaRPr lang="ru-RU" sz="1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Разработка конкретного алгоритма с открытым ключом зависит от открытия соответствующей односторонней функции с люком.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Как и в случае симметричного шифрования, алгоритм шифрования с открытым ключом уязвим для лобовой атаки. Контрмера стандартная: использовать большие ключи.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Проще говоря, это набор правил и соглашений, которые позволяют нескольким участникам, которые не доверяют друг другу, безопасно взаимодействовать через небезопасный канал связи для достижения общей цели.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DD3C4-4D9F-471F-B8D8-ADC33A2F85A1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98BF-76AC-42C3-8654-9F1F206953FA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EE70-87C5-41CC-82DC-8C76FDCDCB7E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6633-259D-4EC8-884E-C2567AD985AA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EBE9-DC5A-42FC-A422-9CBA4D69C029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991C-9657-48E4-960B-5974F82BD171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673-70A8-4FFF-9AF4-4EC3D77B7B28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0B48-85CB-43FB-A2EB-BA5EDA8A1B0E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C9CB-2F51-4A77-B020-C5AAC41DE8AE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BDCB-15E2-4DB5-85E9-91A0C1B54F67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1AE0-7255-4FA6-AAAC-B0EE4F1C7F01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0EF9D-BDD6-43C3-8A2E-7175C2EEB663}" type="datetime1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836713"/>
            <a:ext cx="7772400" cy="1656184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Реализация криптографических алгоритмов в ИС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55576" y="2060848"/>
            <a:ext cx="7920880" cy="3096344"/>
          </a:xfrm>
        </p:spPr>
        <p:txBody>
          <a:bodyPr>
            <a:normAutofit fontScale="92500"/>
          </a:bodyPr>
          <a:lstStyle/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sz="4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z="4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sz="4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4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Асимметричная криптография. </a:t>
            </a:r>
          </a:p>
          <a:p>
            <a:r>
              <a:rPr lang="ru-RU" sz="4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en-US" sz="4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RSA</a:t>
            </a:r>
            <a:r>
              <a:rPr lang="ru-RU" sz="4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sz="45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24942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Содержание лекции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2520280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Асимметричная криптография</a:t>
            </a:r>
            <a:endParaRPr lang="ru-RU" sz="4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ru-RU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RSA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z="1600" smtClean="0"/>
              <a:pPr/>
              <a:t>2</a:t>
            </a:fld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2404864"/>
          </a:xfrm>
        </p:spPr>
        <p:txBody>
          <a:bodyPr/>
          <a:lstStyle/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криптография.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2952328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Лекция 5</a:t>
            </a: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Асимметричная криптография. </a:t>
            </a:r>
            <a:b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RSA</a:t>
            </a: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3200" b="1" dirty="0" smtClean="0">
                <a:solidFill>
                  <a:srgbClr val="FF0000"/>
                </a:solidFill>
              </a:rPr>
              <a:t> 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99412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052736"/>
            <a:ext cx="813690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Традиционная криптография основана на изучении принципов работы т.н. симметричных криптосистем, в которых шифрование и расшифровка выполняются на основе единого секретного ключа. Современная же криптография также включает и асимметричные криптосистемы.</a:t>
            </a:r>
          </a:p>
          <a:p>
            <a:pPr indent="447675" algn="just"/>
            <a:endParaRPr lang="ru-RU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1210146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ru-RU" sz="3200" b="1" dirty="0" smtClean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Где используется асимметричная криптография?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556792"/>
            <a:ext cx="8136904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💡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Как самостоятельное средство для защиты передаваемой и хранимой информации</a:t>
            </a:r>
          </a:p>
          <a:p>
            <a:pPr algn="just"/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💡 Как средство распределения ключей</a:t>
            </a:r>
          </a:p>
          <a:p>
            <a:pPr algn="just"/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💡Как средство аутентификации пользователей</a:t>
            </a:r>
          </a:p>
          <a:p>
            <a:pPr indent="447675" algn="just"/>
            <a:endParaRPr lang="ru-RU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99412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052736"/>
            <a:ext cx="81369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Существуют алгоритмы шифрования, зависящие от двух разных ключей. 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Первый из этих ключей открыт, и используется для шифрования, а второй является секретным, и применяется для восстановлении текста из зашифрованного сообщения. 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Подобные криптосистемы носят название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асимметричных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или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криптографических систем с открытым ключом.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С = Е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открытый текст, 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функция шифрования,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секретный ключ, 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шифротекст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 l="4846" r="9759"/>
          <a:stretch>
            <a:fillRect/>
          </a:stretch>
        </p:blipFill>
        <p:spPr bwMode="auto">
          <a:xfrm>
            <a:off x="179513" y="1412776"/>
            <a:ext cx="8810410" cy="5040559"/>
          </a:xfrm>
          <a:prstGeom prst="rect">
            <a:avLst/>
          </a:prstGeom>
          <a:noFill/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99412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Асимметричное шифрование</a:t>
            </a:r>
            <a:endParaRPr lang="ru-RU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620688"/>
            <a:ext cx="813690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Алгоритмы шифрования с открытым ключом разрабатывались для того, чтобы решить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две наиболее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трудные задачи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возникшие при использовании симметричного шифрования.</a:t>
            </a:r>
          </a:p>
          <a:p>
            <a:pPr indent="447675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Первой задачей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является </a:t>
            </a:r>
            <a:r>
              <a:rPr lang="ru-RU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распределение ключа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 симметричном шифровании требуется, чтобы обе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стороны уже имели общий ключ, который каким-то образом должен быть им заранее передан.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Диффи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один из основоположников шифрования с открытым ключом, заметил, что это требование отрицает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всю суть криптографии, а именно возможность поддерживать всеобщую секретность при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коммуникациях.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4807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692696"/>
            <a:ext cx="82809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Второй задачей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является необходимость создания таких механизмов, при использовании которых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невозможно было бы подменить кого-либо из участников, т.е. </a:t>
            </a:r>
            <a:r>
              <a:rPr lang="ru-RU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нужна цифровая подпись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использовании коммуникаций для решения широкого круга задач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в коммерческих и частных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целях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электронные сообщения и документы должны иметь эквивалент подписи, содержащейся в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бумажных документах. Необходимо создать метод, при использовании которого все участники будут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убеждены, что электронное сообщение было послано конкретным участником. Это более сильное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требование, чем аутентификация.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99412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052736"/>
            <a:ext cx="8136904" cy="4909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Общие черты алгоритмов шифрования с открытым ключом и требования к этим алгоритмам. 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• используется один ключ для шифрования, другой ключ – для дешифрования,</a:t>
            </a:r>
          </a:p>
          <a:p>
            <a:pPr indent="447675" algn="just">
              <a:spcAft>
                <a:spcPts val="600"/>
              </a:spcAft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• вычислительно невозможно определить дешифрующий ключ, зная только алгоритм шифрования и шифрующий ключ.</a:t>
            </a:r>
          </a:p>
          <a:p>
            <a:pPr indent="447675" algn="just"/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!!! ВАЖНО: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некоторые алгоритмы, например, RSA, имеют следующую характеристику: </a:t>
            </a:r>
          </a:p>
          <a:p>
            <a:pPr algn="just"/>
            <a:r>
              <a:rPr lang="ru-RU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каждый из двух ключей может использоваться как для шифрования, так и для дешифрования.</a:t>
            </a:r>
            <a:endParaRPr lang="ru-RU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244408" y="6309320"/>
            <a:ext cx="658416" cy="365125"/>
          </a:xfrm>
        </p:spPr>
        <p:txBody>
          <a:bodyPr/>
          <a:lstStyle/>
          <a:p>
            <a:fld id="{8ECC1301-DE66-4CDA-81DE-A914792F0A66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7170" name="Picture 2" descr="https://habrastorage.org/webt/5b/f7/1d/5bf71d6938a2361408531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764704"/>
            <a:ext cx="7704856" cy="58943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64807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система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 cstate="print"/>
          <a:srcRect t="22669"/>
          <a:stretch>
            <a:fillRect/>
          </a:stretch>
        </p:blipFill>
        <p:spPr bwMode="auto">
          <a:xfrm>
            <a:off x="323528" y="692696"/>
            <a:ext cx="8496944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620688"/>
            <a:ext cx="8784976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850106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836712"/>
            <a:ext cx="8136904" cy="5760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Два ключа, используемые при шифровании называются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открытым ключом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закрытым ключом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Закрытый ключ держится в секрете, обозначается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открытый ключ –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KU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Предположим, что все участники имеют доступ к открытым ключам друг друга, а закрытые ключи создаются локально каждым участником и, следовательно, распределяться не должны.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любое время участник может изменить свой закрытый ключ и опубликовать составляющий пару открытый ключ, заменив им старый открытый ключ.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363272" cy="504056"/>
          </a:xfrm>
        </p:spPr>
        <p:txBody>
          <a:bodyPr>
            <a:normAutofit fontScale="90000"/>
          </a:bodyPr>
          <a:lstStyle/>
          <a:p>
            <a:pPr indent="447675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Требования к алгоритму с открытым ключом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401171"/>
            <a:ext cx="8784976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700" dirty="0" smtClean="0">
                <a:latin typeface="Times New Roman" pitchFamily="18" charset="0"/>
                <a:cs typeface="Times New Roman" pitchFamily="18" charset="0"/>
              </a:rPr>
              <a:t>Вычислительно легко создавать пару (открытый ключ KU, закрытый ключ KR ).</a:t>
            </a:r>
          </a:p>
          <a:p>
            <a:pPr indent="447675" algn="just"/>
            <a:r>
              <a:rPr lang="ru-RU" sz="2700" dirty="0" smtClean="0">
                <a:latin typeface="Times New Roman" pitchFamily="18" charset="0"/>
                <a:cs typeface="Times New Roman" pitchFamily="18" charset="0"/>
              </a:rPr>
              <a:t>• Вычислительно легко, имея открытый ключ и незашифрованное сообщение М, создать зашифрованное сообщение: </a:t>
            </a:r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С = Е</a:t>
            </a:r>
            <a:r>
              <a:rPr lang="ru-RU" sz="2700" b="1" baseline="-25000" dirty="0" smtClean="0">
                <a:latin typeface="Times New Roman" pitchFamily="18" charset="0"/>
                <a:cs typeface="Times New Roman" pitchFamily="18" charset="0"/>
              </a:rPr>
              <a:t>KU</a:t>
            </a:r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[М].</a:t>
            </a:r>
          </a:p>
          <a:p>
            <a:pPr indent="447675" algn="just"/>
            <a:r>
              <a:rPr lang="ru-RU" sz="2700" dirty="0" smtClean="0">
                <a:latin typeface="Times New Roman" pitchFamily="18" charset="0"/>
                <a:cs typeface="Times New Roman" pitchFamily="18" charset="0"/>
              </a:rPr>
              <a:t>• Вычислительно легко дешифровать сообщение, используя закрытый ключ: </a:t>
            </a:r>
          </a:p>
          <a:p>
            <a:pPr algn="ctr"/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М = D</a:t>
            </a:r>
            <a:r>
              <a:rPr lang="ru-RU" sz="2700" b="1" baseline="-25000" dirty="0" smtClean="0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[C] = D</a:t>
            </a:r>
            <a:r>
              <a:rPr lang="ru-RU" sz="2700" b="1" baseline="-25000" dirty="0" smtClean="0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[E</a:t>
            </a:r>
            <a:r>
              <a:rPr lang="ru-RU" sz="2700" b="1" baseline="-25000" dirty="0" smtClean="0">
                <a:latin typeface="Times New Roman" pitchFamily="18" charset="0"/>
                <a:cs typeface="Times New Roman" pitchFamily="18" charset="0"/>
              </a:rPr>
              <a:t>KU</a:t>
            </a:r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[M]]</a:t>
            </a:r>
            <a:r>
              <a:rPr lang="ru-RU" sz="2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47675" algn="just"/>
            <a:r>
              <a:rPr lang="ru-RU" sz="2700" dirty="0" smtClean="0">
                <a:latin typeface="Times New Roman" pitchFamily="18" charset="0"/>
                <a:cs typeface="Times New Roman" pitchFamily="18" charset="0"/>
              </a:rPr>
              <a:t>• Вычислительно невозможно, зная открытый ключ KU, определить закрытый ключ KR.</a:t>
            </a:r>
          </a:p>
          <a:p>
            <a:pPr indent="447675" algn="just"/>
            <a:r>
              <a:rPr lang="ru-RU" sz="2700" dirty="0" smtClean="0">
                <a:latin typeface="Times New Roman" pitchFamily="18" charset="0"/>
                <a:cs typeface="Times New Roman" pitchFamily="18" charset="0"/>
              </a:rPr>
              <a:t>• Вычислительно невозможно, зная открытый ключ KU и зашифрованное сообщение С, восстановить исходное сообщение М. </a:t>
            </a:r>
          </a:p>
          <a:p>
            <a:pPr indent="447675" algn="just"/>
            <a:r>
              <a:rPr lang="ru-RU" sz="2700" dirty="0" smtClean="0">
                <a:latin typeface="Times New Roman" pitchFamily="18" charset="0"/>
                <a:cs typeface="Times New Roman" pitchFamily="18" charset="0"/>
              </a:rPr>
              <a:t>• Шифрующие и дешифрующие функции могут применяться в любом порядке: </a:t>
            </a:r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М = Е</a:t>
            </a:r>
            <a:r>
              <a:rPr lang="ru-RU" sz="2700" b="1" baseline="-25000" dirty="0" smtClean="0">
                <a:latin typeface="Times New Roman" pitchFamily="18" charset="0"/>
                <a:cs typeface="Times New Roman" pitchFamily="18" charset="0"/>
              </a:rPr>
              <a:t>KU</a:t>
            </a:r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[D</a:t>
            </a:r>
            <a:r>
              <a:rPr lang="ru-RU" sz="2700" b="1" baseline="-25000" dirty="0" smtClean="0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ru-RU" sz="2700" b="1" dirty="0" smtClean="0">
                <a:latin typeface="Times New Roman" pitchFamily="18" charset="0"/>
                <a:cs typeface="Times New Roman" pitchFamily="18" charset="0"/>
              </a:rPr>
              <a:t>[M]].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562074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Асимметричная криптография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548680"/>
            <a:ext cx="849694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Данные требования достаточно сильные и они вводят понятие 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односторонней функции с люком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Односторонней функцией называется такая функция, у которой каждый аргумент имеет единственное обратное значение, при этом вычислить саму функцию легко, а вычислить обратную функцию трудно.</a:t>
            </a:r>
          </a:p>
          <a:p>
            <a:pPr indent="447675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• Y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(X) – легко</a:t>
            </a:r>
          </a:p>
          <a:p>
            <a:pPr indent="447675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• X = f</a:t>
            </a:r>
            <a:r>
              <a:rPr lang="ru-RU" sz="2800" b="1" baseline="30000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(Y) – трудно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Обычно "легко" означает, что проблема может быть решена за полиномиальное время от длины входа.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Если длина входа имеет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битов, то время вычисления функции пропорционально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aseline="30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где а – фиксированная константа.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23528" y="764704"/>
            <a:ext cx="813690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Определение односторонней функции с люком: легко вычислить в одном направлении и трудно вычислить в обратном направлении до тех пор, пока недоступна некоторая дополнительная информация. При наличии этой дополнительной информации инверсию можно вычислить за полиномиальное время. 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Односторонняя функция с люком принадлежит семейству односторонних функций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800" b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таких, что 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Y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легко, если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Х известны;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X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ru-RU" sz="2800" b="1" baseline="30000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(Y)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легко, если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Y известны;</a:t>
            </a:r>
          </a:p>
          <a:p>
            <a:pPr indent="447675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Х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k</a:t>
            </a:r>
            <a:r>
              <a:rPr lang="ru-RU" sz="2800" b="1" baseline="30000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(Y)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трудно, если Y известно, но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неизвестно.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57200" y="58614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1. Асимметричная криптография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135416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Преимущества асимметричной </a:t>
            </a:r>
            <a:br>
              <a:rPr lang="ru-RU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криптографии 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1556792"/>
            <a:ext cx="8136904" cy="4013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85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 нужно предварительно передавать секретный ключ по надёжному каналу.</a:t>
            </a:r>
          </a:p>
          <a:p>
            <a:pPr indent="45085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Только одной стороне известен ключ шифрования, который нужно держать в секрете.</a:t>
            </a:r>
          </a:p>
          <a:p>
            <a:pPr indent="45085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Пару ключей можно не менять значительное время.</a:t>
            </a:r>
          </a:p>
          <a:p>
            <a:pPr indent="450850" algn="just">
              <a:lnSpc>
                <a:spcPct val="9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больших сетях число ключей в асимметричной криптосистеме значительно меньше, чем в симметричной.</a:t>
            </a:r>
          </a:p>
          <a:p>
            <a:pPr indent="447675"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люс 6"/>
          <p:cNvSpPr/>
          <p:nvPr/>
        </p:nvSpPr>
        <p:spPr>
          <a:xfrm>
            <a:off x="6012160" y="764704"/>
            <a:ext cx="576064" cy="576064"/>
          </a:xfrm>
          <a:prstGeom prst="math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08012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Недостатки асимметричной </a:t>
            </a:r>
            <a:br>
              <a:rPr lang="ru-RU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криптографии 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23528" y="1052736"/>
            <a:ext cx="813690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850" algn="just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алгоритм сложнее внести изменения.</a:t>
            </a:r>
          </a:p>
          <a:p>
            <a:pPr indent="450850" algn="just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Более длинные ключи.</a:t>
            </a:r>
          </a:p>
          <a:p>
            <a:pPr indent="450850" algn="just">
              <a:buFont typeface="Arial" pitchFamily="34" charset="0"/>
              <a:buChar char="•"/>
            </a:pP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Шифрование-расшифрование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с использованием пары ключей проходит на два-три порядка медленнее, чем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шифрование-расшифрование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того же текста симметричным алгоритмом.</a:t>
            </a:r>
          </a:p>
          <a:p>
            <a:pPr indent="450850" algn="just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Требуются существенно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бо́льшие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вычислительные ресурсы, поэтому на практике асимметричные криптосистемы используются в сочетании с другими алгоритмами.</a:t>
            </a:r>
          </a:p>
          <a:p>
            <a:pPr indent="450850" algn="just"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Алгоритм шифрования с открытым ключом уязвим для лобовой атаки. Контрмера стандартная: использовать большие ключи.</a:t>
            </a:r>
          </a:p>
        </p:txBody>
      </p:sp>
      <p:sp>
        <p:nvSpPr>
          <p:cNvPr id="8" name="Минус 7"/>
          <p:cNvSpPr/>
          <p:nvPr/>
        </p:nvSpPr>
        <p:spPr>
          <a:xfrm>
            <a:off x="6084168" y="764704"/>
            <a:ext cx="504056" cy="360040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2404864"/>
          </a:xfrm>
        </p:spPr>
        <p:txBody>
          <a:bodyPr/>
          <a:lstStyle/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RSA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2952328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Лекция 5</a:t>
            </a: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Асимметричная криптография. </a:t>
            </a:r>
            <a:b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RSA</a:t>
            </a: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3200" b="1" dirty="0" smtClean="0">
                <a:solidFill>
                  <a:srgbClr val="FF0000"/>
                </a:solidFill>
              </a:rPr>
              <a:t> 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616624"/>
          </a:xfrm>
        </p:spPr>
        <p:txBody>
          <a:bodyPr>
            <a:normAutofit lnSpcReduction="10000"/>
          </a:bodyPr>
          <a:lstStyle/>
          <a:p>
            <a:pPr marL="0" indent="355600" algn="just">
              <a:buNone/>
            </a:pP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Диффи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Хеллман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определили новый подход к шифрованию, что вызвало к жизни разработку алгоритмов шифрования, с открытым ключом. Одним и первых результатов был алгоритм, разработанный в 1977 году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Роном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Ривестом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Ади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Шамиром и Леном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Адлеманом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опубликованный в 1978 году (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ethod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obtaining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digital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signatures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cryptosystems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Communications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ACM, 1978,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. 21, </a:t>
            </a:r>
            <a:r>
              <a:rPr lang="ru-RU" sz="2800" i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. 120-126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 тех пор алгоритм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Rivest-Shamir-Adleman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(RSA) широко применяется практически во всех приложениях, использующих криптографию с открытым ключом.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188640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Rivest-Shamir-Adleman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616624"/>
          </a:xfrm>
        </p:spPr>
        <p:txBody>
          <a:bodyPr>
            <a:normAutofit fontScale="92500"/>
          </a:bodyPr>
          <a:lstStyle/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Алгоритм основан на использовании того факта, что задача факторизации является трудной, т.е. легко перемножить два числа, в то время как не существует полиномиального алгоритма нахождения простых сомножителей большого числа.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Алгоритм RSA представляет собой блочный алгоритм шифрования, где зашифрованные и незашифрованные данные являются целыми числами между 0 и n-1 для некоторого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данном алгоритме используются выражения с экспонентами.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Данные шифруются блоками, каждый блок рассматривается как число, меньшее некоторого числа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188640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424936" cy="5616624"/>
          </a:xfrm>
        </p:spPr>
        <p:txBody>
          <a:bodyPr>
            <a:normAutofit/>
          </a:bodyPr>
          <a:lstStyle/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Шифрование и дешифрование имеют следующий вид для некоторого незашифрованного блока М и зашифрованного блока С:</a:t>
            </a:r>
          </a:p>
          <a:p>
            <a:pPr marL="0" indent="0" algn="ctr">
              <a:buNone/>
            </a:pP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algn="ctr">
              <a:buNone/>
            </a:pP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M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Как отправитель, так и получатель должны знать значение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Отправитель знает значение е, получатель знает значение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Таким образом, открытый ключ есть KU =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{e, n}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закрытый ключ есть KR =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{d, n}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44624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424936" cy="5616624"/>
          </a:xfrm>
        </p:spPr>
        <p:txBody>
          <a:bodyPr>
            <a:normAutofit/>
          </a:bodyPr>
          <a:lstStyle/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 этом должны выполняться следующие условия.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Возможность найти значения е,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такие, что: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= M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для всех М &lt;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Относительная легкость вычисления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2800" baseline="30000" dirty="0" err="1" smtClean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800" baseline="30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для всех значений М &lt;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Невозможность определить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зная е 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44624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1295" r="11897" b="6628"/>
          <a:stretch>
            <a:fillRect/>
          </a:stretch>
        </p:blipFill>
        <p:spPr bwMode="auto">
          <a:xfrm>
            <a:off x="179512" y="4221088"/>
            <a:ext cx="8856984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44624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764704"/>
            <a:ext cx="784887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85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Закрытый ключ состоит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{d, 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открытый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ключ состоит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{e,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085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Предположим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что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пользователь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опубликовал свой открытый ключ, и что пользователь В хочет послать пользователю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сообщение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М.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085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Тогда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вычисляет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передает С.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45085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получении этого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зашифрованного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текста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пользователь А дешифрует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вычислением:</a:t>
            </a:r>
          </a:p>
          <a:p>
            <a:pPr algn="ctr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827584" y="188640"/>
            <a:ext cx="7488832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шифрования с помощью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1268760"/>
            <a:ext cx="78488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Создание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ключей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Выбрать простые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Вычислить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·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1)·(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Выбрать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НОД(Ф(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),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 = 1, 1 &lt;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&lt; Ф(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Вычислить e: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≡ d</a:t>
            </a:r>
            <a:r>
              <a:rPr lang="ru-RU" sz="2800" baseline="30000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Ф(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Открытый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ключ KU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{e, 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Закрытый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ключ KR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{d, 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628800"/>
            <a:ext cx="76328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Шифрование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Незашифрованный текст: М &lt;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Зашифрованный текст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Дешифрование</a:t>
            </a:r>
          </a:p>
          <a:p>
            <a:pPr>
              <a:lnSpc>
                <a:spcPct val="150000"/>
              </a:lnSpc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Зашифрованный текст: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С.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Незашифрованный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текст: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827584" y="188640"/>
            <a:ext cx="7488832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шифрования с помощью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5400600"/>
          </a:xfrm>
        </p:spPr>
        <p:txBody>
          <a:bodyPr>
            <a:normAutofit fontScale="92500" lnSpcReduction="20000"/>
          </a:bodyPr>
          <a:lstStyle/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Выбрать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два простых числа: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7,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17.</a:t>
            </a: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Вычислить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·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7 · 17 = 119.</a:t>
            </a: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Вычислить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1)·(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1) = 96.</a:t>
            </a: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Выбрать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е так, чтобы е было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взаимнопростым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с Ф(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 = 96 и меньше, чем Ф(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5.</a:t>
            </a: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Определить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так, чтобы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·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≡ 1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96 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&lt;96.</a:t>
            </a:r>
          </a:p>
          <a:p>
            <a:pPr marL="0" indent="355600" algn="just"/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 77, так как 77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5 = 385 = 4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96 + 1.</a:t>
            </a: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Результирующие ключи: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открытый KU =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{5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119} и закрытый KR =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{77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119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}.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Зашифруем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сообщение М = 19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 = 19</a:t>
            </a:r>
            <a:r>
              <a:rPr lang="ru-RU" sz="2800" baseline="30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 66 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119); С = 66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Для дешифрования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вычисляется: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М =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800" b="1" baseline="30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М = 66</a:t>
            </a:r>
            <a:r>
              <a:rPr lang="ru-RU" sz="2800" baseline="30000" dirty="0" smtClean="0">
                <a:latin typeface="Times New Roman" pitchFamily="18" charset="0"/>
                <a:cs typeface="Times New Roman" pitchFamily="18" charset="0"/>
              </a:rPr>
              <a:t>77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119)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 19.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611560" y="260648"/>
            <a:ext cx="817341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Пример (на числах)</a:t>
            </a:r>
            <a:endParaRPr lang="ru-RU" sz="32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229600" cy="5688632"/>
          </a:xfrm>
        </p:spPr>
        <p:txBody>
          <a:bodyPr>
            <a:noAutofit/>
          </a:bodyPr>
          <a:lstStyle/>
          <a:p>
            <a:pPr marL="0" indent="355600" algn="just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Шифрование/дешифрование</a:t>
            </a:r>
          </a:p>
          <a:p>
            <a:pPr marL="0" indent="3556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 шифрование, так и дешифрование включают возведение целого числа в целую степень по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модулю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При этом промежуточные значения будут громадными. Для того, чтобы частично этого избежать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используется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следующее свойство модульной арифметики:</a:t>
            </a:r>
          </a:p>
          <a:p>
            <a:pPr marL="0" indent="0" algn="ctr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[(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)]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Другая оптимизация состоит в эффективном использовании показателя степени, так как в случае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RSA показатели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степени очень большие. Предположим, что необходимо вычислить х</a:t>
            </a:r>
            <a:r>
              <a:rPr lang="ru-RU" sz="2400" baseline="30000" dirty="0" smtClean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Прямой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подход требует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15 умножений. Однако можно добиться того же конечного результата с помощью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только четырех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умножений, если использовать квадрат каждого промежуточного результата: х</a:t>
            </a:r>
            <a:r>
              <a:rPr lang="ru-RU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2400" baseline="30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2400" baseline="30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2400" baseline="30000" dirty="0" smtClean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611560" y="188640"/>
            <a:ext cx="817341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Алгоритм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92696"/>
            <a:ext cx="8229600" cy="5760640"/>
          </a:xfrm>
        </p:spPr>
        <p:txBody>
          <a:bodyPr>
            <a:normAutofit fontScale="92500" lnSpcReduction="20000"/>
          </a:bodyPr>
          <a:lstStyle/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Защита от лобовой атаки для RSA и ему подобных алгоритмов состоит в использовании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большой длины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ключа. Таким образом, чем больше битов в е (открыто) 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(закрыто), тем лучше. Однако, так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как вычисления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необходимы как при создании ключей, так и при шифровании/дешифровании,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чем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больше размер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ключа, тем медленнее работает система.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Большинство дискуссий о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криптоанализе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RSA фокусируется на задаче разложения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на два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простых сомножителя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В настоящее время неизвестны алгоритмы, с помощью которых можно было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бы разложить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число на два простых множителя для очень больших чисел (т.е. несколько сотен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десятичных цифр).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Лучший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из известных алгоритмов дает результат, пропорциональный:</a:t>
            </a:r>
          </a:p>
          <a:p>
            <a:pPr marL="0" indent="0" algn="ctr">
              <a:buNone/>
            </a:pPr>
            <a:r>
              <a:rPr lang="ru-RU" sz="4500" b="1" dirty="0" smtClean="0">
                <a:latin typeface="Times New Roman" pitchFamily="18" charset="0"/>
                <a:cs typeface="Times New Roman" pitchFamily="18" charset="0"/>
              </a:rPr>
              <a:t>L (</a:t>
            </a:r>
            <a:r>
              <a:rPr lang="ru-RU" sz="4500" b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4500" b="1" dirty="0" smtClean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ru-RU" sz="4500" b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4500" b="1" baseline="30000" dirty="0" err="1" smtClean="0">
                <a:latin typeface="Times New Roman" pitchFamily="18" charset="0"/>
                <a:cs typeface="Times New Roman" pitchFamily="18" charset="0"/>
              </a:rPr>
              <a:t>sqrt</a:t>
            </a:r>
            <a:r>
              <a:rPr lang="ru-RU" sz="4500" b="1" baseline="30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4500" b="1" baseline="30000" dirty="0" err="1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ru-RU" sz="4500" b="1" baseline="30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4500" b="1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4500" b="1" baseline="30000" dirty="0" smtClean="0">
                <a:latin typeface="Times New Roman" pitchFamily="18" charset="0"/>
                <a:cs typeface="Times New Roman" pitchFamily="18" charset="0"/>
              </a:rPr>
              <a:t>)·</a:t>
            </a:r>
            <a:r>
              <a:rPr lang="ru-RU" sz="4500" b="1" baseline="30000" dirty="0" err="1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ru-RU" sz="4500" b="1" baseline="30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4500" b="1" baseline="30000" dirty="0" err="1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ru-RU" sz="4500" b="1" baseline="30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4500" b="1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4500" b="1" baseline="30000" dirty="0" smtClean="0">
                <a:latin typeface="Times New Roman" pitchFamily="18" charset="0"/>
                <a:cs typeface="Times New Roman" pitchFamily="18" charset="0"/>
              </a:rPr>
              <a:t>)))</a:t>
            </a:r>
            <a:endParaRPr sz="4500" b="1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539552" y="0"/>
            <a:ext cx="817341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Взлом алгоритма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0"/>
            <a:ext cx="9003903" cy="6453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32</a:t>
            </a:fld>
            <a:endParaRPr lang="ru-RU"/>
          </a:p>
        </p:txBody>
      </p:sp>
      <p:pic>
        <p:nvPicPr>
          <p:cNvPr id="49154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448" y="980728"/>
            <a:ext cx="8172016" cy="5688632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683568" y="188640"/>
            <a:ext cx="8101408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Место алгоритма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2122</Words>
  <Application>Microsoft Office PowerPoint</Application>
  <PresentationFormat>Экран (4:3)</PresentationFormat>
  <Paragraphs>215</Paragraphs>
  <Slides>32</Slides>
  <Notes>23</Notes>
  <HiddenSlides>2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3" baseType="lpstr">
      <vt:lpstr>Тема Office</vt:lpstr>
      <vt:lpstr>Реализация криптографических алгоритмов в ИС</vt:lpstr>
      <vt:lpstr>Содержание лекции</vt:lpstr>
      <vt:lpstr>Лекция 5 Асимметричная криптография.  Алгоритм RSA  </vt:lpstr>
      <vt:lpstr>1. Асимметричная криптография</vt:lpstr>
      <vt:lpstr>Где используется асимметричная криптография?</vt:lpstr>
      <vt:lpstr>1. Асимметричная криптография</vt:lpstr>
      <vt:lpstr>1. Асимметричное шифрование</vt:lpstr>
      <vt:lpstr>1. Асимметричная криптография</vt:lpstr>
      <vt:lpstr>1. Асимметричная криптография</vt:lpstr>
      <vt:lpstr>1. Асимметричная криптография</vt:lpstr>
      <vt:lpstr>1. Асимметричная криптография</vt:lpstr>
      <vt:lpstr>1. Асимметричная система</vt:lpstr>
      <vt:lpstr>1. Асимметричная криптография</vt:lpstr>
      <vt:lpstr>1. Асимметричная криптография</vt:lpstr>
      <vt:lpstr>Требования к алгоритму с открытым ключом</vt:lpstr>
      <vt:lpstr>1. Асимметричная криптография</vt:lpstr>
      <vt:lpstr>Слайд 17</vt:lpstr>
      <vt:lpstr>Преимущества асимметричной  криптографии </vt:lpstr>
      <vt:lpstr>Недостатки асимметричной  криптографии </vt:lpstr>
      <vt:lpstr>Лекция 5 Асимметричная криптография.  Алгоритм RSA  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Реализация криптографических алгоритмов в ИС</dc:title>
  <dc:creator>Ольга</dc:creator>
  <cp:lastModifiedBy>Ольга</cp:lastModifiedBy>
  <cp:revision>233</cp:revision>
  <dcterms:created xsi:type="dcterms:W3CDTF">2025-09-10T22:06:03Z</dcterms:created>
  <dcterms:modified xsi:type="dcterms:W3CDTF">2025-12-03T18:51:23Z</dcterms:modified>
</cp:coreProperties>
</file>