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87" r:id="rId5"/>
    <p:sldId id="356" r:id="rId6"/>
    <p:sldId id="357" r:id="rId7"/>
    <p:sldId id="358" r:id="rId8"/>
    <p:sldId id="359" r:id="rId9"/>
    <p:sldId id="360" r:id="rId10"/>
    <p:sldId id="362" r:id="rId11"/>
    <p:sldId id="363" r:id="rId12"/>
    <p:sldId id="364" r:id="rId13"/>
    <p:sldId id="365" r:id="rId14"/>
    <p:sldId id="366" r:id="rId15"/>
    <p:sldId id="367" r:id="rId16"/>
    <p:sldId id="355" r:id="rId17"/>
    <p:sldId id="329" r:id="rId18"/>
    <p:sldId id="368" r:id="rId19"/>
    <p:sldId id="369" r:id="rId20"/>
    <p:sldId id="371" r:id="rId21"/>
    <p:sldId id="373" r:id="rId22"/>
    <p:sldId id="376" r:id="rId23"/>
    <p:sldId id="374" r:id="rId24"/>
    <p:sldId id="375" r:id="rId25"/>
    <p:sldId id="377" r:id="rId2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7603" autoAdjust="0"/>
  </p:normalViewPr>
  <p:slideViewPr>
    <p:cSldViewPr>
      <p:cViewPr varScale="1">
        <p:scale>
          <a:sx n="64" d="100"/>
          <a:sy n="64" d="100"/>
        </p:scale>
        <p:origin x="-1901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9A4CCB-2AB7-4470-8669-B08666E49AEC}" type="datetimeFigureOut">
              <a:rPr lang="ru-RU" smtClean="0"/>
              <a:pPr/>
              <a:t>14.12.2025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AC31F-0D34-4ACC-A799-447BDFD53FC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447602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7627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aseline="0" dirty="0" smtClean="0"/>
              <a:t>Главным нормативным документом, в котором отражены юридические моменты </a:t>
            </a:r>
            <a:r>
              <a:rPr lang="ru-RU" b="0" baseline="0" dirty="0" smtClean="0"/>
              <a:t>касающиеся </a:t>
            </a:r>
            <a:r>
              <a:rPr lang="ru-RU" sz="1200" b="0" dirty="0" smtClean="0">
                <a:latin typeface="Times New Roman" pitchFamily="18" charset="0"/>
                <a:cs typeface="Times New Roman" pitchFamily="18" charset="0"/>
              </a:rPr>
              <a:t>электронной (цифровой) подписи,</a:t>
            </a:r>
            <a:r>
              <a:rPr lang="ru-RU" sz="1200" b="0" baseline="0" dirty="0" smtClean="0">
                <a:latin typeface="Times New Roman" pitchFamily="18" charset="0"/>
                <a:cs typeface="Times New Roman" pitchFamily="18" charset="0"/>
              </a:rPr>
              <a:t> является </a:t>
            </a:r>
            <a:r>
              <a:rPr lang="ru-RU" dirty="0" smtClean="0"/>
              <a:t>ФЕДЕРАЛЬНЫЙ ЗАКОН ОБ ЭЛЕКТРОННОЙ ПОДПИСИ Принят Государственной Думой 25 марта 2011 года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aseline="0" dirty="0" smtClean="0"/>
              <a:t>Главным нормативным документом, в котором отражены юридические моменты </a:t>
            </a:r>
            <a:r>
              <a:rPr lang="ru-RU" b="0" baseline="0" dirty="0" smtClean="0"/>
              <a:t>касающиеся </a:t>
            </a:r>
            <a:r>
              <a:rPr lang="ru-RU" sz="1200" b="0" dirty="0" smtClean="0">
                <a:latin typeface="Times New Roman" pitchFamily="18" charset="0"/>
                <a:cs typeface="Times New Roman" pitchFamily="18" charset="0"/>
              </a:rPr>
              <a:t>электронной (цифровой) подписи</a:t>
            </a:r>
            <a:r>
              <a:rPr lang="ru-RU" sz="1200" b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1200" b="0" baseline="0" smtClean="0">
                <a:latin typeface="Times New Roman" pitchFamily="18" charset="0"/>
                <a:cs typeface="Times New Roman" pitchFamily="18" charset="0"/>
              </a:rPr>
              <a:t> является </a:t>
            </a:r>
            <a:r>
              <a:rPr lang="ru-RU" smtClean="0"/>
              <a:t>ФЕДЕРАЛЬНЫЙ ЗАКОН ОБ ЭЛЕКТРОННОЙ ПОДПИСИ Принят Государственной Думой 25 марта 2011 года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aseline="0" dirty="0" smtClean="0"/>
              <a:t>Главным нормативным документом, в котором отражены юридические моменты </a:t>
            </a:r>
            <a:r>
              <a:rPr lang="ru-RU" b="0" baseline="0" dirty="0" smtClean="0"/>
              <a:t>касающиеся </a:t>
            </a:r>
            <a:r>
              <a:rPr lang="ru-RU" sz="1200" b="0" dirty="0" smtClean="0">
                <a:latin typeface="Times New Roman" pitchFamily="18" charset="0"/>
                <a:cs typeface="Times New Roman" pitchFamily="18" charset="0"/>
              </a:rPr>
              <a:t>электронной (цифровой) подписи,</a:t>
            </a:r>
            <a:r>
              <a:rPr lang="ru-RU" sz="1200" b="0" baseline="0" dirty="0" smtClean="0">
                <a:latin typeface="Times New Roman" pitchFamily="18" charset="0"/>
                <a:cs typeface="Times New Roman" pitchFamily="18" charset="0"/>
              </a:rPr>
              <a:t> является </a:t>
            </a:r>
            <a:r>
              <a:rPr lang="ru-RU" dirty="0" smtClean="0"/>
              <a:t>ФЕДЕРАЛЬНЫЙ ЗАКОН ОБ ЭЛЕКТРОННОЙ ПОДПИСИ Принят Государственной Думой 25 марта 2011 года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aseline="0" dirty="0" smtClean="0"/>
              <a:t>Главным нормативным документом, в котором отражены юридические моменты </a:t>
            </a:r>
            <a:r>
              <a:rPr lang="ru-RU" b="0" baseline="0" dirty="0" smtClean="0"/>
              <a:t>касающиеся </a:t>
            </a:r>
            <a:r>
              <a:rPr lang="ru-RU" sz="1200" b="0" dirty="0" smtClean="0">
                <a:latin typeface="Times New Roman" pitchFamily="18" charset="0"/>
                <a:cs typeface="Times New Roman" pitchFamily="18" charset="0"/>
              </a:rPr>
              <a:t>электронной (цифровой) подписи,</a:t>
            </a:r>
            <a:r>
              <a:rPr lang="ru-RU" sz="1200" b="0" baseline="0" dirty="0" smtClean="0">
                <a:latin typeface="Times New Roman" pitchFamily="18" charset="0"/>
                <a:cs typeface="Times New Roman" pitchFamily="18" charset="0"/>
              </a:rPr>
              <a:t> является </a:t>
            </a:r>
            <a:r>
              <a:rPr lang="ru-RU" dirty="0" smtClean="0"/>
              <a:t>ФЕДЕРАЛЬНЫЙ ЗАКОН ОБ ЭЛЕКТРОННОЙ ПОДПИСИ Принят Государственной Думой 25 марта 2011 года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aseline="0" dirty="0" smtClean="0"/>
              <a:t>Главным нормативным документом, в котором отражены юридические моменты </a:t>
            </a:r>
            <a:r>
              <a:rPr lang="ru-RU" b="0" baseline="0" dirty="0" smtClean="0"/>
              <a:t>касающиеся </a:t>
            </a:r>
            <a:r>
              <a:rPr lang="ru-RU" sz="1200" b="0" dirty="0" smtClean="0">
                <a:latin typeface="Times New Roman" pitchFamily="18" charset="0"/>
                <a:cs typeface="Times New Roman" pitchFamily="18" charset="0"/>
              </a:rPr>
              <a:t>электронной (цифровой) подписи,</a:t>
            </a:r>
            <a:r>
              <a:rPr lang="ru-RU" sz="1200" b="0" baseline="0" dirty="0" smtClean="0">
                <a:latin typeface="Times New Roman" pitchFamily="18" charset="0"/>
                <a:cs typeface="Times New Roman" pitchFamily="18" charset="0"/>
              </a:rPr>
              <a:t> является </a:t>
            </a:r>
            <a:r>
              <a:rPr lang="ru-RU" dirty="0" smtClean="0"/>
              <a:t>ФЕДЕРАЛЬНЫЙ ЗАКОН ОБ ЭЛЕКТРОННОЙ ПОДПИСИ Принят Государственной Думой 25 марта 2011 года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aseline="0" dirty="0" smtClean="0"/>
              <a:t>Главным нормативным документом, в котором отражены юридические моменты </a:t>
            </a:r>
            <a:r>
              <a:rPr lang="ru-RU" b="0" baseline="0" dirty="0" smtClean="0"/>
              <a:t>касающиеся </a:t>
            </a:r>
            <a:r>
              <a:rPr lang="ru-RU" sz="1200" b="0" dirty="0" smtClean="0">
                <a:latin typeface="Times New Roman" pitchFamily="18" charset="0"/>
                <a:cs typeface="Times New Roman" pitchFamily="18" charset="0"/>
              </a:rPr>
              <a:t>электронной (цифровой) подписи,</a:t>
            </a:r>
            <a:r>
              <a:rPr lang="ru-RU" sz="1200" b="0" baseline="0" dirty="0" smtClean="0">
                <a:latin typeface="Times New Roman" pitchFamily="18" charset="0"/>
                <a:cs typeface="Times New Roman" pitchFamily="18" charset="0"/>
              </a:rPr>
              <a:t> является </a:t>
            </a:r>
            <a:r>
              <a:rPr lang="ru-RU" dirty="0" smtClean="0"/>
              <a:t>ФЕДЕРАЛЬНЫЙ ЗАКОН ОБ ЭЛЕКТРОННОЙ ПОДПИСИ Принят Государственной Думой 25 марта 2011 года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aseline="0" dirty="0" smtClean="0"/>
              <a:t>Главным нормативным документом, в котором отражены юридические моменты </a:t>
            </a:r>
            <a:r>
              <a:rPr lang="ru-RU" b="0" baseline="0" dirty="0" smtClean="0"/>
              <a:t>касающиеся </a:t>
            </a:r>
            <a:r>
              <a:rPr lang="ru-RU" sz="1200" b="0" dirty="0" smtClean="0">
                <a:latin typeface="Times New Roman" pitchFamily="18" charset="0"/>
                <a:cs typeface="Times New Roman" pitchFamily="18" charset="0"/>
              </a:rPr>
              <a:t>электронной (цифровой) подписи,</a:t>
            </a:r>
            <a:r>
              <a:rPr lang="ru-RU" sz="1200" b="0" baseline="0" dirty="0" smtClean="0">
                <a:latin typeface="Times New Roman" pitchFamily="18" charset="0"/>
                <a:cs typeface="Times New Roman" pitchFamily="18" charset="0"/>
              </a:rPr>
              <a:t> является </a:t>
            </a:r>
            <a:r>
              <a:rPr lang="ru-RU" dirty="0" smtClean="0"/>
              <a:t>ФЕДЕРАЛЬНЫЙ ЗАКОН ОБ ЭЛЕКТРОННОЙ ПОДПИСИ Принят Государственной Думой 25 марта 2011 года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aseline="0" dirty="0" smtClean="0"/>
              <a:t>Главным нормативным документом, в котором отражены юридические моменты </a:t>
            </a:r>
            <a:r>
              <a:rPr lang="ru-RU" b="0" baseline="0" dirty="0" smtClean="0"/>
              <a:t>касающиеся </a:t>
            </a:r>
            <a:r>
              <a:rPr lang="ru-RU" sz="1200" b="0" dirty="0" smtClean="0">
                <a:latin typeface="Times New Roman" pitchFamily="18" charset="0"/>
                <a:cs typeface="Times New Roman" pitchFamily="18" charset="0"/>
              </a:rPr>
              <a:t>электронной (цифровой) подписи,</a:t>
            </a:r>
            <a:r>
              <a:rPr lang="ru-RU" sz="1200" b="0" baseline="0" dirty="0" smtClean="0">
                <a:latin typeface="Times New Roman" pitchFamily="18" charset="0"/>
                <a:cs typeface="Times New Roman" pitchFamily="18" charset="0"/>
              </a:rPr>
              <a:t> является </a:t>
            </a:r>
            <a:r>
              <a:rPr lang="ru-RU" dirty="0" smtClean="0"/>
              <a:t>ФЕДЕРАЛЬНЫЙ ЗАКОН ОБ ЭЛЕКТРОННОЙ ПОДПИСИ Принят Государственной Думой 25 марта 2011 года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aseline="0" dirty="0" smtClean="0"/>
              <a:t>Главным нормативным документом, в котором отражены юридические моменты </a:t>
            </a:r>
            <a:r>
              <a:rPr lang="ru-RU" b="0" baseline="0" dirty="0" smtClean="0"/>
              <a:t>касающиеся </a:t>
            </a:r>
            <a:r>
              <a:rPr lang="ru-RU" sz="1200" b="0" dirty="0" smtClean="0">
                <a:latin typeface="Times New Roman" pitchFamily="18" charset="0"/>
                <a:cs typeface="Times New Roman" pitchFamily="18" charset="0"/>
              </a:rPr>
              <a:t>электронной (цифровой) подписи,</a:t>
            </a:r>
            <a:r>
              <a:rPr lang="ru-RU" sz="1200" b="0" baseline="0" dirty="0" smtClean="0">
                <a:latin typeface="Times New Roman" pitchFamily="18" charset="0"/>
                <a:cs typeface="Times New Roman" pitchFamily="18" charset="0"/>
              </a:rPr>
              <a:t> является </a:t>
            </a:r>
            <a:r>
              <a:rPr lang="ru-RU" dirty="0" smtClean="0"/>
              <a:t>ФЕДЕРАЛЬНЫЙ ЗАКОН ОБ ЭЛЕКТРОННОЙ ПОДПИСИ Принят Государственной Думой 25 марта 2011 года.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aseline="0" dirty="0" smtClean="0"/>
              <a:t>Главным нормативным документом, в котором отражены юридические моменты </a:t>
            </a:r>
            <a:r>
              <a:rPr lang="ru-RU" b="0" baseline="0" dirty="0" smtClean="0"/>
              <a:t>касающиеся </a:t>
            </a:r>
            <a:r>
              <a:rPr lang="ru-RU" sz="1200" b="0" dirty="0" smtClean="0">
                <a:latin typeface="Times New Roman" pitchFamily="18" charset="0"/>
                <a:cs typeface="Times New Roman" pitchFamily="18" charset="0"/>
              </a:rPr>
              <a:t>электронной (цифровой) подписи,</a:t>
            </a:r>
            <a:r>
              <a:rPr lang="ru-RU" sz="1200" b="0" baseline="0" dirty="0" smtClean="0">
                <a:latin typeface="Times New Roman" pitchFamily="18" charset="0"/>
                <a:cs typeface="Times New Roman" pitchFamily="18" charset="0"/>
              </a:rPr>
              <a:t> является </a:t>
            </a:r>
            <a:r>
              <a:rPr lang="ru-RU" dirty="0" smtClean="0"/>
              <a:t>ФЕДЕРАЛЬНЫЙ ЗАКОН ОБ ЭЛЕКТРОННОЙ ПОДПИСИ Принят Государственной Думой 25 марта 2011 года.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13</a:t>
            </a:fld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aseline="0" dirty="0" smtClean="0"/>
              <a:t>Главным нормативным документом, в котором отражены юридические моменты </a:t>
            </a:r>
            <a:r>
              <a:rPr lang="ru-RU" b="0" baseline="0" dirty="0" smtClean="0"/>
              <a:t>касающиеся </a:t>
            </a:r>
            <a:r>
              <a:rPr lang="ru-RU" sz="1200" b="0" dirty="0" smtClean="0">
                <a:latin typeface="Times New Roman" pitchFamily="18" charset="0"/>
                <a:cs typeface="Times New Roman" pitchFamily="18" charset="0"/>
              </a:rPr>
              <a:t>электронной (цифровой) подписи,</a:t>
            </a:r>
            <a:r>
              <a:rPr lang="ru-RU" sz="1200" b="0" baseline="0" dirty="0" smtClean="0">
                <a:latin typeface="Times New Roman" pitchFamily="18" charset="0"/>
                <a:cs typeface="Times New Roman" pitchFamily="18" charset="0"/>
              </a:rPr>
              <a:t> является </a:t>
            </a:r>
            <a:r>
              <a:rPr lang="ru-RU" dirty="0" smtClean="0"/>
              <a:t>ФЕДЕРАЛЬНЫЙ ЗАКОН ОБ ЭЛЕКТРОННОЙ ПОДПИСИ Принят Государственной Думой 25 марта 2011 года.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aseline="0" dirty="0" smtClean="0"/>
              <a:t>Главным нормативным документом, в котором отражены юридические моменты </a:t>
            </a:r>
            <a:r>
              <a:rPr lang="ru-RU" b="0" baseline="0" dirty="0" smtClean="0"/>
              <a:t>касающиеся </a:t>
            </a:r>
            <a:r>
              <a:rPr lang="ru-RU" sz="1200" b="0" dirty="0" smtClean="0">
                <a:latin typeface="Times New Roman" pitchFamily="18" charset="0"/>
                <a:cs typeface="Times New Roman" pitchFamily="18" charset="0"/>
              </a:rPr>
              <a:t>электронной (цифровой) подписи,</a:t>
            </a:r>
            <a:r>
              <a:rPr lang="ru-RU" sz="1200" b="0" baseline="0" dirty="0" smtClean="0">
                <a:latin typeface="Times New Roman" pitchFamily="18" charset="0"/>
                <a:cs typeface="Times New Roman" pitchFamily="18" charset="0"/>
              </a:rPr>
              <a:t> является </a:t>
            </a:r>
            <a:r>
              <a:rPr lang="ru-RU" dirty="0" smtClean="0"/>
              <a:t>ФЕДЕРАЛЬНЫЙ ЗАКОН ОБ ЭЛЕКТРОННОЙ ПОДПИСИ Принят Государственной Думой 25 марта 2011 года.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15</a:t>
            </a:fld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150971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150971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150971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150971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Главный недостаток RSA для ЭЦП — 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низкая операционная эффективность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при обеспечении современного уровня безопасности, которая усугубляется высокими рисками сложной реализации и отсутствием перспектив 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постквантовом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будущем.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25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DD3C4-4D9F-471F-B8D8-ADC33A2F85A1}" type="datetime1">
              <a:rPr lang="ru-RU" smtClean="0"/>
              <a:pPr/>
              <a:t>14.12.2025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B98BF-76AC-42C3-8654-9F1F206953FA}" type="datetime1">
              <a:rPr lang="ru-RU" smtClean="0"/>
              <a:pPr/>
              <a:t>14.12.2025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EE70-87C5-41CC-82DC-8C76FDCDCB7E}" type="datetime1">
              <a:rPr lang="ru-RU" smtClean="0"/>
              <a:pPr/>
              <a:t>14.12.2025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56633-259D-4EC8-884E-C2567AD985AA}" type="datetime1">
              <a:rPr lang="ru-RU" smtClean="0"/>
              <a:pPr/>
              <a:t>14.12.2025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4EBE9-DC5A-42FC-A422-9CBA4D69C029}" type="datetime1">
              <a:rPr lang="ru-RU" smtClean="0"/>
              <a:pPr/>
              <a:t>14.12.2025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C991C-9657-48E4-960B-5974F82BD171}" type="datetime1">
              <a:rPr lang="ru-RU" smtClean="0"/>
              <a:pPr/>
              <a:t>14.12.2025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B673-70A8-4FFF-9AF4-4EC3D77B7B28}" type="datetime1">
              <a:rPr lang="ru-RU" smtClean="0"/>
              <a:pPr/>
              <a:t>14.12.2025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0B48-85CB-43FB-A2EB-BA5EDA8A1B0E}" type="datetime1">
              <a:rPr lang="ru-RU" smtClean="0"/>
              <a:pPr/>
              <a:t>14.12.2025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C9CB-2F51-4A77-B020-C5AAC41DE8AE}" type="datetime1">
              <a:rPr lang="ru-RU" smtClean="0"/>
              <a:pPr/>
              <a:t>14.12.2025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3BDCB-15E2-4DB5-85E9-91A0C1B54F67}" type="datetime1">
              <a:rPr lang="ru-RU" smtClean="0"/>
              <a:pPr/>
              <a:t>14.12.2025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C1AE0-7255-4FA6-AAAC-B0EE4F1C7F01}" type="datetime1">
              <a:rPr lang="ru-RU" smtClean="0"/>
              <a:pPr/>
              <a:t>14.12.2025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0EF9D-BDD6-43C3-8A2E-7175C2EEB663}" type="datetime1">
              <a:rPr lang="ru-RU" smtClean="0"/>
              <a:pPr/>
              <a:t>14.12.2025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836713"/>
            <a:ext cx="7772400" cy="1656184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Реализация криптографических алгоритмов в ИС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55576" y="2060848"/>
            <a:ext cx="7920880" cy="3096344"/>
          </a:xfrm>
        </p:spPr>
        <p:txBody>
          <a:bodyPr>
            <a:normAutofit/>
          </a:bodyPr>
          <a:lstStyle/>
          <a:p>
            <a:endParaRPr lang="ru-RU" b="1" dirty="0">
              <a:solidFill>
                <a:schemeClr val="tx1"/>
              </a:solidFill>
            </a:endParaRPr>
          </a:p>
          <a:p>
            <a:r>
              <a:rPr lang="ru-RU" sz="45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Лекция </a:t>
            </a:r>
            <a:r>
              <a:rPr lang="ru-RU" sz="45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ru-RU" sz="45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45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45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Электронная подпись на основе RSA</a:t>
            </a:r>
            <a:endParaRPr lang="ru-RU" sz="45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724942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Содержание лекции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3096343"/>
          </a:xfrm>
        </p:spPr>
        <p:txBody>
          <a:bodyPr>
            <a:normAutofit fontScale="92500"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sz="4000" b="1" dirty="0" smtClean="0">
                <a:latin typeface="Times New Roman" pitchFamily="18" charset="0"/>
                <a:cs typeface="Times New Roman" pitchFamily="18" charset="0"/>
              </a:rPr>
              <a:t>Нормативные документы электронной подписи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4000" b="1" dirty="0" smtClean="0">
                <a:latin typeface="Times New Roman" pitchFamily="18" charset="0"/>
                <a:cs typeface="Times New Roman" pitchFamily="18" charset="0"/>
              </a:rPr>
              <a:t>Виды электронных подписей</a:t>
            </a:r>
            <a:endParaRPr lang="ru-RU" sz="4000" b="1" dirty="0" smtClean="0"/>
          </a:p>
          <a:p>
            <a:pPr marL="514350" indent="-514350" algn="just">
              <a:buFont typeface="+mj-lt"/>
              <a:buAutoNum type="arabicPeriod"/>
            </a:pPr>
            <a:r>
              <a:rPr lang="ru-RU" sz="4000" b="1" dirty="0" smtClean="0">
                <a:latin typeface="Times New Roman" pitchFamily="18" charset="0"/>
                <a:cs typeface="Times New Roman" pitchFamily="18" charset="0"/>
              </a:rPr>
              <a:t>Схема электронной подписи на основе алгоритма 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RSA</a:t>
            </a:r>
            <a:endParaRPr lang="ru-RU" sz="40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z="1600" smtClean="0"/>
              <a:pPr/>
              <a:t>2</a:t>
            </a:fld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2404864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ctr">
              <a:buAutoNum type="arabicPeriod"/>
            </a:pPr>
            <a:r>
              <a:rPr lang="ru-RU" sz="3500" b="1" dirty="0" smtClean="0">
                <a:latin typeface="Times New Roman" pitchFamily="18" charset="0"/>
                <a:cs typeface="Times New Roman" pitchFamily="18" charset="0"/>
              </a:rPr>
              <a:t>Нормативные документы электронной подписи 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2952328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Лекция 6</a:t>
            </a:r>
            <a:b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Электронная подпись на основе RSA</a:t>
            </a:r>
            <a:b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3200" b="1" dirty="0" smtClean="0">
                <a:solidFill>
                  <a:srgbClr val="FF0000"/>
                </a:solidFill>
              </a:rPr>
              <a:t> </a:t>
            </a:r>
            <a:endParaRPr lang="ru-RU" sz="3200" b="1" dirty="0">
              <a:solidFill>
                <a:srgbClr val="FF0000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346646"/>
            <a:ext cx="8784976" cy="562074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1. Нормативные документы электронной подписи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5328592"/>
          </a:xfrm>
        </p:spPr>
        <p:txBody>
          <a:bodyPr>
            <a:normAutofit/>
          </a:bodyPr>
          <a:lstStyle/>
          <a:p>
            <a:pPr marL="0" indent="355600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Главным нормативным документом, в котором отражены юридические моменты касающиеся электронной (цифровой) подписи, является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ФЕДЕРАЛЬНЫЙ ЗАКОН ОБ ЭЛЕКТРОННОЙ ПОДПИСИ.</a:t>
            </a:r>
          </a:p>
          <a:p>
            <a:pPr marL="0" indent="355600" algn="just">
              <a:buNone/>
            </a:pP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Принят Государственной Думой 25 марта 2011 года.</a:t>
            </a:r>
          </a:p>
          <a:p>
            <a:pPr marL="0" indent="355600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Федеральный закон от 06.04.2011 N 63-ФЗ (ред. от 28.12.2024) «Об электронной подписи».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8614"/>
            <a:ext cx="8784976" cy="562074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1. Нормативные документы электронной подписи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5</a:t>
            </a:fld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648072"/>
            <a:ext cx="8352928" cy="60212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346646"/>
            <a:ext cx="8784976" cy="562074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1. ФЕДЕРАЛЬНЫЙ ЗАКОН ОБ ЭЛЕКТРОННОЙ ПОДПИСИ</a:t>
            </a:r>
            <a:endParaRPr lang="ru-RU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23528" y="1340768"/>
            <a:ext cx="864096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Статья 1. Сфера действия настоящего Федерального закона</a:t>
            </a:r>
          </a:p>
          <a:p>
            <a:pPr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Настоящий Федеральный закон регулирует отношения в области использования электронных подписей при совершении гражданско-правовых сделок, оказании государственных и муниципальных услуг, исполнении государственных и муниципальных функций, при совершении иных юридически значимых действий, в том числе в случаях, установленных другими федеральными законами).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332656"/>
            <a:ext cx="8784976" cy="792088"/>
          </a:xfrm>
        </p:spPr>
        <p:txBody>
          <a:bodyPr>
            <a:normAutofit fontScale="90000"/>
          </a:bodyPr>
          <a:lstStyle/>
          <a:p>
            <a:pPr indent="355600"/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1. Статья 2. Основные понятия, используемые в настоящем Федеральном законе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95536" y="1412776"/>
            <a:ext cx="828092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Для целей настоящего Федерального закона используются следующие основные понятия: 19 пунктов</a:t>
            </a:r>
          </a:p>
          <a:p>
            <a:pPr indent="355600" algn="just"/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indent="355600"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1) электронная подпись (ЭП)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– информация в электронной форме, которая присоединена к другой информации в электронной форме (подписываемой информации) или иным образом связана с такой информацией и которая используется для определения лица, подписывающего информацию;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95536" y="1628800"/>
            <a:ext cx="828092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2)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сертификат ключа проверки ЭП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– электронный документ или документ на бумажном носителе, выданные удостоверяющим центром либо доверенным лицом удостоверяющего центра и подтверждающие принадлежность ключа проверки электронной подписи владельцу сертификата ключа проверки электронной подписи;</a:t>
            </a: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179512" y="332656"/>
            <a:ext cx="8784976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/>
          <a:p>
            <a:pPr marL="0" marR="0" lvl="0" indent="35560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1. Статья 2. Основные понятия, используемые в настоящем Федеральном законе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467544" y="908720"/>
            <a:ext cx="828092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3)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квалифицированный сертификат ключа проверки ЭП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– сертификат ключа проверки электронной подписи, соответствующий требованиям, установленным настоящим Федеральным законом и иными принимаемыми в соответствии с ним нормативными правовыми актами, созданный аккредитованным удостоверяющим центром либо федеральным органом исполнительной власти, уполномоченным в сфере использования электронной подписи и являющийся в связи с этим официальным документом; </a:t>
            </a: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0" y="188640"/>
            <a:ext cx="8784976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/>
          <a:p>
            <a:pPr marL="0" marR="0" lvl="0" indent="35560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1. Статья 2. Основные понятия, используемые в настоящем Федеральном законе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467544" y="908720"/>
            <a:ext cx="828092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4)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владелец сертификата ключа проверки электронной подписи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– лицо, которому в установленном настоящим ФЗ порядке выдан сертификат ключа проверки электронной подписи; </a:t>
            </a:r>
          </a:p>
          <a:p>
            <a:pPr indent="355600"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5) ключ электронной подписи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– уникальная последовательность символов, предназначенная для создания ЭП; </a:t>
            </a:r>
          </a:p>
          <a:p>
            <a:pPr indent="355600"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6)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ключ проверки электронной подписи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– уникальная последовательность символов, однозначно связанная с ключом электронной подписи и предназначенная для проверки подлинности электронной подписи;</a:t>
            </a:r>
          </a:p>
          <a:p>
            <a:pPr indent="355600"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7)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…</a:t>
            </a: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179512" y="116632"/>
            <a:ext cx="8784976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/>
          <a:p>
            <a:pPr marL="0" marR="0" lvl="0" indent="35560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1. Статья 2. Основные понятия, используемые в настоящем Федеральном законе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467544" y="908720"/>
            <a:ext cx="828092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9)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средства ЭП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– шифровальные (криптографические) средства, используемые для создания/проверки ЭП, создание ключа электронной подписи и ключа проверки электронной подписи; </a:t>
            </a:r>
          </a:p>
          <a:p>
            <a:pPr indent="355600"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10)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средства удостоверяющего центра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– программные и (или) аппаратные средства, используемые для реализации функций удостоверяющего центра; </a:t>
            </a:r>
          </a:p>
          <a:p>
            <a:pPr indent="355600"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11) участники электронного взаимодействия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– осуществляющие обмен информацией в электронной форме государственные органы, органы местного самоуправления, организации, индивидуальные предприниматели, а также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граждане;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179512" y="116632"/>
            <a:ext cx="8784976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/>
          <a:p>
            <a:pPr marL="0" marR="0" lvl="0" indent="35560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1. Статья 2. Основные понятия, используемые в настоящем Федеральном законе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467544" y="764704"/>
            <a:ext cx="828092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12) корпоративная информационная система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информационная система, участники электронного взаимодействия в которой составляют определенный круг лиц; </a:t>
            </a:r>
          </a:p>
          <a:p>
            <a:pPr indent="355600"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13) информационная система общего пользования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информационная система, участники электронного взаимодействия в которой составляют неопределенный круг лиц и в использовании которой этим лицам не может быть отказано; </a:t>
            </a:r>
          </a:p>
          <a:p>
            <a:pPr indent="355600"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14) вручение сертификата ключа проверки электронной подписи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передача доверенным лицом удостоверяющего центра созданного этим удостоверяющим центром сертификата ключа проверки электронной подписи его владельцу;</a:t>
            </a: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179512" y="116632"/>
            <a:ext cx="8784976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/>
          <a:p>
            <a:pPr marL="0" marR="0" lvl="0" indent="35560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1. Статья 2. Основные понятия, используемые в настоящем Федеральном законе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467544" y="764704"/>
            <a:ext cx="828092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ЭП в электронном документе равнозначна собственноручной подписи в документе на бумажном носителе при одновременном соблюдении следующих условий:</a:t>
            </a:r>
          </a:p>
          <a:p>
            <a:pPr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1) сертификат ключа подписи, относящийся к этой электронной цифровой подписи, не утратил силу (действует) на момент проверки или на момент подписания электронного документа при наличии доказательств, определяющих момент подписания;</a:t>
            </a:r>
          </a:p>
          <a:p>
            <a:pPr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2) подтверждена подлинность электронной цифровой подписи в электронном документе;</a:t>
            </a:r>
          </a:p>
          <a:p>
            <a:pPr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3) ЭП используется в соответствии со сведениями, указанными в сертификате ключа подписи.</a:t>
            </a:r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79512" y="0"/>
            <a:ext cx="8784976" cy="562074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1. Нормативные документы электронной подписи</a:t>
            </a:r>
            <a:endParaRPr lang="ru-RU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467544" y="764704"/>
            <a:ext cx="828092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Закон устанавливает сведения, содержащие сертификат ключа подписи:</a:t>
            </a:r>
          </a:p>
          <a:p>
            <a:pPr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1) уникальный регистрационный номер сертификата ключа подписи, даты начала и окончания срока действия сертификата ключа подписи, находящегося в реестре удостоверяющего центра;</a:t>
            </a:r>
          </a:p>
          <a:p>
            <a:pPr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2) фамилия, имя и отчество владельца сертификата ключа подписи или псевдоним владельца. В случае использования псевдонима запись об этом вносится удостоверяющим центром в сертификат ключа подписи;</a:t>
            </a:r>
          </a:p>
          <a:p>
            <a:pPr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3) открытый ключ ЭЦП;</a:t>
            </a:r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79512" y="0"/>
            <a:ext cx="8784976" cy="562074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1. Нормативные документы электронной подписи</a:t>
            </a:r>
            <a:endParaRPr lang="ru-RU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467544" y="764704"/>
            <a:ext cx="828092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Закон устанавливает сведения, содержащие сертификат ключа подписи:</a:t>
            </a:r>
          </a:p>
          <a:p>
            <a:pPr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4) наименование средств ЭЦП, с которыми используется данный открытый ключ электронной цифровой подписи;</a:t>
            </a:r>
          </a:p>
          <a:p>
            <a:pPr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5) наименование и местонахождение удостоверяющего центра, выдавшего сертификат ключа подписи;</a:t>
            </a:r>
          </a:p>
          <a:p>
            <a:pPr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6) сведения об отношениях, при осуществлении которых электронный документ с электронной цифровой подписью будет иметь юридическое значение.</a:t>
            </a:r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79512" y="0"/>
            <a:ext cx="8784976" cy="562074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1. Нормативные документы электронной подписи</a:t>
            </a:r>
            <a:endParaRPr lang="ru-RU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2404864"/>
          </a:xfrm>
        </p:spPr>
        <p:txBody>
          <a:bodyPr/>
          <a:lstStyle/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2. Виды электронных подписей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2952328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Лекция 6</a:t>
            </a:r>
            <a:r>
              <a:rPr lang="ru-RU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Электронная подпись на основе RSA</a:t>
            </a:r>
            <a:endParaRPr lang="ru-RU" sz="3200" b="1" dirty="0">
              <a:solidFill>
                <a:srgbClr val="FF0000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16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5616624"/>
          </a:xfrm>
        </p:spPr>
        <p:txBody>
          <a:bodyPr>
            <a:normAutofit fontScale="92500"/>
          </a:bodyPr>
          <a:lstStyle/>
          <a:p>
            <a:pPr marL="0" indent="355600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 ситуации, когда обе стороны не доверяют друг другу, необходимо нечто большее, чем аутентификация на основе общего секрета. Возможным решением подобной проблемы является использование цифровой подписи. ЦП должна обладать следующими свойствами:</a:t>
            </a:r>
          </a:p>
          <a:p>
            <a:pPr marL="0"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Должна быть возможность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проверить автора, дату и время создания подписи.</a:t>
            </a:r>
          </a:p>
          <a:p>
            <a:pPr marL="0"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Должна быть возможность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аутентифицировать содержимое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во время создания подписи.</a:t>
            </a:r>
          </a:p>
          <a:p>
            <a:pPr marL="0"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Подпись должна быть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проверяема третьей стороной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для разрешения споров.</a:t>
            </a:r>
          </a:p>
          <a:p>
            <a:pPr marL="0" indent="355600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Таким образом, функция цифровой подписи включает функцию аутентификации.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="" xmlns:a16="http://schemas.microsoft.com/office/drawing/2014/main" id="{9441789C-8B21-A57C-4D10-F450AD8EB4F7}"/>
              </a:ext>
            </a:extLst>
          </p:cNvPr>
          <p:cNvSpPr txBox="1">
            <a:spLocks/>
          </p:cNvSpPr>
          <p:nvPr/>
        </p:nvSpPr>
        <p:spPr>
          <a:xfrm>
            <a:off x="323528" y="188640"/>
            <a:ext cx="838944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2. Виды электронных подписей</a:t>
            </a:r>
            <a:endParaRPr lang="ru-RU" sz="3200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17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5616624"/>
          </a:xfrm>
        </p:spPr>
        <p:txBody>
          <a:bodyPr>
            <a:normAutofit/>
          </a:bodyPr>
          <a:lstStyle/>
          <a:p>
            <a:pPr marL="0" indent="355600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Существует несколько подходов к использованию функции цифровой подписи. Они могут быть разделены на две категории: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прямые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и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арбитражные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355600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При использовании прямой цифровой подписи взаимодействуют только сами участники, т.е. отправитель и получатель. Предполагается, что получатель знает открытый ключ отправителя.</a:t>
            </a:r>
          </a:p>
          <a:p>
            <a:pPr marL="0" indent="355600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Цифровая подпись может быть создана шифрованием всего сообщения или его хэш-кода закрытым ключом отправителя.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="" xmlns:a16="http://schemas.microsoft.com/office/drawing/2014/main" id="{9441789C-8B21-A57C-4D10-F450AD8EB4F7}"/>
              </a:ext>
            </a:extLst>
          </p:cNvPr>
          <p:cNvSpPr txBox="1">
            <a:spLocks/>
          </p:cNvSpPr>
          <p:nvPr/>
        </p:nvSpPr>
        <p:spPr>
          <a:xfrm>
            <a:off x="323528" y="188640"/>
            <a:ext cx="838944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2. Виды электронных подписей</a:t>
            </a:r>
            <a:endParaRPr lang="ru-RU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5688632"/>
          </a:xfrm>
        </p:spPr>
        <p:txBody>
          <a:bodyPr>
            <a:normAutofit lnSpcReduction="10000"/>
          </a:bodyPr>
          <a:lstStyle/>
          <a:p>
            <a:pPr marL="0" indent="355600" algn="just">
              <a:spcBef>
                <a:spcPts val="0"/>
              </a:spcBef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Проблемы, связанные с прямой ЦП, могут быть частично решены с помощью арбитра. </a:t>
            </a:r>
          </a:p>
          <a:p>
            <a:pPr marL="0" indent="355600" algn="just">
              <a:spcBef>
                <a:spcPts val="0"/>
              </a:spcBef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Существуют различные схемы с применением арбитражной подписи. </a:t>
            </a:r>
          </a:p>
          <a:p>
            <a:pPr marL="0" indent="355600" algn="just">
              <a:spcBef>
                <a:spcPts val="0"/>
              </a:spcBef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Каждое подписанное сообщение от отправителя Х к получателю Y первым делом поступает к арбитру А, который проверяет подпись для данного сообщения. </a:t>
            </a:r>
          </a:p>
          <a:p>
            <a:pPr marL="0" indent="355600" algn="just">
              <a:spcBef>
                <a:spcPts val="0"/>
              </a:spcBef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После этого сообщение датируется и посылается к Y с указанием того, что оно было проверено арбитром. </a:t>
            </a:r>
          </a:p>
          <a:p>
            <a:pPr marL="0" indent="355600" algn="just">
              <a:spcBef>
                <a:spcPts val="0"/>
              </a:spcBef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Присутствие А решает проблему схем прямой цифровой подписи, при которых Х может отказаться от сообщения.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="" xmlns:a16="http://schemas.microsoft.com/office/drawing/2014/main" id="{9441789C-8B21-A57C-4D10-F450AD8EB4F7}"/>
              </a:ext>
            </a:extLst>
          </p:cNvPr>
          <p:cNvSpPr txBox="1">
            <a:spLocks/>
          </p:cNvSpPr>
          <p:nvPr/>
        </p:nvSpPr>
        <p:spPr>
          <a:xfrm>
            <a:off x="323528" y="188640"/>
            <a:ext cx="838944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2. Виды электронных подписей</a:t>
            </a:r>
            <a:endParaRPr lang="ru-RU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0728"/>
            <a:ext cx="8229600" cy="5544616"/>
          </a:xfrm>
        </p:spPr>
        <p:txBody>
          <a:bodyPr>
            <a:normAutofit/>
          </a:bodyPr>
          <a:lstStyle/>
          <a:p>
            <a:pPr marL="0" indent="355600" algn="just">
              <a:spcBef>
                <a:spcPts val="0"/>
              </a:spcBef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Типы электронных подписей:</a:t>
            </a:r>
          </a:p>
          <a:p>
            <a:pPr marL="0" indent="355600" algn="just">
              <a:spcBef>
                <a:spcPts val="0"/>
              </a:spcBef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1)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цифровая подпись DSS 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(основана на алгоритме DSA – 1991г. США). В качестве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хэш-алгоритма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стандарт предусматривает использование SHA-1. </a:t>
            </a:r>
            <a:r>
              <a:rPr lang="ru-RU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Нельзя использовать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для шифрования или обмена ключами.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DSS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– технология открытого ключа.</a:t>
            </a:r>
          </a:p>
          <a:p>
            <a:pPr marL="0" indent="355600" algn="just">
              <a:spcBef>
                <a:spcPts val="0"/>
              </a:spcBef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2)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Стандарт ЦП ГОСТ 34.10.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используется алгоритм, аналогичный DSS. Оба алгоритма относятся к семейству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ElGamal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 Используется хэш-функция ГОСТ 34.11, с хэш-кодом длиной 256 бит.</a:t>
            </a:r>
          </a:p>
          <a:p>
            <a:pPr marL="0" indent="355600" algn="just">
              <a:spcBef>
                <a:spcPts val="0"/>
              </a:spcBef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3)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Цифровая подпись на основе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RSA</a:t>
            </a:r>
            <a:endParaRPr lang="ru-RU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355600" algn="just">
              <a:spcBef>
                <a:spcPts val="0"/>
              </a:spcBef>
              <a:buNone/>
            </a:pP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355600" algn="just">
              <a:spcBef>
                <a:spcPts val="0"/>
              </a:spcBef>
              <a:buNone/>
            </a:pP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="" xmlns:a16="http://schemas.microsoft.com/office/drawing/2014/main" id="{9441789C-8B21-A57C-4D10-F450AD8EB4F7}"/>
              </a:ext>
            </a:extLst>
          </p:cNvPr>
          <p:cNvSpPr txBox="1">
            <a:spLocks/>
          </p:cNvSpPr>
          <p:nvPr/>
        </p:nvSpPr>
        <p:spPr>
          <a:xfrm>
            <a:off x="323528" y="188640"/>
            <a:ext cx="838944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2. Виды электронных подписей</a:t>
            </a:r>
            <a:endParaRPr lang="ru-RU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2404864"/>
          </a:xfrm>
        </p:spPr>
        <p:txBody>
          <a:bodyPr/>
          <a:lstStyle/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3. Схема электронной подписи на основе алгоритма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RSA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2952328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Лекция 6</a:t>
            </a:r>
            <a:r>
              <a:rPr lang="ru-RU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Электронная подпись на основе RSA</a:t>
            </a:r>
            <a:endParaRPr lang="ru-RU" sz="3200" b="1" dirty="0">
              <a:solidFill>
                <a:srgbClr val="FF0000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21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63490" name="AutoShape 2" descr="https://works.doklad.ru/images/_Y0q7aSBFA4/me1fc2a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3492" name="AutoShape 4" descr="https://works.doklad.ru/images/_Y0q7aSBFA4/me1fc2a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="" xmlns:a16="http://schemas.microsoft.com/office/drawing/2014/main" id="{9441789C-8B21-A57C-4D10-F450AD8EB4F7}"/>
              </a:ext>
            </a:extLst>
          </p:cNvPr>
          <p:cNvSpPr txBox="1">
            <a:spLocks/>
          </p:cNvSpPr>
          <p:nvPr/>
        </p:nvSpPr>
        <p:spPr>
          <a:xfrm>
            <a:off x="323528" y="188640"/>
            <a:ext cx="8389440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3. Схема электронной подписи на основе алгоритма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RSA</a:t>
            </a:r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4514" name="Picture 2" descr="Picture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980728"/>
            <a:ext cx="8582025" cy="573824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23</a:t>
            </a:fld>
            <a:endParaRPr lang="ru-RU"/>
          </a:p>
        </p:txBody>
      </p:sp>
      <p:pic>
        <p:nvPicPr>
          <p:cNvPr id="6146" name="Picture 2" descr="Picture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5"/>
            <a:ext cx="8460000" cy="637111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63490" name="AutoShape 2" descr="https://works.doklad.ru/images/_Y0q7aSBFA4/me1fc2a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3492" name="AutoShape 4" descr="https://works.doklad.ru/images/_Y0q7aSBFA4/me1fc2a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349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052736"/>
            <a:ext cx="8496944" cy="5616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Заголовок 1">
            <a:extLst>
              <a:ext uri="{FF2B5EF4-FFF2-40B4-BE49-F238E27FC236}">
                <a16:creationId xmlns="" xmlns:a16="http://schemas.microsoft.com/office/drawing/2014/main" id="{9441789C-8B21-A57C-4D10-F450AD8EB4F7}"/>
              </a:ext>
            </a:extLst>
          </p:cNvPr>
          <p:cNvSpPr txBox="1">
            <a:spLocks/>
          </p:cNvSpPr>
          <p:nvPr/>
        </p:nvSpPr>
        <p:spPr>
          <a:xfrm>
            <a:off x="323528" y="188640"/>
            <a:ext cx="8389440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3. Схема электронной подписи на основе алгоритма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RSA</a:t>
            </a:r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63490" name="AutoShape 2" descr="https://works.doklad.ru/images/_Y0q7aSBFA4/me1fc2a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3492" name="AutoShape 4" descr="https://works.doklad.ru/images/_Y0q7aSBFA4/me1fc2a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="" xmlns:a16="http://schemas.microsoft.com/office/drawing/2014/main" id="{9441789C-8B21-A57C-4D10-F450AD8EB4F7}"/>
              </a:ext>
            </a:extLst>
          </p:cNvPr>
          <p:cNvSpPr txBox="1">
            <a:spLocks/>
          </p:cNvSpPr>
          <p:nvPr/>
        </p:nvSpPr>
        <p:spPr>
          <a:xfrm>
            <a:off x="323528" y="476672"/>
            <a:ext cx="8389440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3. Недостатки схемы электронной подписи на основе RSA</a:t>
            </a:r>
          </a:p>
          <a:p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67544" y="980728"/>
            <a:ext cx="8229600" cy="5544616"/>
          </a:xfrm>
        </p:spPr>
        <p:txBody>
          <a:bodyPr>
            <a:normAutofit/>
          </a:bodyPr>
          <a:lstStyle/>
          <a:p>
            <a:pPr marL="0" indent="355600" algn="just">
              <a:spcBef>
                <a:spcPts val="0"/>
              </a:spcBef>
              <a:buAutoNum type="arabicPeriod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Низкая эффективность (размеры и скорость):</a:t>
            </a:r>
          </a:p>
          <a:p>
            <a:pPr marL="0" indent="355600" algn="just">
              <a:spcBef>
                <a:spcPts val="0"/>
              </a:spcBef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а) большой размер ключей</a:t>
            </a:r>
          </a:p>
          <a:p>
            <a:pPr marL="0" indent="355600" algn="just">
              <a:spcBef>
                <a:spcPts val="0"/>
              </a:spcBef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б) огромный размер подписи</a:t>
            </a:r>
          </a:p>
          <a:p>
            <a:pPr marL="0" indent="355600" algn="just">
              <a:spcBef>
                <a:spcPts val="0"/>
              </a:spcBef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в) медленная операция подписи</a:t>
            </a:r>
          </a:p>
          <a:p>
            <a:pPr marL="0" indent="355600" algn="just">
              <a:spcBef>
                <a:spcPts val="0"/>
              </a:spcBef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г) затраты на хранение и передачу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2. Сложность и риск реализации</a:t>
            </a:r>
          </a:p>
          <a:p>
            <a:pPr marL="0" indent="355600" algn="just">
              <a:spcBef>
                <a:spcPts val="0"/>
              </a:spcBef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а) критическая важность дополнения (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Padding)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355600" algn="just">
              <a:spcBef>
                <a:spcPts val="0"/>
              </a:spcBef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б) высокая подверженность атакам по побочным каналам</a:t>
            </a:r>
          </a:p>
          <a:p>
            <a:pPr marL="0" indent="355600" algn="just">
              <a:spcBef>
                <a:spcPts val="0"/>
              </a:spcBef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в) управление памятью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3. Математические и криптографические особенности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355600" algn="just">
              <a:spcBef>
                <a:spcPts val="0"/>
              </a:spcBef>
              <a:buNone/>
            </a:pP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355600" algn="just">
              <a:spcBef>
                <a:spcPts val="0"/>
              </a:spcBef>
              <a:buNone/>
            </a:pP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355600" algn="just">
              <a:spcBef>
                <a:spcPts val="0"/>
              </a:spcBef>
              <a:buNone/>
            </a:pP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1468</TotalTime>
  <Words>1646</Words>
  <Application>Microsoft Office PowerPoint</Application>
  <PresentationFormat>Экран (4:3)</PresentationFormat>
  <Paragraphs>163</Paragraphs>
  <Slides>25</Slides>
  <Notes>19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6" baseType="lpstr">
      <vt:lpstr>Тема Office</vt:lpstr>
      <vt:lpstr>Реализация криптографических алгоритмов в ИС</vt:lpstr>
      <vt:lpstr>Содержание лекции</vt:lpstr>
      <vt:lpstr>Лекция 6 Электронная подпись на основе RSA    </vt:lpstr>
      <vt:lpstr>1. Нормативные документы электронной подписи</vt:lpstr>
      <vt:lpstr>1. Нормативные документы электронной подписи</vt:lpstr>
      <vt:lpstr>1. ФЕДЕРАЛЬНЫЙ ЗАКОН ОБ ЭЛЕКТРОННОЙ ПОДПИСИ</vt:lpstr>
      <vt:lpstr>1. Статья 2. Основные понятия, используемые в настоящем Федеральном законе </vt:lpstr>
      <vt:lpstr>Слайд 8</vt:lpstr>
      <vt:lpstr>Слайд 9</vt:lpstr>
      <vt:lpstr>Слайд 10</vt:lpstr>
      <vt:lpstr>Слайд 11</vt:lpstr>
      <vt:lpstr>Слайд 12</vt:lpstr>
      <vt:lpstr>1. Нормативные документы электронной подписи</vt:lpstr>
      <vt:lpstr>1. Нормативные документы электронной подписи</vt:lpstr>
      <vt:lpstr>1. Нормативные документы электронной подписи</vt:lpstr>
      <vt:lpstr>Лекция 6  Электронная подпись на основе RSA</vt:lpstr>
      <vt:lpstr>Слайд 17</vt:lpstr>
      <vt:lpstr>Слайд 18</vt:lpstr>
      <vt:lpstr>Слайд 19</vt:lpstr>
      <vt:lpstr>Слайд 20</vt:lpstr>
      <vt:lpstr>Лекция 6  Электронная подпись на основе RSA</vt:lpstr>
      <vt:lpstr>Слайд 22</vt:lpstr>
      <vt:lpstr>Слайд 23</vt:lpstr>
      <vt:lpstr>Слайд 24</vt:lpstr>
      <vt:lpstr>Слайд 25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Реализация криптографических алгоритмов в ИС</dc:title>
  <dc:creator>Ольга</dc:creator>
  <cp:lastModifiedBy>Ольга</cp:lastModifiedBy>
  <cp:revision>283</cp:revision>
  <dcterms:created xsi:type="dcterms:W3CDTF">2025-09-10T22:06:03Z</dcterms:created>
  <dcterms:modified xsi:type="dcterms:W3CDTF">2025-12-14T15:10:49Z</dcterms:modified>
</cp:coreProperties>
</file>