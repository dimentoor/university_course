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4322"/>
  </p:normalViewPr>
  <p:slideViewPr>
    <p:cSldViewPr snapToGrid="0">
      <p:cViewPr>
        <p:scale>
          <a:sx n="97" d="100"/>
          <a:sy n="97" d="100"/>
        </p:scale>
        <p:origin x="116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72A09-5474-094B-9C2F-377A2D8FCD60}" type="datetimeFigureOut">
              <a:rPr lang="ru-RU" smtClean="0"/>
              <a:t>30.11.2025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D785E-AB36-B74F-AEC2-6F5F0C2A35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890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Сегодня мы наблюдаем беспрецедентное ускорение эволюции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киберугроз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Информационная безопасность перестала быть локальной задачей ИТ-отделов — это часть стратегии выживания бизнеса, элемент государственной стабильности и личной безопасности граждан.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ещё несколько лет назад ИБ ассоциировалась в основном с вирусами и одиночными хакерами, то теперь это сложная экосистема, включающая государственные структуры, криминальные группировки,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коммерциализированные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сервисы и технологии нового поколения.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ENISA,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Forescout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Kaspersky и PT Security отмечают: мы вступили в период, когда угрозы становятся не только массовыми, но и системными.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Современный мир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цифровизируется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быстрее, чем успевают адаптироваться механизмы защиты.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Объём цифровых данных растёт экспоненциально, а зависимость от облаков,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-сервисов и цепочек поставок делает безопасность не только техническим, но и управленческим вызовом.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298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Глобальные тенденции последних лет показывают рост зрелости киберпреступности.</a:t>
            </a:r>
          </a:p>
          <a:p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Появились модели 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«атака как услуга» (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-Service,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MaaS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где любой желающий может купить готовый набор инструментов: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вредоносы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фишинговые кампании, эксплойты.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Эти сервисы работают как полноценные IT-компании — с техподдержкой, обновлениями, программами лояльности и даже системой скидок для «постоянных клиентов».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Различные платформы продают подписку на доступ к инфраструктуре атак.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Таким образом, преступность превращается в распределённую экосистему, где производители, операторы и покупатели вредоносных инструментов действуют как партнёры.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Рынок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MaaS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стал одной из ключевых причин увеличения числа инцидентов: злоумышленникам больше не нужно разрабатывать вредоносный код — достаточно купить готовый набор.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822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Параллельно растёт количество атак на цепочки поставок (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Компрометация одной библиотеки или подрядчика может привести к взлому десятков организаций.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Современное программное обеспечение состоит из тысяч зависимостей и внешних пакетов – уязвимость даже одного модуля может иметь лавинообразный эффект.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Forescout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прогнозирует: к 2026 году почти треть всех новых уязвимостей будет связана с сетевой инфраструктурой и цепочками поставок.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Примером может служить компрометация пакетов в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PyPI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NPM – такие инциденты происходят регулярно, а последствия затрагивают тысячи разработчиков.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601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Кибербезопасность стала не только технологическим, но и стратегическим направлением государственной политики.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Современные кибератаки всё чаще носят 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гибридный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характер: они пересекаются с экономическими санкциями, шпионажем и геополитическими интересами.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APT-группы действуют как военные подразделения – с бюджетами, инфраструктурой и разведкой.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Кибероперации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против инфраструктур (энергетика, транспорт, медицина) становятся частью стратегии давления.</a:t>
            </a:r>
          </a:p>
          <a:p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Россия активно развивает и внедряет различные меры, нацеленные на предотвращение кибератак и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киберугроз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меры, реализуемые в России: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Развитие национальной инфраструктуры доверия.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Созданы отечественные центры обработки данных, криптографические сервисы, сертифицированные алгоритмы шифрования (ГОСТ Р 34.12-2015 «Кузнечик», ГОСТ Р 34.10-2012 ЭЦП).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Активно развивается система отечественных сертифицированных средств защиты, включая отечественные ОС (Astra Linux, РЕД ОС), системы мониторинга и SIEM-платформы.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централизованной системы мониторинга инцидентов.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Главным координатором является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Национальный координационный центр по компьютерным инцидентам (НКЦКИ, ФСБ РФ)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Центр обеспечивает обмен информацией между государственными и коммерческими структурами, координирует реагирование и предупреждение атак, включая международные уведомления через CERT-сети.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Развитие нормативно-правовой базы.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Приняты федеральные законы № 187-ФЗ «О безопасности критической информационной инфраструктуры» (КИИ) и № 152-ФЗ «О персональных данных».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 документы закрепляют обязательные меры защиты КИИ, аудит безопасности и ответственность за нарушение требований.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Импортонезависимость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суверенные технологии.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Россия последовательно снижает зависимость от зарубежного ПО, создавая национальные реестры отечественных решений.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Развивается проект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ГосТех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объединяющий сервисы госуправления на единой защищённой платформе.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Кадровая и образовательная политика.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Программы подготовки специалистов реализуются в рамках проектов «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Кибергигиена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», «Цифровая экономика», федеральных центров компетенций.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базе вузов формируются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Центры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киберустойчивости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CTF-платформы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для практического обучения специалистов.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Геополитический аспект.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Россия участвует в международных рабочих группах по вопросам ИБ под эгидой ООН, БРИКС и ШОС.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Активно продвигается концепция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«суверенного интернета»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предусматривающая автономное функционирование российских сегментов сети в случае глобальных сбоев или атак.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Эти меры направлены на снижение зависимости от зарубежных поставщиков, укрепление технологического суверенитета и формирование национальной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киберустойчивости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461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Киберпреступность эволюционирует от единичных инцидентов к массовым сервисам.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Появились специализированные «биржи доступа», где можно купить учетные записи, базы данных или администраторские токены.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Злоумышленники предлагают гарантии и отзывы – как на обычных маркетплейсах.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Пример: в 2025 году на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даркнет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-форуме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DarkLeak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был зафиксирован «рейтинг исполнителей» для атак по заказу.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Некоторые сервисы предоставляют панели мониторинга, отчёты о выполнении задач и даже SLA – аналог соглашений об уровне сервиса.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Спрос рождает предложение, и рынок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MaaS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растёт быстрее, чем рынок антивирусов.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делает борьбу с киберпреступностью задачей международного уровня, требующей скоординированных действий.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655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 Новые инструменты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Искусственный интеллект стал 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катализатором эволюции атак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Генеративные модели помогают злоумышленникам создавать реалистичные фишинговые письма, имитировать голоса и лица руководителей, генерировать вредоносный код и даже разрабатывать самообучающиеся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вредоносы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Появились известные примеры: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WormGPT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FraudGPT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DarkBART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платные модификации языковых моделей, оптимизированные для создания атак.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Они генерируют фишинг-тексты без орфографических ошибок, подделывают переписку, имитируют стиль корпоративных сообщений.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ИИ-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вредоносы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уже способны 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адаптироваться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анализировать реакции антивирусов, менять тактику, модифицировать код во время работы.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-технологии усиливают социальную инженерию, делая её практически неотличимой от реального взаимодействия.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709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3.2 Пример: синтетическая личность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Синтетические личности – это образы людей, созданные с помощью генеративных нейросетей (видео, аудио, 3D-аватары).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Они используются злоумышленниками для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мошенничества, шантажа и атак на доверие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Реальный пример (2024 г., Гонконг):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феврале 2024 года компания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Arup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(международный инженерный холдинг) сообщила об инциденте, когда финансовый сотрудник участвовал в видеоконференции с «руководством» – на экране были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DeepFake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-аватары коллег.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ИИ-система сгенерировала лица и голоса в реальном времени, используя открытые видео из интернета.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Сотрудник, не подозревая подделку, перевёл мошенникам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около 25 млн долларов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указанные счета.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Эта атака стала первой подтверждённой масштабной операцией с использованием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группового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DeepFake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-видеозвонка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полностью имитировавшего встречу в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Teams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Позже расследование показало, что злоумышленники использовали комбинацию нейросетей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DeepFace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Lab и VALL-E для синтеза голоса.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Мошенники имели предварительные данные о переговорах компании – классическая атака на основе социальной инженерии + ИИ.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Подобные случаи в России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2025 году зафиксировано несколько случаев звонков от «руководителей банков» с генерированным голосом.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данным ЦБ РФ, в 70 % случаев такие атаки использовали реальные записи публичных речей.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Банк России совместно с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Минцифры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внедряет систему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аудио-верификации и детектирования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DeepFake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-голоса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 обработке обращений клиентов.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Синтетические личности стали новым уровнем атак на доверие, и защита от них требует применения алгоритмов анализа микровибраций голоса, морфологии лица и паттернов движений. </a:t>
            </a:r>
          </a:p>
          <a:p>
            <a:r>
              <a:rPr lang="ru-RU" sz="1800" strike="sng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ИИ стал не только инструментом нападения, но и объектом защиты: появляются решения для обнаружения «ИИ-угроз» и проверки контента на подделку.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440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Одной из наиболее серьёзных проблем остаются атаки на цепочки поставок ПО и инструменты разработчиков.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Компрометация даже небольшой зависимости может привести к массовому заражению.</a:t>
            </a:r>
          </a:p>
          <a:p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 Кейс VS Code: вредоносное расширение «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Icon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Недавний пример, описанный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Nextron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Systems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(28 ноября 2025 г.), – вредоносное расширение для Visual Studio Code, выдававшее себя за популярную тему «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Icon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Расширение содержало два импланта на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Rust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(для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Mach-O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Windows PE), что позволяло закрепляться в разных операционных системах.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Внутри обнаружены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обфусцированные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скрипты JavaScript и встроенные бинарные модули.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Инцидент подчеркнул: даже легитимные площадки, такие как VS Code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Marketplace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могут стать вектором вторжения.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Обычные антивирусы не обнаруживали угрозу из-за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обфускации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«чистого» поведения на поверхности.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 оперативно удалила расширение, но до этого оно успело установиться более чем 16 000 раз.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Этот пример наглядно показывает, почему нужен многоуровневый контроль артефактов и систем доставки ПО.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693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4.2 Кейс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GlassWorm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самораспространяющийся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вредонос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Ранее исследователи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Truesec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BleepingComputer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зафиксировали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вредонос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GlassWorm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который внедрялся в расширения VS Code и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OpenVSX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 использовал невидимые символы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маскировки кода, похищал учётные данные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устанавливал бэкдоры.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GlassWorm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мог самостоятельно заражать другие расширения через цепочки зависимостей, создавая эффект самораспространения.</a:t>
            </a:r>
          </a:p>
          <a:p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4.3 Выводы для разработчиков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Даже инструменты, предназначенные для повышения производительности, могут стать вектором атаки.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Компании должны внедрять процедуры проверки всех расширений, пакетов и дополнений перед установкой.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Необходим аудит и сканирование артефактов, использование песочниц и систем обнаружения аномалий.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978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Квантовые и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постквантовые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риски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Квантовые вычисления открывают новую эру в развитии технологий – и новый уровень угроз.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Квантовый компьютер способен выполнять параллельные вычисления, что делает возможным взлом классических алгоритмов шифрования (RSA, ECC, DSA).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Атака по алгоритму Шора теоретически позволяет расшифровать RSA-2048 за часы при наличии квантового компьютера с несколькими миллионами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кубитов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Такие системы пока не доступны, но их появление – лишь вопрос времени.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1. Риск «Собери сейчас – расшифруй позже» (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Harvest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Now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Decrypt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Later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Многие хакерские группы и разведслужбы уже сегодня перехватывают зашифрованные данные, чтобы хранить их до появления квантовых вычислительных мощностей.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Это особенно опасно для долгосрочно конфиденциальной информации – переписки госорганов, архивов, медицинских данных, военных документов.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ENISA называет такие атаки «тихими инвестициями в будущее взлома».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2. Миграция к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постквантовым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алгоритмам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2024 году NIST (США) и ENISA (ЕС) утвердили стандартные кандидаты на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постквантовые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алгоритмы: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CRYSTALS-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Kyber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(шифрование и обмен ключами);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CRYSTALS-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Dilithium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FALCON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SPHINCS+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(электронная подпись).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Компании Google,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Cloudflare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IBM уже начали их тестирование в своих продуктах.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Россия также проводит исследования: ФСТЭК 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Минцифры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координируют проект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Постквантовая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криптография РФ»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Росатом и ИТМО занимаются разработкой отечественных аналогов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Kyber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Dilithium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3. Риски квантовых симуляторов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Квантовые симуляторы уже используются в исследовательских лабораториях (IBM Quantum,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Alibaba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Cloud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Quantum Lab).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2025 году исследователи IBM продемонстрировали взлом 48-битного RSA-ключа на гибридной системе с 433-кубитным процессором «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Condor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Хотя до реального взлома RSA-2048 ещё далеко, факт успешного применения гибридных квантово-классических подходов подтверждает приближение новой эпохи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криптоугроз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Меры реагирования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национальных криптографических стандартов, устойчивых к квантовым атакам (ГОСТ П-КУЗНЕЧИК-Q, ГОСТ 34.13-Q).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Аудит жизненного цикла ключей и сертификатов – особенно в долгосрочных системах (банковские и госархивы).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тестовых стендов для перехода на PQC (</a:t>
            </a:r>
            <a:r>
              <a:rPr lang="ru-RU" sz="2800" b="1" i="0" u="none" strike="noStrike" dirty="0" err="1">
                <a:solidFill>
                  <a:srgbClr val="333333"/>
                </a:solidFill>
                <a:effectLst/>
                <a:latin typeface="YS Text"/>
              </a:rPr>
              <a:t>Постквантовая</a:t>
            </a:r>
            <a:r>
              <a:rPr lang="ru-RU" sz="2800" b="1" i="0" u="none" strike="noStrike" dirty="0">
                <a:solidFill>
                  <a:srgbClr val="333333"/>
                </a:solidFill>
                <a:effectLst/>
                <a:latin typeface="YS Text"/>
              </a:rPr>
              <a:t> криптография</a:t>
            </a:r>
            <a:r>
              <a:rPr lang="en" sz="2800" b="1" i="0" u="none" strike="noStrike" dirty="0">
                <a:solidFill>
                  <a:srgbClr val="333333"/>
                </a:solidFill>
                <a:effectLst/>
                <a:latin typeface="YS Text"/>
              </a:rPr>
              <a:t>)</a:t>
            </a:r>
            <a:r>
              <a:rPr lang="ru-RU" sz="2800" b="1" i="0" u="none" strike="noStrike" dirty="0">
                <a:solidFill>
                  <a:srgbClr val="333333"/>
                </a:solidFill>
                <a:effectLst/>
                <a:latin typeface="YS Text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сфере КИИ.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Международное сотрудничество – Россия участвует в экспертных группах БРИКС по развитию квантовой коммуникации и разработке защищённых протоколов.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793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всём технологическом развитии именно человек остаётся слабым звеном.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80 % инцидентов начинается с ошибки пользователя – фишинг, неосторожность, неверное использование доступа.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Социальная инженерия становится всё более психологически точной и грамотной.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 Trust – ключевой принцип современной защиты.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 предполагает, что не доверяют ни пользователям, ни устройствам, ни сетям без дополнительной проверки.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Регулярное обучение, тестирование, симуляции фишинга и повышение осведомлённости становятся обязательной частью культуры безопасности.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09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PT Security в 2024–2025 гг. провела более 100 расследований, почти половина из них связана с APT-группами. В категории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Cybercrime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объединены атаки, направленные преимущественно на совершение деструктивных действий (шифрование, уничтожение) в отношении информации и бизнес-процессов компаний.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Важно отметить, что однозначно идентифицировать атакующих не всегда представляется возможным. Так, в 26% компаний были выявлены следы публично не идентифицированных злоумышленников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Средняя длительность инцидента – 9 дней, но отдельные атаки оставались незамеченными до 3 лет.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Основные векторы – бизнес-приложения, подрядчики и доверенные сети.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доказывает, что даже зрелые организации не всегда готовы к комплексным угрозам.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789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Заключение: адаптивная безопасность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Кибербезопасность уже не ограничивается технологиями.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философия и система ценностей, встроенная в корпоративную культуру.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Адаптивность, сегментация, видимость активов, обновление криптографии и обучение персонала – фундамент современной защиты.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мире, где киберпреступность стала индустрией, только системный подход и постоянная адаптация способны минимизировать ущерб и обеспечить устойчивость организаций.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D785E-AB36-B74F-AEC2-6F5F0C2A351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01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5B836-E392-2C97-0837-59E6F038F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3446ED-1B59-DBF0-6D4B-6AAB86041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24BD6B-4C2C-69E9-1D29-3A838EB5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84F19-6892-DB91-49C5-025728B8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3AC0A9-9100-CDA7-F3D8-D8BB0CE1B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28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1FB85-B445-EE31-780C-5F9DAD6F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FA9988-ADE0-CA5B-5301-56517B876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635F4A-86ED-6BAA-590B-05FCDDBD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157A06-8CCB-1A18-0FEE-B9659F5E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AC4540-220F-A1F4-8E89-80A2BEE0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42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8BD1E-3985-A364-187B-EF6E235D4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9F2357-1357-9FCF-206A-F6CEF335B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9E4867-B8D8-E58A-B1F7-B0611084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D6869A-A49A-7EF4-5881-01883DEE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54543E-4801-958F-8052-CB180987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785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44E27-56FD-F14E-1B2B-245575490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B398C8-6B03-9DDE-D351-9B76F57F3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3487B9-C9E5-053A-3961-B041EFF14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D038CA-2E89-8930-580E-23B5D92C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6F3FE9-F326-7CC8-11B3-705CAB41D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B25126-5F4E-A6B9-A7CA-631B0D87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97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51B9AA-76DC-DDB6-9AF6-425BAA19F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68DC6A-B32B-61FF-8739-23454D7A8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324285-C336-732B-8BD0-2F69E7D02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C5FF70-45FC-B9C3-B67C-4C77D2F9D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232991-88CC-3C37-8649-84DD4BE04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82F705-324B-BCCB-C9F2-6DE38A65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711015D-BC88-2AF8-A0C9-57373B5E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B2A27B4-287B-A5AA-D7D8-5292948A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72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E6EF3-F742-2FFE-5B5C-1064D609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D0DADC-702C-E8DF-544B-DE9F4AC3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928E26-35F8-27BB-738C-AC1165DE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4818AD-DCBF-4448-9A0F-48E01194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67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90202A-6D21-4A5A-F725-9B268043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F70B32-82CE-7463-F1B3-A4BAE6E1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C006C4-3A45-32B4-09D8-2C99ACC1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3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9397D-47AE-DDDF-518E-7C3377D2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AE40B7-1F37-4917-7300-D00C5724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BA9E57-0E4F-A4E5-51B6-927140618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0D1793-5FE8-686A-BE67-3B8CA8FAD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826588-59C0-A75F-9213-332886C5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A20464-08AB-8563-E6D1-8C7A2308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504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7BAD8-B3F2-7B41-2BCD-3164A861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5C94187-5CDB-9D92-13FD-40F45C7AF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C78EA7-75C2-4365-8BB0-974CC6185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88AF8-8E12-51EC-4E29-211FB94C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3EF3F1-2185-796F-7F9A-0F42ADD1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118B80-8809-38AA-1CB4-0E4E76EE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13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7B60A-0644-8506-206C-1FE43F30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BD05FF-4B1A-AAE4-9378-49A077F38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7E8256-3330-54BB-9FD6-DE8F4B57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8E1FB6-767F-68CD-0721-3FCBBF916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F7C1B8-8A11-50BD-FAAF-DB733773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921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3C3CC6-E4E3-3A32-1A5B-33A825A3D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AA9ED9-2493-B1DA-B36B-54F0667EF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1DD6DF-8C3C-CF1A-92BF-70C6CF1B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D9632C-93CB-F7F0-FA19-C298FBE3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CCDBAB-28D5-6402-FE52-E99EADCF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972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BEE80D-9494-E636-9501-08D4F824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DB91B3-8942-A266-D4BA-C46CCE7FF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26BC80-B7AE-E1D4-DB7E-0CC7BEC8A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B7E18-6589-C043-8B7A-E153202C3DA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EF423B-49CE-DEFC-2B45-DEEF832E6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586DB-621C-564E-9D43-BB3B6430C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7D923-59C0-6643-B5F7-B5807C232E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55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79576" y="836713"/>
            <a:ext cx="7772400" cy="1656184"/>
          </a:xfrm>
        </p:spPr>
        <p:txBody>
          <a:bodyPr>
            <a:normAutofit/>
          </a:bodyPr>
          <a:lstStyle/>
          <a:p>
            <a:r>
              <a:rPr lang="ru-RU" sz="3200" b="1" dirty="0"/>
              <a:t>Реализация криптографических алгоритмов в ИС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39616" y="2060848"/>
            <a:ext cx="6984776" cy="3096344"/>
          </a:xfrm>
        </p:spPr>
        <p:txBody>
          <a:bodyPr>
            <a:normAutofit/>
          </a:bodyPr>
          <a:lstStyle/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sz="4500" b="1" dirty="0">
                <a:solidFill>
                  <a:srgbClr val="FF0000"/>
                </a:solidFill>
              </a:rPr>
              <a:t>Лекция </a:t>
            </a:r>
            <a:r>
              <a:rPr lang="en-US" sz="4500" b="1" dirty="0">
                <a:solidFill>
                  <a:srgbClr val="FF0000"/>
                </a:solidFill>
              </a:rPr>
              <a:t>7</a:t>
            </a:r>
            <a:br>
              <a:rPr lang="ru-RU" sz="4500" dirty="0">
                <a:solidFill>
                  <a:srgbClr val="FF0000"/>
                </a:solidFill>
              </a:rPr>
            </a:br>
            <a:r>
              <a:rPr lang="ru-RU" sz="4500" b="1" dirty="0">
                <a:solidFill>
                  <a:srgbClr val="FF0000"/>
                </a:solidFill>
              </a:rPr>
              <a:t>Современные вызовы информационной безопасности.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B06B9C1-C81D-6BAE-4B36-1C3A339DA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489" y="2445850"/>
            <a:ext cx="7020910" cy="394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15B6E6-51CE-97EB-3253-50151CE65362}"/>
              </a:ext>
            </a:extLst>
          </p:cNvPr>
          <p:cNvSpPr txBox="1"/>
          <p:nvPr/>
        </p:nvSpPr>
        <p:spPr>
          <a:xfrm>
            <a:off x="231228" y="29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Глобальные тенденции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киберугроз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E29EF-A3E2-DC1B-61A1-E5781A481A5E}"/>
              </a:ext>
            </a:extLst>
          </p:cNvPr>
          <p:cNvSpPr txBox="1"/>
          <p:nvPr/>
        </p:nvSpPr>
        <p:spPr>
          <a:xfrm>
            <a:off x="459258" y="69152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Современный мир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цифровизируется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быстрее, чем успевают адаптироваться механизмы защиты.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Объём цифровых данных растёт экспоненциально, а зависимость от облаков,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SaaS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-сервисов и цепочек поставок делает безопасность не только техническим, но и управленческим вызовом.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701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01DE7D02-A4DA-6E8B-123E-6B24C6CAB9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22"/>
          <a:stretch/>
        </p:blipFill>
        <p:spPr bwMode="auto">
          <a:xfrm>
            <a:off x="2004136" y="2637182"/>
            <a:ext cx="8183727" cy="358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A555F5-6269-F2B5-1199-C09EC22D282D}"/>
              </a:ext>
            </a:extLst>
          </p:cNvPr>
          <p:cNvSpPr txBox="1"/>
          <p:nvPr/>
        </p:nvSpPr>
        <p:spPr>
          <a:xfrm>
            <a:off x="324703" y="347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Преступность как услуга.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MaaS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97267-D4F7-1E8B-1DF3-405AEB6C6A7E}"/>
              </a:ext>
            </a:extLst>
          </p:cNvPr>
          <p:cNvSpPr txBox="1"/>
          <p:nvPr/>
        </p:nvSpPr>
        <p:spPr>
          <a:xfrm>
            <a:off x="1939688" y="1135865"/>
            <a:ext cx="8312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Рынок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MaaS</a:t>
            </a:r>
            <a:r>
              <a:rPr lang="ru-RU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-Service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стал одной из ключевых причин увеличения числа инцидентов: злоумышленникам больше не нужно разрабатывать вредоносный код – достаточно купить готовый набор.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062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B5084E13-F80A-FED3-E602-E79A4DC75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3513"/>
            <a:ext cx="12192000" cy="407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40B7ED69-3429-4542-086E-6F273D11E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918" y="3722032"/>
            <a:ext cx="5714495" cy="247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F8926E-817D-8A4E-112F-EA394D5E81CB}"/>
              </a:ext>
            </a:extLst>
          </p:cNvPr>
          <p:cNvSpPr txBox="1"/>
          <p:nvPr/>
        </p:nvSpPr>
        <p:spPr>
          <a:xfrm>
            <a:off x="231228" y="29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Атаки на цепочки поставок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DE55AB-AC84-CE26-4E54-AE27178F089D}"/>
              </a:ext>
            </a:extLst>
          </p:cNvPr>
          <p:cNvSpPr txBox="1"/>
          <p:nvPr/>
        </p:nvSpPr>
        <p:spPr>
          <a:xfrm>
            <a:off x="338492" y="2885539"/>
            <a:ext cx="54333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Атака на цепочку поставок (</a:t>
            </a:r>
            <a:r>
              <a:rPr lang="en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attack)</a:t>
            </a:r>
            <a:r>
              <a:rPr lang="e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это вид кибератаки, при которой злоумышленники атакуют не саму компанию, а её поставщиков или партнёров.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получить доступ к конфиденциальной информации, нарушить работу компании или даже вымогательство.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76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777A7AE4-706C-8BCD-6DB1-29076061A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026" y="3287478"/>
            <a:ext cx="5825721" cy="327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1B7EEB-F3BA-7E64-077C-F0DD5DC8E6F9}"/>
              </a:ext>
            </a:extLst>
          </p:cNvPr>
          <p:cNvSpPr txBox="1"/>
          <p:nvPr/>
        </p:nvSpPr>
        <p:spPr>
          <a:xfrm>
            <a:off x="231228" y="29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1.3 Роль государства и геополитика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2FC86-6463-32CD-BB9D-0431A4F81350}"/>
              </a:ext>
            </a:extLst>
          </p:cNvPr>
          <p:cNvSpPr txBox="1"/>
          <p:nvPr/>
        </p:nvSpPr>
        <p:spPr>
          <a:xfrm>
            <a:off x="570929" y="866392"/>
            <a:ext cx="7712765" cy="284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меры, реализуемые в России: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Развитие национальной инфраструктуры доверия.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централизованной системы мониторинга инцидентов.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Развитие нормативно-правовой базы.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Импортонезависимость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суверенные технологии.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Кадровая и образовательная политика.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Геополитический аспект.</a:t>
            </a:r>
          </a:p>
        </p:txBody>
      </p:sp>
    </p:spTree>
    <p:extLst>
      <p:ext uri="{BB962C8B-B14F-4D97-AF65-F5344CB8AC3E}">
        <p14:creationId xmlns:p14="http://schemas.microsoft.com/office/powerpoint/2010/main" val="382227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85160D-D658-8346-9765-D44334052B8C}"/>
              </a:ext>
            </a:extLst>
          </p:cNvPr>
          <p:cNvSpPr txBox="1"/>
          <p:nvPr/>
        </p:nvSpPr>
        <p:spPr>
          <a:xfrm>
            <a:off x="231228" y="29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Индустриализация киберпреступности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FE2A9CC3-F3E7-CFE5-8178-BC5BC3BE3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BDB140-7255-9DA8-8836-A37C3E020D87}"/>
              </a:ext>
            </a:extLst>
          </p:cNvPr>
          <p:cNvSpPr txBox="1"/>
          <p:nvPr/>
        </p:nvSpPr>
        <p:spPr>
          <a:xfrm>
            <a:off x="477078" y="3654287"/>
            <a:ext cx="112378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Киберпреступность эволюционирует от единичных инцидентов к массовым сервисам.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Появились специализированные «биржи доступа», где можно купить учетные записи, базы данных или администраторские токены.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Злоумышленники предлагают гарантии и отзывы – как на обычных маркетплейсах.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Спрос рождает предложение, и рынок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MaaS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растёт быстрее, чем рынок антивирусов.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делает борьбу с киберпреступностью задачей международного уровня, требующей скоординированных действий.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78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377AEF-C7E3-6492-6C21-90AEC853F963}"/>
              </a:ext>
            </a:extLst>
          </p:cNvPr>
          <p:cNvSpPr txBox="1"/>
          <p:nvPr/>
        </p:nvSpPr>
        <p:spPr>
          <a:xfrm>
            <a:off x="231228" y="2935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Искусственный интеллект в кибератаках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 Новые инструменты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E29E7EFF-CD99-1D39-DD39-070EAC80D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332" y="1098911"/>
            <a:ext cx="8471338" cy="423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5DB4BC29-E4EA-F4C5-6A27-91D57494F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74" y="3475963"/>
            <a:ext cx="4729655" cy="266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icture background">
            <a:extLst>
              <a:ext uri="{FF2B5EF4-FFF2-40B4-BE49-F238E27FC236}">
                <a16:creationId xmlns:a16="http://schemas.microsoft.com/office/drawing/2014/main" id="{E58A36B7-9E2B-17B1-416A-3116692B4F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27"/>
          <a:stretch/>
        </p:blipFill>
        <p:spPr bwMode="auto">
          <a:xfrm>
            <a:off x="6978873" y="4099557"/>
            <a:ext cx="4918841" cy="2470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566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8B7DA2-55F4-0AB7-6DE6-3B70F1D9670E}"/>
              </a:ext>
            </a:extLst>
          </p:cNvPr>
          <p:cNvSpPr txBox="1"/>
          <p:nvPr/>
        </p:nvSpPr>
        <p:spPr>
          <a:xfrm>
            <a:off x="231228" y="29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3.2 Пример: синтетическая личность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7686EF2C-A7CF-7794-5782-355A4C55CA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28"/>
          <a:stretch/>
        </p:blipFill>
        <p:spPr bwMode="auto">
          <a:xfrm>
            <a:off x="3951889" y="903890"/>
            <a:ext cx="7851227" cy="349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A492FD-D597-3B77-6A00-39C538B3F4AE}"/>
              </a:ext>
            </a:extLst>
          </p:cNvPr>
          <p:cNvSpPr txBox="1"/>
          <p:nvPr/>
        </p:nvSpPr>
        <p:spPr>
          <a:xfrm>
            <a:off x="556591" y="1951672"/>
            <a:ext cx="670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Синтетические личности – это образы людей, созданные с помощью генеративных нейросетей (видео, аудио, 3D-аватары).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Они используются злоумышленниками для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мошенничества, шантажа и атак на доверие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D72CF-62D4-6BE2-64BC-E57B2F45E1B1}"/>
              </a:ext>
            </a:extLst>
          </p:cNvPr>
          <p:cNvSpPr txBox="1"/>
          <p:nvPr/>
        </p:nvSpPr>
        <p:spPr>
          <a:xfrm>
            <a:off x="556591" y="4973368"/>
            <a:ext cx="11860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Синтетические личности стали новым уровнем атак на доверие, и защита от них требует применения алгоритмов анализа микровибраций голоса, морфологии лица и паттернов движений. </a:t>
            </a:r>
          </a:p>
        </p:txBody>
      </p:sp>
    </p:spTree>
    <p:extLst>
      <p:ext uri="{BB962C8B-B14F-4D97-AF65-F5344CB8AC3E}">
        <p14:creationId xmlns:p14="http://schemas.microsoft.com/office/powerpoint/2010/main" val="1780082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C55685-F999-30E8-5621-EB1651F91A34}"/>
              </a:ext>
            </a:extLst>
          </p:cNvPr>
          <p:cNvSpPr txBox="1"/>
          <p:nvPr/>
        </p:nvSpPr>
        <p:spPr>
          <a:xfrm>
            <a:off x="231228" y="293554"/>
            <a:ext cx="71470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Угрозы цепочек поставок и экосистем разработки</a:t>
            </a:r>
          </a:p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 Кейс VS Code: вредоносное расширение «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Icon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B9284BA8-7497-847E-51BF-2D95127F3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561" y="1305341"/>
            <a:ext cx="6231467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4323F1-C8F0-D7B8-AEFA-8540F4DE4057}"/>
              </a:ext>
            </a:extLst>
          </p:cNvPr>
          <p:cNvSpPr txBox="1"/>
          <p:nvPr/>
        </p:nvSpPr>
        <p:spPr>
          <a:xfrm>
            <a:off x="516835" y="1305341"/>
            <a:ext cx="496956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Недавний пример – вредоносное расширение для Visual Studio Code, выдававшее себя за популярную тему «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Icon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Расширение содержало два импланта на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Rust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(для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Mach-O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Windows PE), что позволяло закрепляться в разных операционных системах.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Внутри обнаружены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обфусцированные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скрипты JavaScript и встроенные бинарные модули.</a:t>
            </a:r>
          </a:p>
          <a:p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Инцидент подчеркнул: даже легитимные площадки, такие как VS Code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Marketplace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могут стать вектором вторжения.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Обычные антивирусы не обнаруживали угрозу из-за </a:t>
            </a:r>
            <a:r>
              <a:rPr lang="ru-RU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обфускации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«чистого» поведения на поверхности.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 оперативно удалила расширение, но до этого оно успело установиться более чем 16 000 раз.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8020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4E59E-5D91-FA78-ACF4-7131B43604D9}"/>
              </a:ext>
            </a:extLst>
          </p:cNvPr>
          <p:cNvSpPr txBox="1"/>
          <p:nvPr/>
        </p:nvSpPr>
        <p:spPr>
          <a:xfrm>
            <a:off x="231227" y="293554"/>
            <a:ext cx="6747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4.2 Кейс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GlassWorm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самораспространяющийся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вредонос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B24204DF-90DA-A2E4-1F5C-F41ECCAE4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788" y="1838905"/>
            <a:ext cx="7098424" cy="473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CFCA25-2A97-6C68-BDE2-CC80FC22EF59}"/>
              </a:ext>
            </a:extLst>
          </p:cNvPr>
          <p:cNvSpPr txBox="1"/>
          <p:nvPr/>
        </p:nvSpPr>
        <p:spPr>
          <a:xfrm>
            <a:off x="649357" y="898628"/>
            <a:ext cx="112113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Даже инструменты, предназначенные для повышения производительности, могут стать вектором атаки.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Компании должны внедрять процедуры проверки всех расширений, пакетов и дополнений перед установкой.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Необходим аудит и сканирование артефактов, использование песочниц и систем обнаружения аномалий.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609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5FF6A-53C8-9991-64D1-5ED0CAD60C29}"/>
              </a:ext>
            </a:extLst>
          </p:cNvPr>
          <p:cNvSpPr txBox="1"/>
          <p:nvPr/>
        </p:nvSpPr>
        <p:spPr>
          <a:xfrm>
            <a:off x="231228" y="29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Квантовые и </a:t>
            </a:r>
            <a:r>
              <a:rPr lang="ru-RU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постквантовые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риски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44" name="Picture 4" descr="Picture background">
            <a:extLst>
              <a:ext uri="{FF2B5EF4-FFF2-40B4-BE49-F238E27FC236}">
                <a16:creationId xmlns:a16="http://schemas.microsoft.com/office/drawing/2014/main" id="{5E4295A3-8161-77F1-D93D-4348872A3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11" y="2048918"/>
            <a:ext cx="5503010" cy="263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0B1EF-96C1-2E73-D365-EBE152FFFCE7}"/>
              </a:ext>
            </a:extLst>
          </p:cNvPr>
          <p:cNvSpPr txBox="1"/>
          <p:nvPr/>
        </p:nvSpPr>
        <p:spPr>
          <a:xfrm>
            <a:off x="6195004" y="551193"/>
            <a:ext cx="586447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1.Риск «Собери сейчас – расшифруй позже» (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Harvest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Now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Decrypt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Later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Многие хакерские группы и разведслужбы уже сегодня перехватывают зашифрованные данные, чтобы хранить их до появления квантовых вычислительных мощностей.</a:t>
            </a:r>
            <a:b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2.Миграция к 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постквантовым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алгоритмам</a:t>
            </a:r>
          </a:p>
          <a:p>
            <a:pPr algn="just"/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2024 году NIST (США) и ENISA (ЕС) утвердили стандартные кандидаты на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постквантовые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алгоритмы: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CRYSTALS-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Kyber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(шифрование и обмен ключами);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CRYSTALS-</a:t>
            </a:r>
            <a:r>
              <a:rPr lang="ru-RU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Dilithium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FALCON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SPHINCS+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ru-RU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3.Риски квантовых симуляторов</a:t>
            </a:r>
            <a:b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2025 году исследователи IBM продемонстрировали взлом 48-битного RSA-ключа на гибридной системе с 433-кубитным процессором «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Condor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</a:t>
            </a:r>
            <a:b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Хотя до реального взлома RSA-2048 ещё далеко, факт успешного применения гибридных квантово-классических подходов подтверждает приближение новой эпохи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криптоугроз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6566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206A18-0B28-BD2F-767A-FDCF24AA33C3}"/>
              </a:ext>
            </a:extLst>
          </p:cNvPr>
          <p:cNvSpPr txBox="1"/>
          <p:nvPr/>
        </p:nvSpPr>
        <p:spPr>
          <a:xfrm>
            <a:off x="231228" y="29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Человеческий фактор. </a:t>
            </a:r>
            <a:r>
              <a:rPr lang="ru-RU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ишинг</a:t>
            </a:r>
            <a:endParaRPr lang="ru-RU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CA2D1C-6C6E-07FD-CBDB-0BDDB7621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895" y="2297654"/>
            <a:ext cx="5067499" cy="38006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8D6CF9-6704-B611-CDA5-FEDB60DC7C65}"/>
              </a:ext>
            </a:extLst>
          </p:cNvPr>
          <p:cNvSpPr txBox="1"/>
          <p:nvPr/>
        </p:nvSpPr>
        <p:spPr>
          <a:xfrm>
            <a:off x="490330" y="998262"/>
            <a:ext cx="114631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всём технологическом развитии именно человек остаётся слабым звеном.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80 % инцидентов начинается с ошибки пользователя – фишинг, неосторожность, неверное использование доступа.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Социальная инженерия становится всё более психологически точной и грамотной.</a:t>
            </a:r>
          </a:p>
          <a:p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594FE9-3CC3-8F48-0589-7AFCD91B34FC}"/>
              </a:ext>
            </a:extLst>
          </p:cNvPr>
          <p:cNvSpPr txBox="1"/>
          <p:nvPr/>
        </p:nvSpPr>
        <p:spPr>
          <a:xfrm>
            <a:off x="490330" y="2780438"/>
            <a:ext cx="475753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 Trust – ключевой принцип современной защиты.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 предполагает, что не доверяют ни пользователям, ни устройствам, ни сетям без дополнительной проверки.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Регулярное обучение, тестирование, симуляции фишинга и повышение осведомлённости становятся обязательной частью культуры безопасности.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534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3C609B-C576-1918-E94D-0DD4A18E809D}"/>
              </a:ext>
            </a:extLst>
          </p:cNvPr>
          <p:cNvSpPr txBox="1"/>
          <p:nvPr/>
        </p:nvSpPr>
        <p:spPr>
          <a:xfrm>
            <a:off x="231228" y="29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Практика инцидентов и расследований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1E9570-88BD-3DA8-7970-C0A8B3E201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22" t="25530" r="8641" b="7192"/>
          <a:stretch/>
        </p:blipFill>
        <p:spPr>
          <a:xfrm>
            <a:off x="2670312" y="3683830"/>
            <a:ext cx="6851375" cy="298391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1F5670-DEF2-2CFC-C18C-B31057339C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5" t="5616" r="9295" b="8649"/>
          <a:stretch/>
        </p:blipFill>
        <p:spPr>
          <a:xfrm>
            <a:off x="2670312" y="768627"/>
            <a:ext cx="6851375" cy="28094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0330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C8D828-AD3E-8FD6-8993-2065D35A511A}"/>
              </a:ext>
            </a:extLst>
          </p:cNvPr>
          <p:cNvSpPr txBox="1"/>
          <p:nvPr/>
        </p:nvSpPr>
        <p:spPr>
          <a:xfrm>
            <a:off x="231228" y="2935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 Заключение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318" name="Picture 6" descr="Picture background">
            <a:extLst>
              <a:ext uri="{FF2B5EF4-FFF2-40B4-BE49-F238E27FC236}">
                <a16:creationId xmlns:a16="http://schemas.microsoft.com/office/drawing/2014/main" id="{C47E0392-9E49-1962-CDD7-CBA5A698D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7" y="0"/>
            <a:ext cx="9394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F4798C-11E2-B7C3-1EC6-7BDBDF863DA8}"/>
              </a:ext>
            </a:extLst>
          </p:cNvPr>
          <p:cNvSpPr txBox="1"/>
          <p:nvPr/>
        </p:nvSpPr>
        <p:spPr>
          <a:xfrm>
            <a:off x="1398587" y="2001152"/>
            <a:ext cx="93948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Кибербезопасность уже не ограничивается технологиями.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философия и система ценностей, встроенная в корпоративную культуру.</a:t>
            </a:r>
            <a:b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Адаптивность, сегментация, видимость активов, обновление криптографии и обучение персонала – фундамент современной защиты.</a:t>
            </a:r>
          </a:p>
          <a:p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мире, где киберпреступность стала индустрией, только системный подход и постоянная адаптация способны минимизировать ущерб и обеспечить устойчивость организаций.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5848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2859</Words>
  <Application>Microsoft Macintosh PowerPoint</Application>
  <PresentationFormat>Широкоэкранный</PresentationFormat>
  <Paragraphs>147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Times New Roman</vt:lpstr>
      <vt:lpstr>YS Text</vt:lpstr>
      <vt:lpstr>Тема Office</vt:lpstr>
      <vt:lpstr>Реализация криптографических алгоритмов в ИС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21</cp:revision>
  <dcterms:created xsi:type="dcterms:W3CDTF">2025-11-29T19:26:38Z</dcterms:created>
  <dcterms:modified xsi:type="dcterms:W3CDTF">2025-11-29T22:23:59Z</dcterms:modified>
</cp:coreProperties>
</file>